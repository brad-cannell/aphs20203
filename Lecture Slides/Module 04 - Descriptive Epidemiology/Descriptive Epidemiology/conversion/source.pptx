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92382" y="1665414"/>
            <a:ext cx="8607234" cy="1762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561715" y="3487229"/>
            <a:ext cx="506856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07159"/>
            <a:ext cx="4434205" cy="411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0940" y="1707366"/>
            <a:ext cx="4916805" cy="411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822"/>
            <a:ext cx="1030033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5681"/>
            <a:ext cx="10152380" cy="406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288" y="6463728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ejm.org/doi/full/10.1056/nejmoa2001191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ature.com/articles/s41591-020-0877-5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lichealth.jmir.org/2021/1/e24320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dirty="0"/>
              <a:t>APHS</a:t>
            </a:r>
            <a:r>
              <a:rPr sz="6000" spc="-50" dirty="0"/>
              <a:t> </a:t>
            </a:r>
            <a:r>
              <a:rPr sz="6000" spc="-10" dirty="0"/>
              <a:t>20203</a:t>
            </a:r>
            <a:endParaRPr sz="6000"/>
          </a:p>
          <a:p>
            <a:pPr algn="ctr">
              <a:lnSpc>
                <a:spcPts val="6840"/>
              </a:lnSpc>
            </a:pPr>
            <a:r>
              <a:rPr sz="6000" dirty="0"/>
              <a:t>Epidemiology</a:t>
            </a:r>
            <a:r>
              <a:rPr sz="6000" spc="-120" dirty="0"/>
              <a:t> </a:t>
            </a:r>
            <a:r>
              <a:rPr sz="6000" dirty="0"/>
              <a:t>&amp;</a:t>
            </a:r>
            <a:r>
              <a:rPr sz="6000" spc="-110" dirty="0"/>
              <a:t> </a:t>
            </a:r>
            <a:r>
              <a:rPr sz="6000" spc="-10" dirty="0"/>
              <a:t>Biostatistics</a:t>
            </a:r>
            <a:endParaRPr sz="60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7825">
              <a:lnSpc>
                <a:spcPct val="125000"/>
              </a:lnSpc>
              <a:spcBef>
                <a:spcPts val="100"/>
              </a:spcBef>
            </a:pPr>
            <a:r>
              <a:rPr spc="-10" dirty="0"/>
              <a:t>Week</a:t>
            </a:r>
            <a:r>
              <a:rPr spc="-85" dirty="0"/>
              <a:t> </a:t>
            </a:r>
            <a:r>
              <a:rPr dirty="0"/>
              <a:t>4:</a:t>
            </a:r>
            <a:r>
              <a:rPr spc="-75" dirty="0"/>
              <a:t> </a:t>
            </a:r>
            <a:r>
              <a:rPr dirty="0"/>
              <a:t>Descriptive</a:t>
            </a:r>
            <a:r>
              <a:rPr spc="-70" dirty="0"/>
              <a:t> </a:t>
            </a:r>
            <a:r>
              <a:rPr spc="-10" dirty="0"/>
              <a:t>Epidemiology: </a:t>
            </a:r>
            <a:r>
              <a:rPr spc="-20" dirty="0"/>
              <a:t>Patterns</a:t>
            </a:r>
            <a:r>
              <a:rPr spc="-40" dirty="0"/>
              <a:t> </a:t>
            </a:r>
            <a:r>
              <a:rPr dirty="0"/>
              <a:t>of</a:t>
            </a:r>
            <a:r>
              <a:rPr spc="-20" dirty="0"/>
              <a:t> Disease—</a:t>
            </a:r>
            <a:r>
              <a:rPr spc="-10" dirty="0"/>
              <a:t>Person,</a:t>
            </a:r>
            <a:r>
              <a:rPr spc="-20" dirty="0"/>
              <a:t> </a:t>
            </a:r>
            <a:r>
              <a:rPr dirty="0"/>
              <a:t>Place,</a:t>
            </a:r>
            <a:r>
              <a:rPr spc="-30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Learning</a:t>
            </a:r>
            <a:r>
              <a:rPr spc="-6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057130" cy="33508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Describe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scope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uses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descriptive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epidemiology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39395" marR="523240" indent="-227329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Distinguish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among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case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reports,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case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series,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cross-</a:t>
            </a:r>
            <a:r>
              <a:rPr sz="2800" b="1" spc="-10" dirty="0">
                <a:latin typeface="Calibri"/>
                <a:cs typeface="Calibri"/>
              </a:rPr>
              <a:t>sectional 	studies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Describe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disease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patterns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person,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place,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time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1725295" indent="-227329">
              <a:lnSpc>
                <a:spcPts val="303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epidemiologic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make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preliminary 	</a:t>
            </a:r>
            <a:r>
              <a:rPr sz="2800" b="1" dirty="0">
                <a:latin typeface="Calibri"/>
                <a:cs typeface="Calibri"/>
              </a:rPr>
              <a:t>epidemiologic</a:t>
            </a:r>
            <a:r>
              <a:rPr sz="2800" b="1" spc="-1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inferences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Identify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health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disparities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epidemiologic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9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Descriptive</a:t>
            </a:r>
            <a:r>
              <a:rPr spc="-100" dirty="0"/>
              <a:t> </a:t>
            </a:r>
            <a:r>
              <a:rPr spc="-10" dirty="0"/>
              <a:t>Epidemiology?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12"/>
            <a:ext cx="9575165" cy="42183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Purpose: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health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disease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distributed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across 	populations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Core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Questions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Who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affected?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(Person)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occur?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(Place)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When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occur?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(Time)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Why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It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Matters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Monitor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disease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trends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Guide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planning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priorities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further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Example:</a:t>
            </a:r>
            <a:r>
              <a:rPr spc="-160" dirty="0"/>
              <a:t> </a:t>
            </a:r>
            <a:r>
              <a:rPr dirty="0"/>
              <a:t>Descriptive</a:t>
            </a:r>
            <a:r>
              <a:rPr spc="-140" dirty="0"/>
              <a:t> </a:t>
            </a:r>
            <a:r>
              <a:rPr dirty="0"/>
              <a:t>Epidemiology</a:t>
            </a:r>
            <a:r>
              <a:rPr spc="-135" dirty="0"/>
              <a:t> </a:t>
            </a:r>
            <a:r>
              <a:rPr dirty="0"/>
              <a:t>in</a:t>
            </a:r>
            <a:r>
              <a:rPr spc="-140" dirty="0"/>
              <a:t> </a:t>
            </a:r>
            <a:r>
              <a:rPr spc="-1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585"/>
            <a:ext cx="9876790" cy="4112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Scenario: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Breastfeeding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trends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among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U.S.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infants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born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2012: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810"/>
              </a:lnSpc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43%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exclusively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breastfed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months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840"/>
              </a:lnSpc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22%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exclusively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breastfed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6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months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3325"/>
              </a:lnSpc>
              <a:spcBef>
                <a:spcPts val="3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What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This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Describes</a:t>
            </a:r>
            <a:endParaRPr sz="2800">
              <a:latin typeface="Calibri"/>
              <a:cs typeface="Calibri"/>
            </a:endParaRPr>
          </a:p>
          <a:p>
            <a:pPr marL="696595" marR="161925" lvl="1" indent="-227329">
              <a:lnSpc>
                <a:spcPts val="2300"/>
              </a:lnSpc>
              <a:spcBef>
                <a:spcPts val="525"/>
              </a:spcBef>
              <a:buFont typeface="Arial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Person: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U.S.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infants;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Place: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States;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Time: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vs.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months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after 	birth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3325"/>
              </a:lnSpc>
              <a:spcBef>
                <a:spcPts val="345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Discussion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Questions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810"/>
              </a:lnSpc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patterns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time?</a:t>
            </a:r>
            <a:endParaRPr sz="2400">
              <a:latin typeface="Calibri"/>
              <a:cs typeface="Calibri"/>
            </a:endParaRPr>
          </a:p>
          <a:p>
            <a:pPr marL="696595" marR="5080" lvl="1" indent="-227329">
              <a:lnSpc>
                <a:spcPts val="2300"/>
              </a:lnSpc>
              <a:spcBef>
                <a:spcPts val="525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additional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descriptive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clarify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age, 	</a:t>
            </a:r>
            <a:r>
              <a:rPr sz="2400" dirty="0">
                <a:latin typeface="Calibri"/>
                <a:cs typeface="Calibri"/>
              </a:rPr>
              <a:t>SES,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region)?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830"/>
              </a:lnSpc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groups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might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affected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decline?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Descriptive</a:t>
            </a:r>
            <a:r>
              <a:rPr spc="-150" dirty="0"/>
              <a:t> </a:t>
            </a:r>
            <a:r>
              <a:rPr dirty="0"/>
              <a:t>Epidemiologic</a:t>
            </a:r>
            <a:r>
              <a:rPr spc="-130" dirty="0"/>
              <a:t> </a:t>
            </a:r>
            <a:r>
              <a:rPr dirty="0"/>
              <a:t>Study</a:t>
            </a:r>
            <a:r>
              <a:rPr spc="-170" dirty="0"/>
              <a:t> </a:t>
            </a:r>
            <a:r>
              <a:rPr spc="-10" dirty="0"/>
              <a:t>Designs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93"/>
            <a:ext cx="9740265" cy="40805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This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section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focuses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on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three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common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descriptive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designs: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Case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reports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Case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series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spc="-20" dirty="0">
                <a:latin typeface="Calibri"/>
                <a:cs typeface="Calibri"/>
              </a:rPr>
              <a:t>Cross-</a:t>
            </a:r>
            <a:r>
              <a:rPr sz="2400" b="1" dirty="0">
                <a:latin typeface="Calibri"/>
                <a:cs typeface="Calibri"/>
              </a:rPr>
              <a:t>sectional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studies</a:t>
            </a:r>
            <a:endParaRPr sz="24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ecologic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studies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surveillance-based 	descriptions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What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these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designs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have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common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when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first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signal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disparity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Case</a:t>
            </a:r>
            <a:r>
              <a:rPr spc="-10" dirty="0"/>
              <a:t> Reports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9235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/>
              <a:t>A</a:t>
            </a:r>
            <a:r>
              <a:rPr sz="2600" spc="-65" dirty="0"/>
              <a:t> </a:t>
            </a:r>
            <a:r>
              <a:rPr sz="2600" dirty="0"/>
              <a:t>detailed</a:t>
            </a:r>
            <a:r>
              <a:rPr sz="2600" spc="-80" dirty="0"/>
              <a:t> </a:t>
            </a:r>
            <a:r>
              <a:rPr sz="2600" dirty="0"/>
              <a:t>description</a:t>
            </a:r>
            <a:r>
              <a:rPr sz="2600" spc="-90" dirty="0"/>
              <a:t> </a:t>
            </a:r>
            <a:r>
              <a:rPr sz="2600" dirty="0"/>
              <a:t>of</a:t>
            </a:r>
            <a:r>
              <a:rPr sz="2600" spc="-60" dirty="0"/>
              <a:t> </a:t>
            </a:r>
            <a:r>
              <a:rPr sz="2600" dirty="0"/>
              <a:t>a</a:t>
            </a:r>
            <a:r>
              <a:rPr sz="2600" spc="-55" dirty="0"/>
              <a:t> </a:t>
            </a:r>
            <a:r>
              <a:rPr sz="2600" b="1" dirty="0">
                <a:latin typeface="Calibri"/>
                <a:cs typeface="Calibri"/>
              </a:rPr>
              <a:t>single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patient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dirty="0"/>
              <a:t>or</a:t>
            </a:r>
            <a:r>
              <a:rPr sz="2600" spc="-45" dirty="0"/>
              <a:t> </a:t>
            </a:r>
            <a:r>
              <a:rPr sz="2600" dirty="0"/>
              <a:t>a</a:t>
            </a:r>
            <a:r>
              <a:rPr sz="2600" spc="-55" dirty="0"/>
              <a:t> </a:t>
            </a:r>
            <a:r>
              <a:rPr sz="2600" b="1" dirty="0">
                <a:latin typeface="Calibri"/>
                <a:cs typeface="Calibri"/>
              </a:rPr>
              <a:t>small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number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of </a:t>
            </a:r>
            <a:r>
              <a:rPr sz="2600" b="1" dirty="0">
                <a:latin typeface="Calibri"/>
                <a:cs typeface="Calibri"/>
              </a:rPr>
              <a:t>unusual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cases</a:t>
            </a:r>
            <a:r>
              <a:rPr sz="2600" dirty="0"/>
              <a:t>,</a:t>
            </a:r>
            <a:r>
              <a:rPr sz="2600" spc="-75" dirty="0"/>
              <a:t> </a:t>
            </a:r>
            <a:r>
              <a:rPr sz="2600" dirty="0"/>
              <a:t>typically</a:t>
            </a:r>
            <a:r>
              <a:rPr sz="2600" spc="-80" dirty="0"/>
              <a:t> </a:t>
            </a:r>
            <a:r>
              <a:rPr sz="2600" dirty="0"/>
              <a:t>reported</a:t>
            </a:r>
            <a:r>
              <a:rPr sz="2600" spc="-85" dirty="0"/>
              <a:t> </a:t>
            </a:r>
            <a:r>
              <a:rPr sz="2600" b="1" dirty="0">
                <a:latin typeface="Calibri"/>
                <a:cs typeface="Calibri"/>
              </a:rPr>
              <a:t>individually</a:t>
            </a:r>
            <a:r>
              <a:rPr sz="2600" dirty="0"/>
              <a:t>,</a:t>
            </a:r>
            <a:r>
              <a:rPr sz="2600" spc="-40" dirty="0"/>
              <a:t> </a:t>
            </a:r>
            <a:r>
              <a:rPr sz="2600" dirty="0"/>
              <a:t>not</a:t>
            </a:r>
            <a:r>
              <a:rPr sz="2600" spc="-65" dirty="0"/>
              <a:t> </a:t>
            </a:r>
            <a:r>
              <a:rPr sz="2600" dirty="0"/>
              <a:t>as</a:t>
            </a:r>
            <a:r>
              <a:rPr sz="2600" spc="-75" dirty="0"/>
              <a:t> </a:t>
            </a:r>
            <a:r>
              <a:rPr sz="2600" dirty="0"/>
              <a:t>a</a:t>
            </a:r>
            <a:r>
              <a:rPr sz="2600" spc="-65" dirty="0"/>
              <a:t> </a:t>
            </a:r>
            <a:r>
              <a:rPr sz="2600" dirty="0"/>
              <a:t>group</a:t>
            </a:r>
            <a:r>
              <a:rPr sz="2600" spc="-75" dirty="0"/>
              <a:t> </a:t>
            </a:r>
            <a:r>
              <a:rPr sz="2600" spc="-10" dirty="0"/>
              <a:t>analysis.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Purpose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5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Document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novel,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rare,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unexpected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events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Alert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clinicians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public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officials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new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emerging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issues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They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first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signal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disease,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complication,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effect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1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Contribute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early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public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health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awareness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Serve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educational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examples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clinical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public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settings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9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Key</a:t>
            </a:r>
            <a:r>
              <a:rPr sz="2600" b="1" spc="-114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Limitation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35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No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comparison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group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→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cannot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estimate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risk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prevalence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58092" y="0"/>
            <a:ext cx="6701790" cy="6858000"/>
            <a:chOff x="5158092" y="0"/>
            <a:chExt cx="670179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6019" y="0"/>
              <a:ext cx="5603746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0647" y="79162"/>
              <a:ext cx="5016830" cy="64080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8092" y="79159"/>
              <a:ext cx="2925597" cy="3693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Case</a:t>
            </a:r>
            <a:r>
              <a:rPr spc="-65" dirty="0"/>
              <a:t> </a:t>
            </a:r>
            <a:r>
              <a:rPr dirty="0"/>
              <a:t>Reports:</a:t>
            </a:r>
            <a:r>
              <a:rPr spc="-7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11278" y="6463728"/>
            <a:ext cx="4724400" cy="373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7310" algn="r">
              <a:lnSpc>
                <a:spcPts val="1165"/>
              </a:lnSpc>
            </a:pPr>
            <a:fld id="{81D60167-4931-47E6-BA6A-407CBD079E47}" type="slidenum"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fld>
            <a:endParaRPr sz="1200">
              <a:latin typeface="Calibri"/>
              <a:cs typeface="Calibri"/>
            </a:endParaRPr>
          </a:p>
          <a:p>
            <a:pPr marR="5080" algn="r">
              <a:lnSpc>
                <a:spcPts val="1605"/>
              </a:lnSpc>
            </a:pPr>
            <a:r>
              <a:rPr sz="1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5"/>
              </a:rPr>
              <a:t>Source:</a:t>
            </a:r>
            <a:r>
              <a:rPr sz="1400" u="sng" spc="-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5"/>
              </a:rPr>
              <a:t>https://www.nejm.org/doi/full/10.1056/nejmoa2001191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457214"/>
            <a:ext cx="5127625" cy="458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Scan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text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answer:</a:t>
            </a:r>
            <a:endParaRPr sz="2400">
              <a:latin typeface="Calibri"/>
              <a:cs typeface="Calibri"/>
            </a:endParaRPr>
          </a:p>
          <a:p>
            <a:pPr marL="698500" marR="589280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8500" algn="l"/>
              </a:tabLst>
            </a:pPr>
            <a:r>
              <a:rPr sz="2200" b="1" dirty="0">
                <a:latin typeface="Calibri"/>
                <a:cs typeface="Calibri"/>
              </a:rPr>
              <a:t>How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many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cases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are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described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in </a:t>
            </a:r>
            <a:r>
              <a:rPr sz="2200" b="1" spc="-10" dirty="0">
                <a:latin typeface="Calibri"/>
                <a:cs typeface="Calibri"/>
              </a:rPr>
              <a:t>detail?</a:t>
            </a:r>
            <a:endParaRPr sz="2200">
              <a:latin typeface="Calibri"/>
              <a:cs typeface="Calibri"/>
            </a:endParaRPr>
          </a:p>
          <a:p>
            <a:pPr marL="1155065" marR="174625" lvl="2" indent="-228600">
              <a:lnSpc>
                <a:spcPct val="70000"/>
              </a:lnSpc>
              <a:spcBef>
                <a:spcPts val="500"/>
              </a:spcBef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evidence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support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single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-20" dirty="0">
                <a:latin typeface="Calibri"/>
                <a:cs typeface="Calibri"/>
              </a:rPr>
              <a:t>case</a:t>
            </a:r>
            <a:r>
              <a:rPr sz="1900" spc="-20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255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10" dirty="0">
                <a:latin typeface="Calibri"/>
                <a:cs typeface="Calibri"/>
              </a:rPr>
              <a:t>Person</a:t>
            </a:r>
            <a:endParaRPr sz="2200">
              <a:latin typeface="Calibri"/>
              <a:cs typeface="Calibri"/>
            </a:endParaRPr>
          </a:p>
          <a:p>
            <a:pPr marL="1155065" marR="30480" lvl="2" indent="-228600">
              <a:lnSpc>
                <a:spcPct val="70000"/>
              </a:lnSpc>
              <a:spcBef>
                <a:spcPts val="590"/>
              </a:spcBef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basic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characteristics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patient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provided?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26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10" dirty="0">
                <a:latin typeface="Calibri"/>
                <a:cs typeface="Calibri"/>
              </a:rPr>
              <a:t>Place</a:t>
            </a:r>
            <a:endParaRPr sz="2200">
              <a:latin typeface="Calibri"/>
              <a:cs typeface="Calibri"/>
            </a:endParaRPr>
          </a:p>
          <a:p>
            <a:pPr marL="1155065" lvl="2" indent="-228600">
              <a:lnSpc>
                <a:spcPts val="2095"/>
              </a:lnSpc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occur?</a:t>
            </a:r>
            <a:endParaRPr sz="1900">
              <a:latin typeface="Calibri"/>
              <a:cs typeface="Calibri"/>
            </a:endParaRPr>
          </a:p>
          <a:p>
            <a:pPr marL="1155065" lvl="2" indent="-228600">
              <a:lnSpc>
                <a:spcPts val="2039"/>
              </a:lnSpc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outbreak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begin?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405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20" dirty="0"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L="1155065" marR="5080" lvl="2" indent="-228600">
              <a:lnSpc>
                <a:spcPct val="70000"/>
              </a:lnSpc>
              <a:spcBef>
                <a:spcPts val="595"/>
              </a:spcBef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When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identified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relative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outbreak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timeline?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25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What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being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described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vs.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inferred?</a:t>
            </a:r>
            <a:endParaRPr sz="2200">
              <a:latin typeface="Calibri"/>
              <a:cs typeface="Calibri"/>
            </a:endParaRPr>
          </a:p>
          <a:p>
            <a:pPr marL="1155065" lvl="2" indent="-228600">
              <a:lnSpc>
                <a:spcPts val="2100"/>
              </a:lnSpc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describe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this</a:t>
            </a:r>
            <a:r>
              <a:rPr sz="1900" i="1" spc="-4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patient</a:t>
            </a:r>
            <a:r>
              <a:rPr sz="1900" spc="-10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  <a:p>
            <a:pPr marL="1155065" lvl="2" indent="-228600">
              <a:lnSpc>
                <a:spcPts val="2190"/>
              </a:lnSpc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reference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broader</a:t>
            </a:r>
            <a:r>
              <a:rPr sz="1900" i="1" spc="-3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context</a:t>
            </a:r>
            <a:r>
              <a:rPr sz="1900" spc="-10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8092" y="79159"/>
            <a:ext cx="2926080" cy="36957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COVID-</a:t>
            </a:r>
            <a:r>
              <a:rPr sz="1800" dirty="0">
                <a:latin typeface="Calibri"/>
                <a:cs typeface="Calibri"/>
              </a:rPr>
              <a:t>19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USA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Case</a:t>
            </a:r>
            <a:r>
              <a:rPr spc="-10" dirty="0"/>
              <a:t> Series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12"/>
            <a:ext cx="10226675" cy="37680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Definition: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reports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multiple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patients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same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diagnosis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or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condition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collectively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855"/>
              </a:lnSpc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Case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report: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own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Case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series: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together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identify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patterns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What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Case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Series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Can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Describe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clinical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Typical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disease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progression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Distribution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person,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place,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Key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Limitation: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estimate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risk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rates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causal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effects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Case</a:t>
            </a:r>
            <a:r>
              <a:rPr spc="-20" dirty="0"/>
              <a:t> </a:t>
            </a:r>
            <a:r>
              <a:rPr dirty="0"/>
              <a:t>Series:</a:t>
            </a:r>
            <a:r>
              <a:rPr spc="-3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83111" y="647642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32192" y="0"/>
            <a:ext cx="4307205" cy="6858000"/>
            <a:chOff x="7632192" y="0"/>
            <a:chExt cx="430720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2192" y="0"/>
              <a:ext cx="4306823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27991" y="36614"/>
              <a:ext cx="3718738" cy="653097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16939" y="1758650"/>
            <a:ext cx="10903585" cy="50692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Scan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text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answer: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How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many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patients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are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included?</a:t>
            </a:r>
            <a:endParaRPr sz="2200">
              <a:latin typeface="Calibri"/>
              <a:cs typeface="Calibri"/>
            </a:endParaRPr>
          </a:p>
          <a:p>
            <a:pPr marL="1155065" marR="4686935" lvl="2" indent="-228600">
              <a:lnSpc>
                <a:spcPts val="1939"/>
              </a:lnSpc>
              <a:spcBef>
                <a:spcPts val="565"/>
              </a:spcBef>
              <a:buFont typeface="Arial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text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more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than </a:t>
            </a:r>
            <a:r>
              <a:rPr sz="1800" b="1" dirty="0">
                <a:latin typeface="Calibri"/>
                <a:cs typeface="Calibri"/>
              </a:rPr>
              <a:t>one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case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described?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1800" b="1" dirty="0">
                <a:latin typeface="Calibri"/>
                <a:cs typeface="Calibri"/>
              </a:rPr>
              <a:t>Why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this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case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series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multiple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case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reports?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How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are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patients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discussed?</a:t>
            </a:r>
            <a:endParaRPr sz="22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patients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described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time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findings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described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across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patients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group</a:t>
            </a:r>
            <a:r>
              <a:rPr sz="1800" spc="-10" dirty="0"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language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signals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grouping?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510"/>
              </a:lnSpc>
              <a:spcBef>
                <a:spcPts val="220"/>
              </a:spcBef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What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patterns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are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described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across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cases?</a:t>
            </a:r>
            <a:endParaRPr sz="220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sz="2200" i="1" dirty="0">
                <a:latin typeface="Calibri"/>
                <a:cs typeface="Calibri"/>
              </a:rPr>
              <a:t>(e.g.,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symptoms,</a:t>
            </a:r>
            <a:r>
              <a:rPr sz="2200" i="1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clinical</a:t>
            </a:r>
            <a:r>
              <a:rPr sz="2200" i="1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course,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outcomes,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timing)</a:t>
            </a:r>
            <a:endParaRPr sz="2200">
              <a:latin typeface="Calibri"/>
              <a:cs typeface="Calibri"/>
            </a:endParaRPr>
          </a:p>
          <a:p>
            <a:pPr marL="698500" marR="4697730" lvl="1" indent="-228600">
              <a:lnSpc>
                <a:spcPts val="238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</a:tabLst>
            </a:pPr>
            <a:r>
              <a:rPr sz="2200" b="1" dirty="0">
                <a:latin typeface="Calibri"/>
                <a:cs typeface="Calibri"/>
              </a:rPr>
              <a:t>What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important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information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still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missing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that </a:t>
            </a:r>
            <a:r>
              <a:rPr sz="2200" b="1" dirty="0">
                <a:latin typeface="Calibri"/>
                <a:cs typeface="Calibri"/>
              </a:rPr>
              <a:t>prevents</a:t>
            </a:r>
            <a:r>
              <a:rPr sz="2200" b="1" spc="-8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causal</a:t>
            </a:r>
            <a:r>
              <a:rPr sz="2200" b="1" spc="-9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conclusions?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200">
              <a:latin typeface="Calibri"/>
              <a:cs typeface="Calibri"/>
            </a:endParaRPr>
          </a:p>
          <a:p>
            <a:pPr marL="700214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Source:</a:t>
            </a:r>
            <a:r>
              <a:rPr sz="1400" spc="225" dirty="0">
                <a:latin typeface="Calibri"/>
                <a:cs typeface="Calibri"/>
              </a:rPr>
              <a:t> </a:t>
            </a:r>
            <a:r>
              <a:rPr sz="14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4"/>
              </a:rPr>
              <a:t>www.nature.com/articles/s41591-</a:t>
            </a:r>
            <a:r>
              <a:rPr sz="1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4"/>
              </a:rPr>
              <a:t>020-0877-</a:t>
            </a:r>
            <a:r>
              <a:rPr sz="1400" u="sng" spc="-5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4"/>
              </a:rPr>
              <a:t>5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Individual</a:t>
            </a:r>
            <a:r>
              <a:rPr spc="-50" dirty="0"/>
              <a:t> </a:t>
            </a:r>
            <a:r>
              <a:rPr dirty="0"/>
              <a:t>Cases</a:t>
            </a:r>
            <a:r>
              <a:rPr spc="-60" dirty="0"/>
              <a:t> </a:t>
            </a:r>
            <a:r>
              <a:rPr dirty="0"/>
              <a:t>Belong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Epidemiology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93"/>
            <a:ext cx="7844155" cy="30162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b="1" dirty="0">
                <a:latin typeface="Calibri"/>
                <a:cs typeface="Calibri"/>
              </a:rPr>
              <a:t>“Isn’t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epidemiology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about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populations?”</a:t>
            </a:r>
            <a:endParaRPr sz="2800" dirty="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spc="-50" dirty="0">
                <a:latin typeface="Calibri"/>
                <a:cs typeface="Calibri"/>
              </a:rPr>
              <a:t>Yes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populations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built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from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individual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cases.</a:t>
            </a:r>
            <a:endParaRPr sz="2400" dirty="0">
              <a:latin typeface="Calibri"/>
              <a:cs typeface="Calibri"/>
            </a:endParaRPr>
          </a:p>
          <a:p>
            <a:pPr marL="697230" indent="-227329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Case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reports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case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series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individuals</a:t>
            </a:r>
            <a:endParaRPr sz="2400" dirty="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→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identify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describe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new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unusual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health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</a:t>
            </a:r>
            <a:endParaRPr sz="2400" dirty="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descriptions:</a:t>
            </a:r>
            <a:endParaRPr sz="2400" dirty="0">
              <a:latin typeface="Calibri"/>
              <a:cs typeface="Calibri"/>
            </a:endParaRPr>
          </a:p>
          <a:p>
            <a:pPr marL="1155065" lvl="1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-10" dirty="0">
                <a:latin typeface="Calibri"/>
                <a:cs typeface="Calibri"/>
              </a:rPr>
              <a:t>Reveal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what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counts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case</a:t>
            </a:r>
            <a:endParaRPr sz="2000" dirty="0">
              <a:latin typeface="Calibri"/>
              <a:cs typeface="Calibri"/>
            </a:endParaRPr>
          </a:p>
          <a:p>
            <a:pPr marL="1155065" lvl="1" indent="-22860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Signal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emerging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health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problems</a:t>
            </a:r>
            <a:endParaRPr sz="2000" dirty="0">
              <a:latin typeface="Calibri"/>
              <a:cs typeface="Calibri"/>
            </a:endParaRPr>
          </a:p>
          <a:p>
            <a:pPr marL="1155065" lvl="1" indent="-228600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-10" dirty="0">
                <a:latin typeface="Calibri"/>
                <a:cs typeface="Calibri"/>
              </a:rPr>
              <a:t>Motivate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population-</a:t>
            </a:r>
            <a:r>
              <a:rPr sz="2000" b="1" dirty="0">
                <a:latin typeface="Calibri"/>
                <a:cs typeface="Calibri"/>
              </a:rPr>
              <a:t>level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investigation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489" y="4817453"/>
            <a:ext cx="9113189" cy="17214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Cross-</a:t>
            </a:r>
            <a:r>
              <a:rPr dirty="0"/>
              <a:t>Sectional</a:t>
            </a:r>
            <a:r>
              <a:rPr spc="-90" dirty="0"/>
              <a:t> </a:t>
            </a:r>
            <a:r>
              <a:rPr spc="-10" dirty="0"/>
              <a:t>Studies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12"/>
            <a:ext cx="10041890" cy="41979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39395" marR="5080" indent="-227329" algn="just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b="1" dirty="0">
                <a:latin typeface="Calibri"/>
                <a:cs typeface="Calibri"/>
              </a:rPr>
              <a:t>Definition: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examines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health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outcomes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and 	</a:t>
            </a:r>
            <a:r>
              <a:rPr sz="2800" b="1" dirty="0">
                <a:latin typeface="Calibri"/>
                <a:cs typeface="Calibri"/>
              </a:rPr>
              <a:t>related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characteristics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across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population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at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single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point 	</a:t>
            </a:r>
            <a:r>
              <a:rPr sz="2800" b="1" dirty="0">
                <a:latin typeface="Calibri"/>
                <a:cs typeface="Calibri"/>
              </a:rPr>
              <a:t>in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time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Key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collected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individuals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population-</a:t>
            </a:r>
            <a:r>
              <a:rPr sz="2400" b="1" dirty="0">
                <a:latin typeface="Calibri"/>
                <a:cs typeface="Calibri"/>
              </a:rPr>
              <a:t>level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patterns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Measures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prevalence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incidence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Exposure(s)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outcome(s)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assessed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simultaneously</a:t>
            </a:r>
            <a:endParaRPr sz="2400">
              <a:latin typeface="Calibri"/>
              <a:cs typeface="Calibri"/>
            </a:endParaRPr>
          </a:p>
          <a:p>
            <a:pPr marL="239395" marR="1055370" indent="-227329">
              <a:lnSpc>
                <a:spcPts val="3030"/>
              </a:lnSpc>
              <a:spcBef>
                <a:spcPts val="1020"/>
              </a:spcBef>
              <a:buFont typeface="Arial"/>
              <a:buChar char="•"/>
              <a:tabLst>
                <a:tab pos="240665" algn="l"/>
              </a:tabLst>
            </a:pPr>
            <a:r>
              <a:rPr sz="2800" b="1" dirty="0">
                <a:latin typeface="Calibri"/>
                <a:cs typeface="Calibri"/>
              </a:rPr>
              <a:t>Core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Focus: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snapshot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health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outcomes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spc="-10" dirty="0">
                <a:latin typeface="Calibri"/>
                <a:cs typeface="Calibri"/>
              </a:rPr>
              <a:t>distributed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across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population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Cross-</a:t>
            </a:r>
            <a:r>
              <a:rPr dirty="0"/>
              <a:t>Sectional:</a:t>
            </a:r>
            <a:r>
              <a:rPr spc="-25" dirty="0"/>
              <a:t> </a:t>
            </a:r>
            <a:r>
              <a:rPr spc="-10" dirty="0"/>
              <a:t>One-</a:t>
            </a:r>
            <a:r>
              <a:rPr dirty="0"/>
              <a:t>Time</a:t>
            </a:r>
            <a:r>
              <a:rPr spc="-15" dirty="0"/>
              <a:t> </a:t>
            </a:r>
            <a:r>
              <a:rPr spc="-10" dirty="0"/>
              <a:t>Snapshot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9210" y="1487995"/>
            <a:ext cx="9664700" cy="5233670"/>
            <a:chOff x="1369210" y="1487995"/>
            <a:chExt cx="9664700" cy="5233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9210" y="1487995"/>
              <a:ext cx="9664384" cy="52334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19087" y="2071992"/>
              <a:ext cx="1264920" cy="963294"/>
            </a:xfrm>
            <a:custGeom>
              <a:avLst/>
              <a:gdLst/>
              <a:ahLst/>
              <a:cxnLst/>
              <a:rect l="l" t="t" r="r" b="b"/>
              <a:pathLst>
                <a:path w="1264920" h="963294">
                  <a:moveTo>
                    <a:pt x="1264602" y="0"/>
                  </a:moveTo>
                  <a:lnTo>
                    <a:pt x="0" y="0"/>
                  </a:lnTo>
                  <a:lnTo>
                    <a:pt x="0" y="963040"/>
                  </a:lnTo>
                  <a:lnTo>
                    <a:pt x="1264602" y="963040"/>
                  </a:lnTo>
                  <a:lnTo>
                    <a:pt x="1264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6050"/>
            <a:ext cx="3747135" cy="136334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600" b="1" dirty="0">
                <a:latin typeface="Calibri"/>
                <a:cs typeface="Calibri"/>
              </a:rPr>
              <a:t>Scan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Answer:</a:t>
            </a:r>
            <a:endParaRPr sz="2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240665" algn="l"/>
              </a:tabLst>
            </a:pPr>
            <a:r>
              <a:rPr sz="1900" b="1" dirty="0">
                <a:latin typeface="Calibri"/>
                <a:cs typeface="Calibri"/>
              </a:rPr>
              <a:t>Health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problem: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1835"/>
              </a:lnSpc>
              <a:spcBef>
                <a:spcPts val="105"/>
              </a:spcBef>
              <a:buFont typeface="Arial"/>
              <a:buChar char="•"/>
              <a:tabLst>
                <a:tab pos="697865" algn="l"/>
              </a:tabLst>
            </a:pPr>
            <a:r>
              <a:rPr sz="1700" dirty="0">
                <a:latin typeface="Calibri"/>
                <a:cs typeface="Calibri"/>
              </a:rPr>
              <a:t>What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outcome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described?</a:t>
            </a:r>
            <a:endParaRPr sz="1700">
              <a:latin typeface="Calibri"/>
              <a:cs typeface="Calibri"/>
            </a:endParaRPr>
          </a:p>
          <a:p>
            <a:pPr marL="698500">
              <a:lnSpc>
                <a:spcPts val="1835"/>
              </a:lnSpc>
            </a:pPr>
            <a:r>
              <a:rPr sz="1700" dirty="0">
                <a:latin typeface="Calibri"/>
                <a:cs typeface="Calibri"/>
              </a:rPr>
              <a:t>→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Incidence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prevalence</a:t>
            </a:r>
            <a:r>
              <a:rPr sz="1700" spc="-10" dirty="0">
                <a:latin typeface="Calibri"/>
                <a:cs typeface="Calibri"/>
              </a:rPr>
              <a:t>?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3071748"/>
            <a:ext cx="4419600" cy="29083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41300" marR="794385" indent="-228600">
              <a:lnSpc>
                <a:spcPct val="80000"/>
              </a:lnSpc>
              <a:spcBef>
                <a:spcPts val="550"/>
              </a:spcBef>
              <a:buFont typeface="Arial"/>
              <a:buChar char="•"/>
              <a:tabLst>
                <a:tab pos="241300" algn="l"/>
              </a:tabLst>
            </a:pPr>
            <a:r>
              <a:rPr sz="1900" b="1" dirty="0">
                <a:latin typeface="Calibri"/>
                <a:cs typeface="Calibri"/>
              </a:rPr>
              <a:t>Who:</a:t>
            </a:r>
            <a:r>
              <a:rPr sz="1900" b="1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included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study </a:t>
            </a:r>
            <a:r>
              <a:rPr sz="1900" spc="-10" dirty="0">
                <a:latin typeface="Calibri"/>
                <a:cs typeface="Calibri"/>
              </a:rPr>
              <a:t>population?</a:t>
            </a:r>
            <a:endParaRPr sz="19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1900" b="1" dirty="0">
                <a:latin typeface="Calibri"/>
                <a:cs typeface="Calibri"/>
              </a:rPr>
              <a:t>Where: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What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geographic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service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is </a:t>
            </a:r>
            <a:r>
              <a:rPr sz="1900" spc="-10" dirty="0">
                <a:latin typeface="Calibri"/>
                <a:cs typeface="Calibri"/>
              </a:rPr>
              <a:t>studied?</a:t>
            </a:r>
            <a:endParaRPr sz="1900">
              <a:latin typeface="Calibri"/>
              <a:cs typeface="Calibri"/>
            </a:endParaRPr>
          </a:p>
          <a:p>
            <a:pPr marL="241300" marR="257810" indent="-229235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1900" b="1" dirty="0">
                <a:latin typeface="Calibri"/>
                <a:cs typeface="Calibri"/>
              </a:rPr>
              <a:t>When: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describe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snapshot</a:t>
            </a:r>
            <a:r>
              <a:rPr sz="1900" b="1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or follow-</a:t>
            </a:r>
            <a:r>
              <a:rPr sz="1900" dirty="0">
                <a:latin typeface="Calibri"/>
                <a:cs typeface="Calibri"/>
              </a:rPr>
              <a:t>up over</a:t>
            </a:r>
            <a:r>
              <a:rPr sz="1900" spc="-10" dirty="0">
                <a:latin typeface="Calibri"/>
                <a:cs typeface="Calibri"/>
              </a:rPr>
              <a:t> time?</a:t>
            </a:r>
            <a:endParaRPr sz="1900">
              <a:latin typeface="Calibri"/>
              <a:cs typeface="Calibri"/>
            </a:endParaRPr>
          </a:p>
          <a:p>
            <a:pPr marL="241300" marR="4445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1900" b="1" dirty="0">
                <a:latin typeface="Calibri"/>
                <a:cs typeface="Calibri"/>
              </a:rPr>
              <a:t>Measures: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What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outcomes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exposures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assessed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at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same</a:t>
            </a:r>
            <a:r>
              <a:rPr sz="1900" b="1" spc="-20" dirty="0">
                <a:latin typeface="Calibri"/>
                <a:cs typeface="Calibri"/>
              </a:rPr>
              <a:t> time</a:t>
            </a:r>
            <a:r>
              <a:rPr sz="1900" spc="-20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  <a:p>
            <a:pPr marL="241300" marR="93980" indent="-229235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1900" b="1" dirty="0">
                <a:latin typeface="Calibri"/>
                <a:cs typeface="Calibri"/>
              </a:rPr>
              <a:t>Design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check: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tells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cross-</a:t>
            </a:r>
            <a:r>
              <a:rPr sz="1900" b="1" dirty="0">
                <a:latin typeface="Calibri"/>
                <a:cs typeface="Calibri"/>
              </a:rPr>
              <a:t>sectional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series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cohort?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6939" y="308070"/>
            <a:ext cx="498538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35" dirty="0"/>
              <a:t>Cross-</a:t>
            </a:r>
            <a:r>
              <a:rPr dirty="0"/>
              <a:t>Sectional</a:t>
            </a:r>
            <a:r>
              <a:rPr spc="-70" dirty="0"/>
              <a:t> </a:t>
            </a:r>
            <a:r>
              <a:rPr spc="-10" dirty="0"/>
              <a:t>Study: Example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667768" y="73152"/>
            <a:ext cx="6524625" cy="5534025"/>
            <a:chOff x="5667768" y="73152"/>
            <a:chExt cx="6524625" cy="55340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7768" y="73152"/>
              <a:ext cx="6524231" cy="55336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3669" y="267848"/>
              <a:ext cx="6120558" cy="494616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895637" y="5395628"/>
            <a:ext cx="3757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4"/>
              </a:rPr>
              <a:t>Source:</a:t>
            </a:r>
            <a:r>
              <a:rPr sz="1600" u="sng" spc="-6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6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4"/>
              </a:rPr>
              <a:t>publichealth.jmir.org/2021/1/e24320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 descr="$PPTXTitle"/>
          <p:cNvSpPr txBox="1"/>
          <p:nvPr/>
        </p:nvSpPr>
        <p:spPr>
          <a:xfrm>
            <a:off x="910589" y="3263868"/>
            <a:ext cx="5420360" cy="1693545"/>
          </a:xfrm>
          <a:prstGeom prst="rect">
            <a:avLst/>
          </a:prstGeom>
        </p:spPr>
        <p:txBody>
          <a:bodyPr vert="horz" wrap="square" lIns="0" tIns="289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6000" b="0" dirty="0">
                <a:latin typeface="Calibri Light"/>
                <a:cs typeface="Calibri Light"/>
              </a:rPr>
              <a:t>Epi</a:t>
            </a:r>
            <a:r>
              <a:rPr sz="6000" b="0" spc="-165" dirty="0">
                <a:latin typeface="Calibri Light"/>
                <a:cs typeface="Calibri Light"/>
              </a:rPr>
              <a:t> </a:t>
            </a:r>
            <a:r>
              <a:rPr sz="6000" b="0" dirty="0">
                <a:latin typeface="Calibri Light"/>
                <a:cs typeface="Calibri Light"/>
              </a:rPr>
              <a:t>Project</a:t>
            </a:r>
            <a:r>
              <a:rPr sz="6000" b="0" spc="-165" dirty="0">
                <a:latin typeface="Calibri Light"/>
                <a:cs typeface="Calibri Light"/>
              </a:rPr>
              <a:t> </a:t>
            </a:r>
            <a:r>
              <a:rPr sz="6000" b="0" dirty="0">
                <a:latin typeface="Calibri Light"/>
                <a:cs typeface="Calibri Light"/>
              </a:rPr>
              <a:t>Prep</a:t>
            </a:r>
            <a:r>
              <a:rPr sz="6000" b="0" spc="-165" dirty="0">
                <a:latin typeface="Calibri Light"/>
                <a:cs typeface="Calibri Light"/>
              </a:rPr>
              <a:t> </a:t>
            </a:r>
            <a:r>
              <a:rPr sz="6000" b="0" spc="-50" dirty="0">
                <a:latin typeface="Calibri Light"/>
                <a:cs typeface="Calibri Light"/>
              </a:rPr>
              <a:t>2</a:t>
            </a:r>
            <a:endParaRPr sz="6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Get</a:t>
            </a:r>
            <a:r>
              <a:rPr sz="24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Started!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Person</a:t>
            </a:r>
            <a:r>
              <a:rPr spc="-135" dirty="0"/>
              <a:t> </a:t>
            </a:r>
            <a:r>
              <a:rPr spc="-10" dirty="0"/>
              <a:t>Variables:</a:t>
            </a:r>
            <a:r>
              <a:rPr spc="-145" dirty="0"/>
              <a:t> </a:t>
            </a:r>
            <a:r>
              <a:rPr dirty="0"/>
              <a:t>the</a:t>
            </a:r>
            <a:r>
              <a:rPr spc="-130" dirty="0"/>
              <a:t> </a:t>
            </a:r>
            <a:r>
              <a:rPr dirty="0"/>
              <a:t>“Who”</a:t>
            </a:r>
            <a:r>
              <a:rPr spc="-135" dirty="0"/>
              <a:t> </a:t>
            </a:r>
            <a:r>
              <a:rPr spc="-10" dirty="0"/>
              <a:t>Factor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39395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b="1" dirty="0">
                <a:latin typeface="Calibri"/>
                <a:cs typeface="Calibri"/>
              </a:rPr>
              <a:t>Definition: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spc="-10" dirty="0"/>
              <a:t>Person</a:t>
            </a:r>
            <a:r>
              <a:rPr sz="2800" spc="-80" dirty="0"/>
              <a:t> </a:t>
            </a:r>
            <a:r>
              <a:rPr sz="2800" dirty="0"/>
              <a:t>variables</a:t>
            </a:r>
            <a:r>
              <a:rPr sz="2800" spc="-90" dirty="0"/>
              <a:t> </a:t>
            </a:r>
            <a:r>
              <a:rPr sz="2800" dirty="0"/>
              <a:t>are</a:t>
            </a:r>
            <a:r>
              <a:rPr sz="2800" spc="-110" dirty="0"/>
              <a:t> </a:t>
            </a:r>
            <a:r>
              <a:rPr sz="2800" spc="-10" dirty="0"/>
              <a:t>demographic</a:t>
            </a:r>
            <a:r>
              <a:rPr sz="2800" spc="-65" dirty="0"/>
              <a:t> </a:t>
            </a:r>
            <a:r>
              <a:rPr sz="2800" spc="-10" dirty="0"/>
              <a:t>characteristics</a:t>
            </a:r>
            <a:r>
              <a:rPr sz="2800" spc="-85" dirty="0"/>
              <a:t> </a:t>
            </a:r>
            <a:r>
              <a:rPr sz="2800" dirty="0"/>
              <a:t>that</a:t>
            </a:r>
            <a:r>
              <a:rPr sz="2800" spc="-90" dirty="0"/>
              <a:t> </a:t>
            </a:r>
            <a:r>
              <a:rPr sz="2800" spc="-25" dirty="0"/>
              <a:t>can 	</a:t>
            </a:r>
            <a:r>
              <a:rPr sz="2800" dirty="0"/>
              <a:t>influence</a:t>
            </a:r>
            <a:r>
              <a:rPr sz="2800" spc="-65" dirty="0"/>
              <a:t> </a:t>
            </a:r>
            <a:r>
              <a:rPr sz="2800" dirty="0"/>
              <a:t>health</a:t>
            </a:r>
            <a:r>
              <a:rPr sz="2800" spc="-70" dirty="0"/>
              <a:t> </a:t>
            </a:r>
            <a:r>
              <a:rPr sz="2800" spc="-10" dirty="0"/>
              <a:t>outcomes.</a:t>
            </a:r>
            <a:endParaRPr sz="2800">
              <a:latin typeface="Calibri"/>
              <a:cs typeface="Calibri"/>
            </a:endParaRPr>
          </a:p>
          <a:p>
            <a:pPr marL="240029" marR="809625" indent="-227329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Purpose: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spc="-10" dirty="0"/>
              <a:t>Understanding</a:t>
            </a:r>
            <a:r>
              <a:rPr sz="2800" spc="-15" dirty="0"/>
              <a:t> </a:t>
            </a:r>
            <a:r>
              <a:rPr sz="2800" dirty="0"/>
              <a:t>who</a:t>
            </a:r>
            <a:r>
              <a:rPr sz="2800" spc="-55" dirty="0"/>
              <a:t> </a:t>
            </a:r>
            <a:r>
              <a:rPr sz="2800" dirty="0"/>
              <a:t>is</a:t>
            </a:r>
            <a:r>
              <a:rPr sz="2800" spc="-60" dirty="0"/>
              <a:t> </a:t>
            </a:r>
            <a:r>
              <a:rPr sz="2800" dirty="0"/>
              <a:t>at</a:t>
            </a:r>
            <a:r>
              <a:rPr sz="2800" spc="-75" dirty="0"/>
              <a:t> </a:t>
            </a:r>
            <a:r>
              <a:rPr sz="2800" dirty="0"/>
              <a:t>risk</a:t>
            </a:r>
            <a:r>
              <a:rPr sz="2800" spc="-40" dirty="0"/>
              <a:t> </a:t>
            </a:r>
            <a:r>
              <a:rPr sz="2800" dirty="0"/>
              <a:t>helps</a:t>
            </a:r>
            <a:r>
              <a:rPr sz="2800" spc="-45" dirty="0"/>
              <a:t> </a:t>
            </a:r>
            <a:r>
              <a:rPr sz="2800" dirty="0"/>
              <a:t>tailor</a:t>
            </a:r>
            <a:r>
              <a:rPr sz="2800" spc="-70" dirty="0"/>
              <a:t> </a:t>
            </a:r>
            <a:r>
              <a:rPr sz="2800" dirty="0"/>
              <a:t>public</a:t>
            </a:r>
            <a:r>
              <a:rPr sz="2800" spc="-30" dirty="0"/>
              <a:t> </a:t>
            </a:r>
            <a:r>
              <a:rPr sz="2800" spc="-10" dirty="0"/>
              <a:t>health 	interventions.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Key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Person</a:t>
            </a:r>
            <a:r>
              <a:rPr sz="2800" b="1" spc="-114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Variables: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Age,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Sex,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Race/ethnicity,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Socioeconomic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status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examples: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Gender,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Marital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status,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Nativity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(place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origin),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Religion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681"/>
            <a:ext cx="9829800" cy="404685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disease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occurrence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outcomes </a:t>
            </a:r>
            <a:r>
              <a:rPr sz="2600" dirty="0">
                <a:latin typeface="Calibri"/>
                <a:cs typeface="Calibri"/>
              </a:rPr>
              <a:t>vary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across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life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course.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Age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5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Disease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patterns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differ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life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stage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Helps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identify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age-</a:t>
            </a:r>
            <a:r>
              <a:rPr sz="2200" b="1" dirty="0">
                <a:latin typeface="Calibri"/>
                <a:cs typeface="Calibri"/>
              </a:rPr>
              <a:t>specific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health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priorities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Examples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Childhood: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occurrence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infectious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diseases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1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25" dirty="0">
                <a:latin typeface="Calibri"/>
                <a:cs typeface="Calibri"/>
              </a:rPr>
              <a:t>Young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adults: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injury-</a:t>
            </a:r>
            <a:r>
              <a:rPr sz="2200" dirty="0">
                <a:latin typeface="Calibri"/>
                <a:cs typeface="Calibri"/>
              </a:rPr>
              <a:t>related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outcomes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Older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adults: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prevalence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chronic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disease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mortality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59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Discussion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Question: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concerns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common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among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b="1" spc="-25" dirty="0">
                <a:latin typeface="Calibri"/>
                <a:cs typeface="Calibri"/>
              </a:rPr>
              <a:t>college-</a:t>
            </a:r>
            <a:r>
              <a:rPr sz="2600" b="1" dirty="0">
                <a:latin typeface="Calibri"/>
                <a:cs typeface="Calibri"/>
              </a:rPr>
              <a:t>aged</a:t>
            </a:r>
            <a:r>
              <a:rPr sz="2600" b="1" spc="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adults</a:t>
            </a:r>
            <a:r>
              <a:rPr sz="2600" spc="-1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Sex/Gender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681"/>
            <a:ext cx="10279380" cy="43148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665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Sex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gender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differences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outcomes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related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biological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characteristics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social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roles,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behaviors,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norms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Sex/Gender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Matters</a:t>
            </a:r>
            <a:endParaRPr sz="2600">
              <a:latin typeface="Calibri"/>
              <a:cs typeface="Calibri"/>
            </a:endParaRPr>
          </a:p>
          <a:p>
            <a:pPr marL="698500" marR="747395" lvl="1" indent="-228600">
              <a:lnSpc>
                <a:spcPts val="211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Many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diseases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patterns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occurrence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outcomes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sex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or </a:t>
            </a:r>
            <a:r>
              <a:rPr sz="2200" spc="-10" dirty="0">
                <a:latin typeface="Calibri"/>
                <a:cs typeface="Calibri"/>
              </a:rPr>
              <a:t>gender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5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-10" dirty="0">
                <a:latin typeface="Calibri"/>
                <a:cs typeface="Calibri"/>
              </a:rPr>
              <a:t>Differences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reflect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biology,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behavior,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social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context,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access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care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Examples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Heart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disease: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earlier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onset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males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1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Autoimmune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diseases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&amp;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depression: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prevalence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females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Mortality: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All-</a:t>
            </a:r>
            <a:r>
              <a:rPr sz="2200" dirty="0">
                <a:latin typeface="Calibri"/>
                <a:cs typeface="Calibri"/>
              </a:rPr>
              <a:t>cause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age-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mortality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typically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males</a:t>
            </a:r>
            <a:endParaRPr sz="2200">
              <a:latin typeface="Calibri"/>
              <a:cs typeface="Calibri"/>
            </a:endParaRPr>
          </a:p>
          <a:p>
            <a:pPr marL="240665" marR="434340" indent="-228600">
              <a:lnSpc>
                <a:spcPts val="2500"/>
              </a:lnSpc>
              <a:spcBef>
                <a:spcPts val="955"/>
              </a:spcBef>
              <a:buFont typeface="Arial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Discussion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Question: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concerns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health-related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behaviors </a:t>
            </a:r>
            <a:r>
              <a:rPr sz="2600" dirty="0">
                <a:latin typeface="Calibri"/>
                <a:cs typeface="Calibri"/>
              </a:rPr>
              <a:t>differ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sex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or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gender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college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students?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Race/Ethnicity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725"/>
            <a:ext cx="10213340" cy="438531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Race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ethnicity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population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groups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social, </a:t>
            </a:r>
            <a:r>
              <a:rPr sz="2600" b="1" dirty="0">
                <a:latin typeface="Calibri"/>
                <a:cs typeface="Calibri"/>
              </a:rPr>
              <a:t>cultural,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historical,</a:t>
            </a:r>
            <a:r>
              <a:rPr sz="2600" b="1" spc="-10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10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geographic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characteristics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11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Race/Ethnicity</a:t>
            </a:r>
            <a:r>
              <a:rPr sz="2600" b="1" spc="-12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Disease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occurrence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outcomes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vary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across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groups</a:t>
            </a:r>
            <a:endParaRPr sz="2200">
              <a:latin typeface="Calibri"/>
              <a:cs typeface="Calibri"/>
            </a:endParaRPr>
          </a:p>
          <a:p>
            <a:pPr marL="698500" marR="259715" lvl="1" indent="-228600">
              <a:lnSpc>
                <a:spcPct val="70000"/>
              </a:lnSpc>
              <a:spcBef>
                <a:spcPts val="640"/>
              </a:spcBef>
              <a:buFont typeface="Arial"/>
              <a:buChar char="•"/>
              <a:tabLst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Patterns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reflect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inequities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exposure,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resources,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access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care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biology alone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Examples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Observed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Patterns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Asthma: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Lower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reported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prevalence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Hispanic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populations</a:t>
            </a:r>
            <a:endParaRPr sz="2200">
              <a:latin typeface="Calibri"/>
              <a:cs typeface="Calibri"/>
            </a:endParaRPr>
          </a:p>
          <a:p>
            <a:pPr marL="697865" marR="681990" lvl="1" indent="-228600">
              <a:lnSpc>
                <a:spcPct val="70000"/>
              </a:lnSpc>
              <a:spcBef>
                <a:spcPts val="650"/>
              </a:spcBef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Cognitive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decline: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prevalence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American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Indian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Alaska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Native populations</a:t>
            </a:r>
            <a:endParaRPr sz="2200">
              <a:latin typeface="Calibri"/>
              <a:cs typeface="Calibri"/>
            </a:endParaRPr>
          </a:p>
          <a:p>
            <a:pPr marL="697865" marR="82550" lvl="1" indent="-228600">
              <a:lnSpc>
                <a:spcPct val="70000"/>
              </a:lnSpc>
              <a:spcBef>
                <a:spcPts val="505"/>
              </a:spcBef>
              <a:buFont typeface="Arial"/>
              <a:buChar char="•"/>
              <a:tabLst>
                <a:tab pos="697865" algn="l"/>
              </a:tabLst>
            </a:pPr>
            <a:r>
              <a:rPr sz="2200" b="1" spc="-30" dirty="0">
                <a:latin typeface="Calibri"/>
                <a:cs typeface="Calibri"/>
              </a:rPr>
              <a:t>COVID-</a:t>
            </a:r>
            <a:r>
              <a:rPr sz="2200" b="1" dirty="0">
                <a:latin typeface="Calibri"/>
                <a:cs typeface="Calibri"/>
              </a:rPr>
              <a:t>19: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mortality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non-</a:t>
            </a:r>
            <a:r>
              <a:rPr sz="2200" dirty="0">
                <a:latin typeface="Calibri"/>
                <a:cs typeface="Calibri"/>
              </a:rPr>
              <a:t>Hispanic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Black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populations,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especially </a:t>
            </a:r>
            <a:r>
              <a:rPr sz="2200" dirty="0">
                <a:latin typeface="Calibri"/>
                <a:cs typeface="Calibri"/>
              </a:rPr>
              <a:t>early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pandemic</a:t>
            </a:r>
            <a:endParaRPr sz="2200">
              <a:latin typeface="Calibri"/>
              <a:cs typeface="Calibri"/>
            </a:endParaRPr>
          </a:p>
          <a:p>
            <a:pPr marL="241300" marR="673735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Discussion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Question: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factors—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biology—</a:t>
            </a:r>
            <a:r>
              <a:rPr sz="2600" dirty="0">
                <a:latin typeface="Calibri"/>
                <a:cs typeface="Calibri"/>
              </a:rPr>
              <a:t>might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help </a:t>
            </a:r>
            <a:r>
              <a:rPr sz="2600" dirty="0">
                <a:latin typeface="Calibri"/>
                <a:cs typeface="Calibri"/>
              </a:rPr>
              <a:t>explain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differences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outcomes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across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racial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ethnic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groups?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Socioeconomic</a:t>
            </a:r>
            <a:r>
              <a:rPr spc="-125" dirty="0"/>
              <a:t> </a:t>
            </a:r>
            <a:r>
              <a:rPr dirty="0"/>
              <a:t>Status</a:t>
            </a:r>
            <a:r>
              <a:rPr spc="-175" dirty="0"/>
              <a:t> </a:t>
            </a:r>
            <a:r>
              <a:rPr spc="-10" dirty="0"/>
              <a:t>(SES)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681"/>
            <a:ext cx="10284460" cy="436372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665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Socioeconomic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status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reflects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individual’s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group’s </a:t>
            </a:r>
            <a:r>
              <a:rPr sz="2600" b="1" dirty="0">
                <a:latin typeface="Calibri"/>
                <a:cs typeface="Calibri"/>
              </a:rPr>
              <a:t>economic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social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position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commonly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measured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income,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education,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occupation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SES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5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Strongly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associated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differences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health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outcomes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access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care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0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-10" dirty="0">
                <a:latin typeface="Calibri"/>
                <a:cs typeface="Calibri"/>
              </a:rPr>
              <a:t>Patterns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social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gradient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lower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levels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Examples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SES-Related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Patterns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chronic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disease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mortality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lower-</a:t>
            </a:r>
            <a:r>
              <a:rPr sz="2200" dirty="0">
                <a:latin typeface="Calibri"/>
                <a:cs typeface="Calibri"/>
              </a:rPr>
              <a:t>SES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groups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1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Reduced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preventive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timely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care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0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-10" dirty="0">
                <a:latin typeface="Calibri"/>
                <a:cs typeface="Calibri"/>
              </a:rPr>
              <a:t>Greater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exposure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environmental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occupational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risks</a:t>
            </a:r>
            <a:endParaRPr sz="2200">
              <a:latin typeface="Calibri"/>
              <a:cs typeface="Calibri"/>
            </a:endParaRPr>
          </a:p>
          <a:p>
            <a:pPr marL="240665" marR="220345" indent="-228600">
              <a:lnSpc>
                <a:spcPts val="2500"/>
              </a:lnSpc>
              <a:spcBef>
                <a:spcPts val="960"/>
              </a:spcBef>
              <a:buFont typeface="Arial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Discussion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Question: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aspects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might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strongly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influence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college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students</a:t>
            </a:r>
            <a:r>
              <a:rPr sz="2600" spc="-1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Social</a:t>
            </a:r>
            <a:r>
              <a:rPr spc="-95" dirty="0"/>
              <a:t> </a:t>
            </a:r>
            <a:r>
              <a:rPr dirty="0"/>
              <a:t>Determinants</a:t>
            </a:r>
            <a:r>
              <a:rPr spc="-114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Health</a:t>
            </a:r>
            <a:r>
              <a:rPr spc="-100" dirty="0"/>
              <a:t> </a:t>
            </a:r>
            <a:r>
              <a:rPr spc="-10" dirty="0"/>
              <a:t>(SDOH)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39395" marR="5080" indent="-227329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0665" algn="l"/>
              </a:tabLst>
            </a:pPr>
            <a:r>
              <a:rPr b="1" dirty="0">
                <a:latin typeface="Calibri"/>
                <a:cs typeface="Calibri"/>
              </a:rPr>
              <a:t>Definition: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dirty="0"/>
              <a:t>Social</a:t>
            </a:r>
            <a:r>
              <a:rPr spc="-65" dirty="0"/>
              <a:t> </a:t>
            </a:r>
            <a:r>
              <a:rPr spc="-10" dirty="0"/>
              <a:t>determinants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health</a:t>
            </a:r>
            <a:r>
              <a:rPr spc="-45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b="1" dirty="0">
                <a:latin typeface="Calibri"/>
                <a:cs typeface="Calibri"/>
              </a:rPr>
              <a:t>conditions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which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people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are 	</a:t>
            </a:r>
            <a:r>
              <a:rPr b="1" dirty="0">
                <a:latin typeface="Calibri"/>
                <a:cs typeface="Calibri"/>
              </a:rPr>
              <a:t>born,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grow,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live,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work,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age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influence</a:t>
            </a:r>
            <a:r>
              <a:rPr spc="-45" dirty="0"/>
              <a:t> </a:t>
            </a:r>
            <a:r>
              <a:rPr dirty="0"/>
              <a:t>health</a:t>
            </a:r>
            <a:r>
              <a:rPr spc="-60" dirty="0"/>
              <a:t> </a:t>
            </a:r>
            <a:r>
              <a:rPr spc="-10" dirty="0"/>
              <a:t>outcomes.</a:t>
            </a:r>
          </a:p>
          <a:p>
            <a:pPr marL="240029" indent="-227329">
              <a:lnSpc>
                <a:spcPts val="2775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Why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SDOH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Matter</a:t>
            </a:r>
          </a:p>
          <a:p>
            <a:pPr marL="697865" lvl="1" indent="-227965">
              <a:lnSpc>
                <a:spcPts val="2185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Shape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opportunities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health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beyond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individual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behaviors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290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Help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explain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persistent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health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disparities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across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populations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Common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SDOH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Domains</a:t>
            </a:r>
          </a:p>
          <a:p>
            <a:pPr marL="697865" lvl="1" indent="-227965">
              <a:lnSpc>
                <a:spcPts val="2180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Economic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stability: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afford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food,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housing,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care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180"/>
              </a:lnSpc>
              <a:buFont typeface="Arial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Education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schools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educational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resources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185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Availability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primary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mental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180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Neighborhood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built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environment: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Safe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housing,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healthy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foods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285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Social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context: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Social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support,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connectedness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ts val="2450"/>
              </a:lnSpc>
              <a:spcBef>
                <a:spcPts val="140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Discussion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Question: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dirty="0"/>
              <a:t>Which</a:t>
            </a:r>
            <a:r>
              <a:rPr spc="-80" dirty="0"/>
              <a:t> </a:t>
            </a:r>
            <a:r>
              <a:rPr dirty="0"/>
              <a:t>SDOH</a:t>
            </a:r>
            <a:r>
              <a:rPr spc="-65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dirty="0"/>
              <a:t>most</a:t>
            </a:r>
            <a:r>
              <a:rPr spc="-80" dirty="0"/>
              <a:t> </a:t>
            </a:r>
            <a:r>
              <a:rPr spc="-10" dirty="0"/>
              <a:t>relevant</a:t>
            </a:r>
            <a:r>
              <a:rPr spc="-6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health</a:t>
            </a:r>
            <a:r>
              <a:rPr spc="-85" dirty="0"/>
              <a:t> </a:t>
            </a:r>
            <a:r>
              <a:rPr dirty="0"/>
              <a:t>outcomes</a:t>
            </a:r>
            <a:r>
              <a:rPr spc="-80" dirty="0"/>
              <a:t> </a:t>
            </a:r>
            <a:r>
              <a:rPr spc="-10" dirty="0"/>
              <a:t>among</a:t>
            </a:r>
          </a:p>
          <a:p>
            <a:pPr marL="240665">
              <a:lnSpc>
                <a:spcPts val="2450"/>
              </a:lnSpc>
            </a:pPr>
            <a:r>
              <a:rPr b="1" dirty="0">
                <a:latin typeface="Calibri"/>
                <a:cs typeface="Calibri"/>
              </a:rPr>
              <a:t>college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students</a:t>
            </a:r>
            <a:r>
              <a:rPr spc="-10" dirty="0"/>
              <a:t>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SES</a:t>
            </a:r>
            <a:r>
              <a:rPr spc="-50" dirty="0"/>
              <a:t> </a:t>
            </a:r>
            <a:r>
              <a:rPr dirty="0"/>
              <a:t>vs.</a:t>
            </a:r>
            <a:r>
              <a:rPr spc="-45" dirty="0"/>
              <a:t> </a:t>
            </a:r>
            <a:r>
              <a:rPr spc="-20" dirty="0"/>
              <a:t>SDOH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349411"/>
          <a:ext cx="10515599" cy="2620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62801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Socioeconomic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Status (SES)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47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Determinants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Health (SDOH)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Concept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position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Living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conditions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describes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economic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standing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5537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Conditions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shaping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daily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life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health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0805" marR="8108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Common</a:t>
                      </a:r>
                      <a:r>
                        <a:rPr sz="20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measures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/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examples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Income,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education,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occupation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746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Housing,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conditions,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access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care,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education,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support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9" y="5401222"/>
            <a:ext cx="9106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Key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distinction: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reflects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social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position;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SDOH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reflect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lived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conditions.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Relationship: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influences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SDOH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shapes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health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outcomes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Exercise:</a:t>
            </a:r>
            <a:r>
              <a:rPr spc="-110" dirty="0"/>
              <a:t> </a:t>
            </a:r>
            <a:r>
              <a:rPr dirty="0"/>
              <a:t>SES</a:t>
            </a:r>
            <a:r>
              <a:rPr spc="-95" dirty="0"/>
              <a:t> </a:t>
            </a:r>
            <a:r>
              <a:rPr dirty="0"/>
              <a:t>or</a:t>
            </a:r>
            <a:r>
              <a:rPr spc="-85" dirty="0"/>
              <a:t> </a:t>
            </a:r>
            <a:r>
              <a:rPr spc="-10" dirty="0"/>
              <a:t>SDOH?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93"/>
            <a:ext cx="10052685" cy="42767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69265" marR="5080" indent="-457200">
              <a:lnSpc>
                <a:spcPct val="99200"/>
              </a:lnSpc>
              <a:spcBef>
                <a:spcPts val="405"/>
              </a:spcBef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whether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SES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SDOH</a:t>
            </a:r>
            <a:r>
              <a:rPr sz="2800" spc="-10" dirty="0">
                <a:latin typeface="Calibri"/>
                <a:cs typeface="Calibri"/>
              </a:rPr>
              <a:t>. </a:t>
            </a:r>
            <a:r>
              <a:rPr sz="2400" dirty="0">
                <a:latin typeface="Calibri"/>
                <a:cs typeface="Calibri"/>
              </a:rPr>
              <a:t>Reminder: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reflects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position</a:t>
            </a:r>
            <a:r>
              <a:rPr sz="2400" dirty="0">
                <a:latin typeface="Calibri"/>
                <a:cs typeface="Calibri"/>
              </a:rPr>
              <a:t>;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SDOH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reflect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conditions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that </a:t>
            </a:r>
            <a:r>
              <a:rPr sz="2400" b="1" spc="-10" dirty="0">
                <a:latin typeface="Calibri"/>
                <a:cs typeface="Calibri"/>
              </a:rPr>
              <a:t>position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person’s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highest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education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Living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neighborhood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limited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grocery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Type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job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employment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status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Exposure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hazardous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conditions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work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Ability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paid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sick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leave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Household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income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Health</a:t>
            </a:r>
            <a:r>
              <a:rPr spc="-75" dirty="0"/>
              <a:t> </a:t>
            </a:r>
            <a:r>
              <a:rPr spc="-10" dirty="0"/>
              <a:t>Disparities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39395" marR="822960" indent="-227329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0665" algn="l"/>
              </a:tabLst>
            </a:pPr>
            <a:r>
              <a:rPr b="1" dirty="0">
                <a:latin typeface="Calibri"/>
                <a:cs typeface="Calibri"/>
              </a:rPr>
              <a:t>Definition: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dirty="0"/>
              <a:t>Health</a:t>
            </a:r>
            <a:r>
              <a:rPr spc="-75" dirty="0"/>
              <a:t> </a:t>
            </a:r>
            <a:r>
              <a:rPr dirty="0"/>
              <a:t>disparities</a:t>
            </a:r>
            <a:r>
              <a:rPr spc="-75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b="1" spc="-10" dirty="0">
                <a:latin typeface="Calibri"/>
                <a:cs typeface="Calibri"/>
              </a:rPr>
              <a:t>differences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health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outcomes,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disease 	</a:t>
            </a:r>
            <a:r>
              <a:rPr b="1" dirty="0">
                <a:latin typeface="Calibri"/>
                <a:cs typeface="Calibri"/>
              </a:rPr>
              <a:t>burden,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or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access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care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dirty="0"/>
              <a:t>across</a:t>
            </a:r>
            <a:r>
              <a:rPr spc="-80" dirty="0"/>
              <a:t> </a:t>
            </a:r>
            <a:r>
              <a:rPr dirty="0"/>
              <a:t>population</a:t>
            </a:r>
            <a:r>
              <a:rPr spc="-65" dirty="0"/>
              <a:t> </a:t>
            </a:r>
            <a:r>
              <a:rPr spc="-10" dirty="0"/>
              <a:t>groups.</a:t>
            </a:r>
          </a:p>
          <a:p>
            <a:pPr marL="240029" indent="-227329">
              <a:lnSpc>
                <a:spcPts val="2775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Why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Health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Disparities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Matter</a:t>
            </a:r>
          </a:p>
          <a:p>
            <a:pPr marL="697865" lvl="1" indent="-227965">
              <a:lnSpc>
                <a:spcPts val="2185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Indicate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inequities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care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290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Reflect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differences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SES,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SDOH,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social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context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Examples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Health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Disparities</a:t>
            </a:r>
          </a:p>
          <a:p>
            <a:pPr marL="697865" lvl="1" indent="-227965">
              <a:lnSpc>
                <a:spcPts val="2180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Higher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chronic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disease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lower-</a:t>
            </a:r>
            <a:r>
              <a:rPr sz="2000" dirty="0">
                <a:latin typeface="Calibri"/>
                <a:cs typeface="Calibri"/>
              </a:rPr>
              <a:t>SES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populations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180"/>
              </a:lnSpc>
              <a:buFont typeface="Arial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Differences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preventive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income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insurance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status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290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Higher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mortality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certain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conditions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across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racial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ethnic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groups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Key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Point: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dirty="0"/>
              <a:t>Health</a:t>
            </a:r>
            <a:r>
              <a:rPr spc="-90" dirty="0"/>
              <a:t> </a:t>
            </a:r>
            <a:r>
              <a:rPr dirty="0"/>
              <a:t>disparities</a:t>
            </a:r>
            <a:r>
              <a:rPr spc="-85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b="1" dirty="0">
                <a:latin typeface="Calibri"/>
                <a:cs typeface="Calibri"/>
              </a:rPr>
              <a:t>descriptive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patterns</a:t>
            </a:r>
            <a:r>
              <a:rPr spc="-10" dirty="0"/>
              <a:t>,</a:t>
            </a:r>
            <a:r>
              <a:rPr spc="-70" dirty="0"/>
              <a:t> </a:t>
            </a:r>
            <a:r>
              <a:rPr dirty="0"/>
              <a:t>not</a:t>
            </a:r>
            <a:r>
              <a:rPr spc="-80" dirty="0"/>
              <a:t> </a:t>
            </a:r>
            <a:r>
              <a:rPr spc="-10" dirty="0"/>
              <a:t>explanations.</a:t>
            </a:r>
          </a:p>
          <a:p>
            <a:pPr marL="240029" indent="-227329">
              <a:lnSpc>
                <a:spcPts val="2770"/>
              </a:lnSpc>
              <a:spcBef>
                <a:spcPts val="14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Discussion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Question:</a:t>
            </a:r>
          </a:p>
          <a:p>
            <a:pPr marL="697865" marR="5080" lvl="1" indent="-228600">
              <a:lnSpc>
                <a:spcPct val="70000"/>
              </a:lnSpc>
              <a:spcBef>
                <a:spcPts val="610"/>
              </a:spcBef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person-</a:t>
            </a:r>
            <a:r>
              <a:rPr sz="2000" spc="-10" dirty="0">
                <a:latin typeface="Calibri"/>
                <a:cs typeface="Calibri"/>
              </a:rPr>
              <a:t>related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factors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(age,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race/ethnicity,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SDOH)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contributing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disparities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college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students</a:t>
            </a:r>
            <a:r>
              <a:rPr sz="2000" spc="-1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Place</a:t>
            </a:r>
            <a:r>
              <a:rPr spc="-35" dirty="0"/>
              <a:t> </a:t>
            </a:r>
            <a:r>
              <a:rPr spc="-40" dirty="0"/>
              <a:t>Variables-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“Where”</a:t>
            </a:r>
            <a:r>
              <a:rPr spc="-45" dirty="0"/>
              <a:t> </a:t>
            </a:r>
            <a:r>
              <a:rPr spc="-10" dirty="0"/>
              <a:t>Factor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681"/>
            <a:ext cx="10030460" cy="42189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Place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disease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occurrence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outcomes </a:t>
            </a:r>
            <a:r>
              <a:rPr sz="2600" dirty="0">
                <a:latin typeface="Calibri"/>
                <a:cs typeface="Calibri"/>
              </a:rPr>
              <a:t>vary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geographic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location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Place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Matters</a:t>
            </a:r>
            <a:endParaRPr sz="2600">
              <a:latin typeface="Calibri"/>
              <a:cs typeface="Calibri"/>
            </a:endParaRPr>
          </a:p>
          <a:p>
            <a:pPr marL="698500" marR="440690" lvl="1" indent="-228600">
              <a:lnSpc>
                <a:spcPts val="211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patterns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differ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across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locations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environmental,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social,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and </a:t>
            </a:r>
            <a:r>
              <a:rPr sz="2200" b="1" spc="-10" dirty="0">
                <a:latin typeface="Calibri"/>
                <a:cs typeface="Calibri"/>
              </a:rPr>
              <a:t>structural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factors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5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Helps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identify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geographic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disparities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care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Common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Place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Levels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-10" dirty="0">
                <a:latin typeface="Calibri"/>
                <a:cs typeface="Calibri"/>
              </a:rPr>
              <a:t>International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1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National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(within-country)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15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Regional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1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Urban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vs.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rural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Local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neighborhood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International</a:t>
            </a:r>
            <a:r>
              <a:rPr spc="-245" dirty="0"/>
              <a:t> </a:t>
            </a:r>
            <a:r>
              <a:rPr spc="-20" dirty="0"/>
              <a:t>Variation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9961"/>
            <a:ext cx="10323830" cy="426148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Definition: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Differences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disease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across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countries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Why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Place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Matters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Internationally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outcomes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widely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contextual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differences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Reflect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differences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health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systems,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environments,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resources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697865" algn="l"/>
              </a:tabLst>
            </a:pPr>
            <a:r>
              <a:rPr sz="2000" b="1" spc="-10" dirty="0">
                <a:latin typeface="Calibri"/>
                <a:cs typeface="Calibri"/>
              </a:rPr>
              <a:t>Infectious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diseases: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remains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endemic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few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countries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eliminated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elsewhere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697865" algn="l"/>
              </a:tabLst>
            </a:pPr>
            <a:r>
              <a:rPr sz="2000" b="1" dirty="0">
                <a:latin typeface="Calibri"/>
                <a:cs typeface="Calibri"/>
              </a:rPr>
              <a:t>Life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expectancy: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Substantial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differences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across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countries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regions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697865" algn="l"/>
              </a:tabLst>
            </a:pPr>
            <a:r>
              <a:rPr sz="2000" b="1" dirty="0">
                <a:latin typeface="Calibri"/>
                <a:cs typeface="Calibri"/>
              </a:rPr>
              <a:t>Maternal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child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health: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mortality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lower-</a:t>
            </a:r>
            <a:r>
              <a:rPr sz="2000" spc="-10" dirty="0">
                <a:latin typeface="Calibri"/>
                <a:cs typeface="Calibri"/>
              </a:rPr>
              <a:t>resource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settings</a:t>
            </a:r>
            <a:endParaRPr sz="2000">
              <a:latin typeface="Calibri"/>
              <a:cs typeface="Calibri"/>
            </a:endParaRPr>
          </a:p>
          <a:p>
            <a:pPr marL="240029" marR="318770" indent="-227329">
              <a:lnSpc>
                <a:spcPct val="800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Key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Point: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International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reflects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people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live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risk 	</a:t>
            </a:r>
            <a:r>
              <a:rPr sz="2400" spc="-10" dirty="0">
                <a:latin typeface="Calibri"/>
                <a:cs typeface="Calibri"/>
              </a:rPr>
              <a:t>alone.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Discussion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Question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factors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might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contribute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differences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countries?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National</a:t>
            </a:r>
            <a:r>
              <a:rPr spc="-110" dirty="0"/>
              <a:t> </a:t>
            </a:r>
            <a:r>
              <a:rPr spc="-10" dirty="0"/>
              <a:t>(Within-</a:t>
            </a:r>
            <a:r>
              <a:rPr dirty="0"/>
              <a:t>Country)</a:t>
            </a:r>
            <a:r>
              <a:rPr spc="-135" dirty="0"/>
              <a:t> </a:t>
            </a:r>
            <a:r>
              <a:rPr spc="-10" dirty="0"/>
              <a:t>Variations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725"/>
            <a:ext cx="9726295" cy="438404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9235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Differences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disease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patterns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outcomes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across </a:t>
            </a:r>
            <a:r>
              <a:rPr sz="2600" b="1" dirty="0">
                <a:latin typeface="Calibri"/>
                <a:cs typeface="Calibri"/>
              </a:rPr>
              <a:t>regions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or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locations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within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same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country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Place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Matters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Within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Countries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outcomes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vary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region,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state,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community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49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Reflect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differences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environment,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resources,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policies,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access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care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Examples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Heart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disease: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substantially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U.S.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region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10" dirty="0">
                <a:latin typeface="Calibri"/>
                <a:cs typeface="Calibri"/>
              </a:rPr>
              <a:t>Respiratory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illness: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prevalence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greater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pollution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495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Injury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violence: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regions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compared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others</a:t>
            </a:r>
            <a:endParaRPr sz="2200">
              <a:latin typeface="Calibri"/>
              <a:cs typeface="Calibri"/>
            </a:endParaRPr>
          </a:p>
          <a:p>
            <a:pPr marL="240665" marR="573405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Key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Point: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patterns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differ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greatly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even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within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same </a:t>
            </a:r>
            <a:r>
              <a:rPr sz="2600" b="1" spc="-10" dirty="0">
                <a:latin typeface="Calibri"/>
                <a:cs typeface="Calibri"/>
              </a:rPr>
              <a:t>country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Discussion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Question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50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What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factors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might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explain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differences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regions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within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U.S.?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The map highlights the age prevalence of heart attacks. The data inferred from the map is as follows: 2.4 to 3.0, Washington, California, Utah, Alaska, Hawaii, Colorado, Nebraska, Wisconsin, New York, New Jersey, Maryland, New Hampshire, Washington D C; 3.1 to 3.4, Oregon, Nevada, Montana, Wyoming; New Mexico, Texas, Minnesota, Iowa, Illinois, Virginia, Vermont, Massachusetts, Rhode Island, Puerto Rico; 3.5 to 4.0, Idaho, Arizona, North Dakota, South Dakota, Kansas, Louisiana, Michigan, Indiana, Pennsylvania, North Carolina, South Carolina, Delaware, Guam; 4.1 to 5.6, Oklahoma, Missouri, Arkansas, Mississippi, Tennessee, Alabama, Georgia, Kentucky, Ohio, West Virginia, Maine, Guam; Data not available, Florida, Virgin Island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609" y="1766747"/>
            <a:ext cx="7813542" cy="4614311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916939" y="609822"/>
            <a:ext cx="64065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National</a:t>
            </a:r>
            <a:r>
              <a:rPr sz="4400" b="0" spc="-150" dirty="0">
                <a:latin typeface="Calibri Light"/>
                <a:cs typeface="Calibri Light"/>
              </a:rPr>
              <a:t> </a:t>
            </a:r>
            <a:r>
              <a:rPr sz="4400" b="0" spc="-25" dirty="0">
                <a:latin typeface="Calibri Light"/>
                <a:cs typeface="Calibri Light"/>
              </a:rPr>
              <a:t>Variation</a:t>
            </a:r>
            <a:r>
              <a:rPr sz="4400" b="0" spc="-1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(Example)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32988" y="1921988"/>
            <a:ext cx="35090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Question: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you </a:t>
            </a:r>
            <a:r>
              <a:rPr sz="2400" dirty="0">
                <a:latin typeface="Calibri"/>
                <a:cs typeface="Calibri"/>
              </a:rPr>
              <a:t>notice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geographic pattern?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From</a:t>
            </a:r>
            <a:r>
              <a:rPr spc="-114" dirty="0"/>
              <a:t> </a:t>
            </a:r>
            <a:r>
              <a:rPr spc="-10" dirty="0"/>
              <a:t>Urban–</a:t>
            </a:r>
            <a:r>
              <a:rPr dirty="0"/>
              <a:t>Rural</a:t>
            </a:r>
            <a:r>
              <a:rPr spc="-114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spc="-10" dirty="0"/>
              <a:t>Local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7685"/>
            <a:ext cx="10272395" cy="428942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80010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Geographic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patterns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multiple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spatial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scales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broad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categories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specific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locations.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Examples</a:t>
            </a:r>
            <a:endParaRPr sz="2600">
              <a:latin typeface="Calibri"/>
              <a:cs typeface="Calibri"/>
            </a:endParaRPr>
          </a:p>
          <a:p>
            <a:pPr marL="697865" marR="397510" lvl="1" indent="-228600">
              <a:lnSpc>
                <a:spcPts val="2380"/>
              </a:lnSpc>
              <a:spcBef>
                <a:spcPts val="565"/>
              </a:spcBef>
              <a:buFont typeface="Arial"/>
              <a:buChar char="•"/>
              <a:tabLst>
                <a:tab pos="697865" algn="l"/>
                <a:tab pos="2614930" algn="l"/>
              </a:tabLst>
            </a:pPr>
            <a:r>
              <a:rPr sz="2200" b="1" dirty="0">
                <a:latin typeface="Calibri"/>
                <a:cs typeface="Calibri"/>
              </a:rPr>
              <a:t>Urban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vs.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rural: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motor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vehicle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fatality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rates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rural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areas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compared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with </a:t>
            </a:r>
            <a:r>
              <a:rPr sz="2200" dirty="0">
                <a:latin typeface="Calibri"/>
                <a:cs typeface="Calibri"/>
              </a:rPr>
              <a:t>urban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areas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U.S.</a:t>
            </a:r>
            <a:endParaRPr sz="2200">
              <a:latin typeface="Calibri"/>
              <a:cs typeface="Calibri"/>
            </a:endParaRPr>
          </a:p>
          <a:p>
            <a:pPr marL="697865" marR="44450" lvl="1" indent="-228600">
              <a:lnSpc>
                <a:spcPts val="2380"/>
              </a:lnSpc>
              <a:spcBef>
                <a:spcPts val="484"/>
              </a:spcBef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Local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areas: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Elevated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childhood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lead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exposure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neighborhoods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older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housing </a:t>
            </a:r>
            <a:r>
              <a:rPr sz="2200" dirty="0">
                <a:latin typeface="Calibri"/>
                <a:cs typeface="Calibri"/>
              </a:rPr>
              <a:t>stock;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asthma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prevalence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near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major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highways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industrial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sites.</a:t>
            </a:r>
            <a:endParaRPr sz="2200">
              <a:latin typeface="Calibri"/>
              <a:cs typeface="Calibri"/>
            </a:endParaRPr>
          </a:p>
          <a:p>
            <a:pPr marL="241300" marR="5080" indent="-229235">
              <a:lnSpc>
                <a:spcPts val="281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Key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Point: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place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becomes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specific,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patterns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localized </a:t>
            </a:r>
            <a:r>
              <a:rPr sz="2600" b="1" dirty="0">
                <a:latin typeface="Calibri"/>
                <a:cs typeface="Calibri"/>
              </a:rPr>
              <a:t>risks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or</a:t>
            </a:r>
            <a:r>
              <a:rPr sz="2600" b="1" spc="-2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exposures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Discussion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Questions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examples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diseases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localized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geographic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patterns?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Localized</a:t>
            </a:r>
            <a:r>
              <a:rPr spc="-130" dirty="0"/>
              <a:t> </a:t>
            </a:r>
            <a:r>
              <a:rPr spc="-20" dirty="0"/>
              <a:t>Patterns</a:t>
            </a:r>
            <a:r>
              <a:rPr spc="-16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spc="-10" dirty="0"/>
              <a:t>Disease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Associated</a:t>
            </a:r>
            <a:r>
              <a:rPr sz="2800" spc="-90" dirty="0"/>
              <a:t> </a:t>
            </a:r>
            <a:r>
              <a:rPr sz="2800" dirty="0"/>
              <a:t>with</a:t>
            </a:r>
            <a:r>
              <a:rPr sz="2800" spc="-90" dirty="0"/>
              <a:t> </a:t>
            </a:r>
            <a:r>
              <a:rPr sz="2800" dirty="0"/>
              <a:t>specific</a:t>
            </a:r>
            <a:r>
              <a:rPr sz="2800" spc="-70" dirty="0"/>
              <a:t> </a:t>
            </a:r>
            <a:r>
              <a:rPr sz="2800" spc="-10" dirty="0"/>
              <a:t>environmental</a:t>
            </a:r>
            <a:r>
              <a:rPr sz="2800" spc="-70" dirty="0"/>
              <a:t> </a:t>
            </a:r>
            <a:r>
              <a:rPr sz="2800" dirty="0"/>
              <a:t>conditions</a:t>
            </a:r>
            <a:r>
              <a:rPr sz="2800" spc="-55" dirty="0"/>
              <a:t> </a:t>
            </a:r>
            <a:r>
              <a:rPr sz="2800" dirty="0"/>
              <a:t>that</a:t>
            </a:r>
            <a:r>
              <a:rPr sz="2800" spc="-100" dirty="0"/>
              <a:t> </a:t>
            </a:r>
            <a:r>
              <a:rPr sz="2800" dirty="0"/>
              <a:t>may</a:t>
            </a:r>
            <a:r>
              <a:rPr sz="2800" spc="-100" dirty="0"/>
              <a:t> </a:t>
            </a:r>
            <a:r>
              <a:rPr sz="2800" dirty="0"/>
              <a:t>exist</a:t>
            </a:r>
            <a:r>
              <a:rPr sz="2800" spc="-75" dirty="0"/>
              <a:t> </a:t>
            </a:r>
            <a:r>
              <a:rPr sz="2800" dirty="0"/>
              <a:t>in</a:t>
            </a:r>
            <a:r>
              <a:rPr sz="2800" spc="-85" dirty="0"/>
              <a:t> </a:t>
            </a:r>
            <a:r>
              <a:rPr sz="2800" spc="-50" dirty="0"/>
              <a:t>a 	</a:t>
            </a:r>
            <a:r>
              <a:rPr sz="2800" dirty="0"/>
              <a:t>particular</a:t>
            </a:r>
            <a:r>
              <a:rPr sz="2800" spc="-80" dirty="0"/>
              <a:t> </a:t>
            </a:r>
            <a:r>
              <a:rPr sz="2800" spc="-10" dirty="0"/>
              <a:t>geographic</a:t>
            </a:r>
            <a:r>
              <a:rPr sz="2800" spc="-90" dirty="0"/>
              <a:t> </a:t>
            </a:r>
            <a:r>
              <a:rPr sz="2800" spc="-20" dirty="0"/>
              <a:t>area</a:t>
            </a:r>
            <a:endParaRPr sz="2800"/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/>
              <a:t>Examples:</a:t>
            </a:r>
            <a:endParaRPr sz="2800"/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  <a:tab pos="2396490" algn="l"/>
              </a:tabLst>
            </a:pPr>
            <a:r>
              <a:rPr sz="2400" dirty="0">
                <a:latin typeface="Calibri"/>
                <a:cs typeface="Calibri"/>
              </a:rPr>
              <a:t>Lung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cancer:</a:t>
            </a:r>
            <a:r>
              <a:rPr sz="2400" dirty="0">
                <a:latin typeface="Calibri"/>
                <a:cs typeface="Calibri"/>
              </a:rPr>
              <a:t>	regions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radon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gas</a:t>
            </a:r>
            <a:endParaRPr sz="2400">
              <a:latin typeface="Calibri"/>
              <a:cs typeface="Calibri"/>
            </a:endParaRPr>
          </a:p>
          <a:p>
            <a:pPr marL="697230" marR="381000" lvl="1" indent="-227329">
              <a:lnSpc>
                <a:spcPts val="259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Skin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lung,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bladder,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skin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cancers: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regions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naturally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occurring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arsenic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water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supply</a:t>
            </a:r>
            <a:endParaRPr sz="2400">
              <a:latin typeface="Calibri"/>
              <a:cs typeface="Calibri"/>
            </a:endParaRPr>
          </a:p>
          <a:p>
            <a:pPr marL="696595" marR="606425" lvl="1" indent="-227329">
              <a:lnSpc>
                <a:spcPts val="2590"/>
              </a:lnSpc>
              <a:spcBef>
                <a:spcPts val="509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Dengue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Fever: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along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Texas–</a:t>
            </a:r>
            <a:r>
              <a:rPr sz="2400" dirty="0">
                <a:latin typeface="Calibri"/>
                <a:cs typeface="Calibri"/>
              </a:rPr>
              <a:t>Mexico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border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Aedes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mosquitoes</a:t>
            </a:r>
            <a:endParaRPr sz="2400">
              <a:latin typeface="Calibri"/>
              <a:cs typeface="Calibri"/>
            </a:endParaRPr>
          </a:p>
          <a:p>
            <a:pPr marL="696595" marR="662305" lvl="1" indent="-227329">
              <a:lnSpc>
                <a:spcPts val="2590"/>
              </a:lnSpc>
              <a:spcBef>
                <a:spcPts val="495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-10" dirty="0">
                <a:latin typeface="Calibri"/>
                <a:cs typeface="Calibri"/>
              </a:rPr>
              <a:t>Lyme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disease: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Northeast,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mid-Atlantic,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upper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Midwest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(~90% 	reported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cases)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Time:</a:t>
            </a:r>
            <a:r>
              <a:rPr spc="-3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“When”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12"/>
            <a:ext cx="9647555" cy="42183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33401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  <a:tab pos="1972310" algn="l"/>
              </a:tabLst>
            </a:pPr>
            <a:r>
              <a:rPr sz="2800" b="1" spc="-10" dirty="0">
                <a:latin typeface="Calibri"/>
                <a:cs typeface="Calibri"/>
              </a:rPr>
              <a:t>Definition: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disease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occurrence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health 	outcomes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change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or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vary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over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time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Why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Time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Matters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Reveals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trends,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cycles,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outbreaks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distinguish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short-</a:t>
            </a:r>
            <a:r>
              <a:rPr sz="2400" b="1" dirty="0">
                <a:latin typeface="Calibri"/>
                <a:cs typeface="Calibri"/>
              </a:rPr>
              <a:t>term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long-</a:t>
            </a:r>
            <a:r>
              <a:rPr sz="2400" b="1" dirty="0">
                <a:latin typeface="Calibri"/>
                <a:cs typeface="Calibri"/>
              </a:rPr>
              <a:t>term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patterns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Common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Time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Patterns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Secular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trends: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Long-</a:t>
            </a:r>
            <a:r>
              <a:rPr sz="2400" dirty="0">
                <a:latin typeface="Calibri"/>
                <a:cs typeface="Calibri"/>
              </a:rPr>
              <a:t>term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decades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Seasonal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cyclic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trends: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Regular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cycles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Point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epidemics: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Sudden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period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spc="-10" dirty="0">
                <a:latin typeface="Calibri"/>
                <a:cs typeface="Calibri"/>
              </a:rPr>
              <a:t>Clustering: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Higher-</a:t>
            </a:r>
            <a:r>
              <a:rPr sz="2400" spc="-10" dirty="0">
                <a:latin typeface="Calibri"/>
                <a:cs typeface="Calibri"/>
              </a:rPr>
              <a:t>than-</a:t>
            </a:r>
            <a:r>
              <a:rPr sz="2400" dirty="0">
                <a:latin typeface="Calibri"/>
                <a:cs typeface="Calibri"/>
              </a:rPr>
              <a:t>expected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period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place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Secular</a:t>
            </a:r>
            <a:r>
              <a:rPr spc="-75" dirty="0"/>
              <a:t> </a:t>
            </a:r>
            <a:r>
              <a:rPr spc="-45" dirty="0"/>
              <a:t>Trends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b="1" dirty="0">
                <a:latin typeface="Calibri"/>
                <a:cs typeface="Calibri"/>
              </a:rPr>
              <a:t>Definition: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spc="-10" dirty="0"/>
              <a:t>Long-</a:t>
            </a:r>
            <a:r>
              <a:rPr sz="2200" dirty="0"/>
              <a:t>term</a:t>
            </a:r>
            <a:r>
              <a:rPr sz="2200" spc="-35" dirty="0"/>
              <a:t> </a:t>
            </a:r>
            <a:r>
              <a:rPr sz="2200" dirty="0"/>
              <a:t>changes</a:t>
            </a:r>
            <a:r>
              <a:rPr sz="2200" spc="-50" dirty="0"/>
              <a:t> </a:t>
            </a:r>
            <a:r>
              <a:rPr sz="2200" dirty="0"/>
              <a:t>in</a:t>
            </a:r>
            <a:r>
              <a:rPr sz="2200" spc="-65" dirty="0"/>
              <a:t> </a:t>
            </a:r>
            <a:r>
              <a:rPr sz="2200" dirty="0"/>
              <a:t>disease</a:t>
            </a:r>
            <a:r>
              <a:rPr sz="2200" spc="-55" dirty="0"/>
              <a:t> </a:t>
            </a:r>
            <a:r>
              <a:rPr sz="2200" dirty="0"/>
              <a:t>occurrence</a:t>
            </a:r>
            <a:r>
              <a:rPr sz="2200" spc="-65" dirty="0"/>
              <a:t> </a:t>
            </a:r>
            <a:r>
              <a:rPr sz="2200" dirty="0"/>
              <a:t>or</a:t>
            </a:r>
            <a:r>
              <a:rPr sz="2200" spc="-60" dirty="0"/>
              <a:t> </a:t>
            </a:r>
            <a:r>
              <a:rPr sz="2200" dirty="0"/>
              <a:t>health</a:t>
            </a:r>
            <a:r>
              <a:rPr sz="2200" spc="-60" dirty="0"/>
              <a:t> </a:t>
            </a:r>
            <a:r>
              <a:rPr sz="2200" dirty="0"/>
              <a:t>outcomes</a:t>
            </a:r>
            <a:r>
              <a:rPr sz="2200" spc="-40" dirty="0"/>
              <a:t> </a:t>
            </a:r>
            <a:r>
              <a:rPr sz="2200" dirty="0"/>
              <a:t>observed</a:t>
            </a:r>
            <a:r>
              <a:rPr sz="2200" spc="-60" dirty="0"/>
              <a:t> </a:t>
            </a:r>
            <a:r>
              <a:rPr sz="2200" spc="-20" dirty="0"/>
              <a:t>over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b="1" dirty="0">
                <a:latin typeface="Calibri"/>
                <a:cs typeface="Calibri"/>
              </a:rPr>
              <a:t>many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years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decades</a:t>
            </a:r>
            <a:r>
              <a:rPr sz="2200" spc="-10" dirty="0"/>
              <a:t>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550"/>
              </a:lnSpc>
              <a:spcBef>
                <a:spcPts val="200"/>
              </a:spcBef>
              <a:buFont typeface="Arial"/>
              <a:buChar char="•"/>
              <a:tabLst>
                <a:tab pos="240665" algn="l"/>
              </a:tabLst>
            </a:pPr>
            <a:r>
              <a:rPr sz="2200" b="1" dirty="0">
                <a:latin typeface="Calibri"/>
                <a:cs typeface="Calibri"/>
              </a:rPr>
              <a:t>Why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Secular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Trends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Matter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095"/>
              </a:lnSpc>
              <a:buFont typeface="Arial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Show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whether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health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problem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increasing,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decreasing,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or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stable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time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185"/>
              </a:lnSpc>
              <a:buFont typeface="Arial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Reflect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broad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changes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population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behavior,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environment,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or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policy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ts val="2545"/>
              </a:lnSpc>
              <a:spcBef>
                <a:spcPts val="219"/>
              </a:spcBef>
              <a:buFont typeface="Arial"/>
              <a:buChar char="•"/>
              <a:tabLst>
                <a:tab pos="240665" algn="l"/>
              </a:tabLst>
            </a:pPr>
            <a:r>
              <a:rPr sz="2200" b="1" spc="-10" dirty="0">
                <a:latin typeface="Calibri"/>
                <a:cs typeface="Calibri"/>
              </a:rPr>
              <a:t>Examples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095"/>
              </a:lnSpc>
              <a:buFont typeface="Arial"/>
              <a:buChar char="•"/>
              <a:tabLst>
                <a:tab pos="697865" algn="l"/>
              </a:tabLst>
            </a:pPr>
            <a:r>
              <a:rPr sz="1900" b="1" dirty="0">
                <a:latin typeface="Calibri"/>
                <a:cs typeface="Calibri"/>
              </a:rPr>
              <a:t>Smoking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prevalence: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Steady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decline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U.S.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several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decades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2100"/>
              </a:lnSpc>
              <a:buFont typeface="Arial"/>
              <a:buChar char="•"/>
              <a:tabLst>
                <a:tab pos="697865" algn="l"/>
              </a:tabLst>
            </a:pPr>
            <a:r>
              <a:rPr sz="1900" b="1" dirty="0">
                <a:latin typeface="Calibri"/>
                <a:cs typeface="Calibri"/>
              </a:rPr>
              <a:t>Obesity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prevalence: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Long-</a:t>
            </a:r>
            <a:r>
              <a:rPr sz="1900" dirty="0">
                <a:latin typeface="Calibri"/>
                <a:cs typeface="Calibri"/>
              </a:rPr>
              <a:t>term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increase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across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age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groups</a:t>
            </a:r>
            <a:endParaRPr sz="1900">
              <a:latin typeface="Calibri"/>
              <a:cs typeface="Calibri"/>
            </a:endParaRPr>
          </a:p>
          <a:p>
            <a:pPr marL="698500" marR="1017905" lvl="1" indent="-229235">
              <a:lnSpc>
                <a:spcPct val="70000"/>
              </a:lnSpc>
              <a:spcBef>
                <a:spcPts val="590"/>
              </a:spcBef>
              <a:buFont typeface="Arial"/>
              <a:buChar char="•"/>
              <a:tabLst>
                <a:tab pos="698500" algn="l"/>
              </a:tabLst>
            </a:pPr>
            <a:r>
              <a:rPr sz="1900" b="1" dirty="0">
                <a:latin typeface="Calibri"/>
                <a:cs typeface="Calibri"/>
              </a:rPr>
              <a:t>Life</a:t>
            </a:r>
            <a:r>
              <a:rPr sz="1900" b="1" spc="-7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expectancy: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Gradual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increases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time,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recent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plateaus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declines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some </a:t>
            </a:r>
            <a:r>
              <a:rPr sz="1900" spc="-10" dirty="0">
                <a:latin typeface="Calibri"/>
                <a:cs typeface="Calibri"/>
              </a:rPr>
              <a:t>populations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</a:tabLst>
            </a:pPr>
            <a:r>
              <a:rPr sz="2200" b="1" dirty="0">
                <a:latin typeface="Calibri"/>
                <a:cs typeface="Calibri"/>
              </a:rPr>
              <a:t>Key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Point: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/>
              <a:t>Secular</a:t>
            </a:r>
            <a:r>
              <a:rPr sz="2200" spc="-65" dirty="0"/>
              <a:t> </a:t>
            </a:r>
            <a:r>
              <a:rPr sz="2200" dirty="0"/>
              <a:t>trends</a:t>
            </a:r>
            <a:r>
              <a:rPr sz="2200" spc="-55" dirty="0"/>
              <a:t> </a:t>
            </a:r>
            <a:r>
              <a:rPr sz="2200" dirty="0"/>
              <a:t>describe</a:t>
            </a:r>
            <a:r>
              <a:rPr sz="2200" spc="-65" dirty="0"/>
              <a:t> </a:t>
            </a:r>
            <a:r>
              <a:rPr sz="2200" b="1" dirty="0">
                <a:latin typeface="Calibri"/>
                <a:cs typeface="Calibri"/>
              </a:rPr>
              <a:t>direction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magnitude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change</a:t>
            </a:r>
            <a:r>
              <a:rPr sz="2200" dirty="0"/>
              <a:t>,</a:t>
            </a:r>
            <a:r>
              <a:rPr sz="2200" spc="-55" dirty="0"/>
              <a:t> </a:t>
            </a:r>
            <a:r>
              <a:rPr sz="2200" dirty="0"/>
              <a:t>not</a:t>
            </a:r>
            <a:r>
              <a:rPr sz="2200" spc="-65" dirty="0"/>
              <a:t> </a:t>
            </a:r>
            <a:r>
              <a:rPr sz="2200" spc="-10" dirty="0"/>
              <a:t>causes.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55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</a:tabLst>
            </a:pPr>
            <a:r>
              <a:rPr sz="2200" b="1" dirty="0">
                <a:latin typeface="Calibri"/>
                <a:cs typeface="Calibri"/>
              </a:rPr>
              <a:t>Discussion</a:t>
            </a:r>
            <a:r>
              <a:rPr sz="2200" b="1" spc="-9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Question</a:t>
            </a:r>
            <a:endParaRPr sz="220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595"/>
              </a:spcBef>
              <a:buFont typeface="Arial"/>
              <a:buChar char="•"/>
              <a:tabLst>
                <a:tab pos="698500" algn="l"/>
              </a:tabLst>
            </a:pPr>
            <a:r>
              <a:rPr sz="1900" dirty="0">
                <a:latin typeface="Calibri"/>
                <a:cs typeface="Calibri"/>
              </a:rPr>
              <a:t>Can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think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health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outcome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shown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major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changes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past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several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decades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or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across generations</a:t>
            </a:r>
            <a:r>
              <a:rPr sz="1900" b="1" spc="-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in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-15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U.S.</a:t>
            </a:r>
            <a:r>
              <a:rPr sz="1900" spc="-20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43432" y="609822"/>
            <a:ext cx="5346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Seasonal</a:t>
            </a:r>
            <a:r>
              <a:rPr spc="-110" dirty="0"/>
              <a:t> </a:t>
            </a:r>
            <a:r>
              <a:rPr dirty="0"/>
              <a:t>(Cyclic)</a:t>
            </a:r>
            <a:r>
              <a:rPr spc="-140" dirty="0"/>
              <a:t> </a:t>
            </a:r>
            <a:r>
              <a:rPr spc="-20" dirty="0"/>
              <a:t>Trends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725"/>
            <a:ext cx="9691370" cy="410654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9235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Regular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increases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decreases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disease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occurrence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that </a:t>
            </a:r>
            <a:r>
              <a:rPr sz="2600" dirty="0">
                <a:latin typeface="Calibri"/>
                <a:cs typeface="Calibri"/>
              </a:rPr>
              <a:t>repeat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specific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periods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often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within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year.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Seasonal</a:t>
            </a:r>
            <a:r>
              <a:rPr sz="2600" b="1" spc="-10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Trends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Help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anticipate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predictable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changes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disease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burden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49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Support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timing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prevention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response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efforts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Examples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Influenza: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incidence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during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winter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months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Allergic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conditions: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Increased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symptoms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during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spring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fall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495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Foodborne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illness: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incidence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summer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months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Key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Point: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Seasonal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trends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repeat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predictable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pattern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time.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Discussion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Question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50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What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health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increase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during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seasons?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Point</a:t>
            </a:r>
            <a:r>
              <a:rPr spc="-195" dirty="0"/>
              <a:t> </a:t>
            </a:r>
            <a:r>
              <a:rPr spc="-10" dirty="0"/>
              <a:t>Epidemics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0029" marR="8890" indent="-227329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b="1" dirty="0">
                <a:latin typeface="Calibri"/>
                <a:cs typeface="Calibri"/>
              </a:rPr>
              <a:t>Definition: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sudden</a:t>
            </a:r>
            <a:r>
              <a:rPr spc="-40" dirty="0"/>
              <a:t> </a:t>
            </a:r>
            <a:r>
              <a:rPr dirty="0"/>
              <a:t>increase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disease</a:t>
            </a:r>
            <a:r>
              <a:rPr spc="-45" dirty="0"/>
              <a:t> </a:t>
            </a:r>
            <a:r>
              <a:rPr spc="-10" dirty="0"/>
              <a:t>occurrence</a:t>
            </a:r>
            <a:r>
              <a:rPr spc="-65" dirty="0"/>
              <a:t> </a:t>
            </a:r>
            <a:r>
              <a:rPr dirty="0"/>
              <a:t>over</a:t>
            </a:r>
            <a:r>
              <a:rPr spc="-3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b="1" dirty="0">
                <a:latin typeface="Calibri"/>
                <a:cs typeface="Calibri"/>
              </a:rPr>
              <a:t>short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period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time</a:t>
            </a:r>
            <a:r>
              <a:rPr spc="-10" dirty="0"/>
              <a:t>, 	</a:t>
            </a:r>
            <a:r>
              <a:rPr dirty="0"/>
              <a:t>often</a:t>
            </a:r>
            <a:r>
              <a:rPr spc="-45" dirty="0"/>
              <a:t> </a:t>
            </a:r>
            <a:r>
              <a:rPr dirty="0"/>
              <a:t>linked</a:t>
            </a:r>
            <a:r>
              <a:rPr spc="-6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b="1" dirty="0">
                <a:latin typeface="Calibri"/>
                <a:cs typeface="Calibri"/>
              </a:rPr>
              <a:t>common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exposure</a:t>
            </a:r>
            <a:r>
              <a:rPr spc="-10" dirty="0"/>
              <a:t>.</a:t>
            </a:r>
          </a:p>
          <a:p>
            <a:pPr marL="240029" indent="-227329">
              <a:lnSpc>
                <a:spcPts val="2775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Why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Point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Epidemics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Matter</a:t>
            </a:r>
          </a:p>
          <a:p>
            <a:pPr marL="697865" lvl="1" indent="-227965">
              <a:lnSpc>
                <a:spcPts val="2185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Signal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recent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ongoing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outbreak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290"/>
              </a:lnSpc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Help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when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exposure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occurred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0029" algn="l"/>
              </a:tabLst>
            </a:pPr>
            <a:r>
              <a:rPr b="1" spc="-10" dirty="0">
                <a:latin typeface="Calibri"/>
                <a:cs typeface="Calibri"/>
              </a:rPr>
              <a:t>Examples</a:t>
            </a:r>
          </a:p>
          <a:p>
            <a:pPr marL="697865" lvl="1" indent="-227965">
              <a:lnSpc>
                <a:spcPts val="2180"/>
              </a:lnSpc>
              <a:buFont typeface="Arial"/>
              <a:buChar char="•"/>
              <a:tabLst>
                <a:tab pos="697865" algn="l"/>
              </a:tabLst>
            </a:pPr>
            <a:r>
              <a:rPr sz="2000" b="1" dirty="0">
                <a:latin typeface="Calibri"/>
                <a:cs typeface="Calibri"/>
              </a:rPr>
              <a:t>Food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poisoning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outbreak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event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180"/>
              </a:lnSpc>
              <a:buFont typeface="Arial"/>
              <a:buChar char="•"/>
              <a:tabLst>
                <a:tab pos="697865" algn="l"/>
              </a:tabLst>
            </a:pPr>
            <a:r>
              <a:rPr sz="2000" b="1" spc="-10" dirty="0">
                <a:latin typeface="Calibri"/>
                <a:cs typeface="Calibri"/>
              </a:rPr>
              <a:t>Legionnaires’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disease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outbreak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contaminated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water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source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ts val="2290"/>
              </a:lnSpc>
              <a:buFont typeface="Arial"/>
              <a:buChar char="•"/>
              <a:tabLst>
                <a:tab pos="697865" algn="l"/>
              </a:tabLst>
            </a:pPr>
            <a:r>
              <a:rPr sz="2000" b="1" dirty="0">
                <a:latin typeface="Calibri"/>
                <a:cs typeface="Calibri"/>
              </a:rPr>
              <a:t>Chemical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exposure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acute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illness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community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Key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Point: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dirty="0"/>
              <a:t>Point</a:t>
            </a:r>
            <a:r>
              <a:rPr spc="-75" dirty="0"/>
              <a:t> </a:t>
            </a:r>
            <a:r>
              <a:rPr dirty="0"/>
              <a:t>epidemics</a:t>
            </a:r>
            <a:r>
              <a:rPr spc="-90" dirty="0"/>
              <a:t> </a:t>
            </a:r>
            <a:r>
              <a:rPr dirty="0"/>
              <a:t>reflect</a:t>
            </a:r>
            <a:r>
              <a:rPr spc="-80" dirty="0"/>
              <a:t> </a:t>
            </a:r>
            <a:r>
              <a:rPr b="1" spc="-10" dirty="0">
                <a:latin typeface="Calibri"/>
                <a:cs typeface="Calibri"/>
              </a:rPr>
              <a:t>short-</a:t>
            </a:r>
            <a:r>
              <a:rPr b="1" dirty="0">
                <a:latin typeface="Calibri"/>
                <a:cs typeface="Calibri"/>
              </a:rPr>
              <a:t>term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changes</a:t>
            </a:r>
            <a:r>
              <a:rPr dirty="0"/>
              <a:t>,</a:t>
            </a:r>
            <a:r>
              <a:rPr spc="-85" dirty="0"/>
              <a:t> </a:t>
            </a:r>
            <a:r>
              <a:rPr dirty="0"/>
              <a:t>not</a:t>
            </a:r>
            <a:r>
              <a:rPr spc="-70" dirty="0"/>
              <a:t> </a:t>
            </a:r>
            <a:r>
              <a:rPr spc="-10" dirty="0"/>
              <a:t>long-</a:t>
            </a:r>
            <a:r>
              <a:rPr dirty="0"/>
              <a:t>term</a:t>
            </a:r>
            <a:r>
              <a:rPr spc="-85" dirty="0"/>
              <a:t> </a:t>
            </a:r>
            <a:r>
              <a:rPr spc="-10" dirty="0"/>
              <a:t>trends.</a:t>
            </a:r>
          </a:p>
          <a:p>
            <a:pPr marL="240029" indent="-227329">
              <a:lnSpc>
                <a:spcPts val="2770"/>
              </a:lnSpc>
              <a:spcBef>
                <a:spcPts val="14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Calibri"/>
                <a:cs typeface="Calibri"/>
              </a:rPr>
              <a:t>Discussion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Question</a:t>
            </a:r>
          </a:p>
          <a:p>
            <a:pPr marL="697865" marR="5080" lvl="1" indent="-228600">
              <a:lnSpc>
                <a:spcPct val="70000"/>
              </a:lnSpc>
              <a:spcBef>
                <a:spcPts val="610"/>
              </a:spcBef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time-related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information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when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exposure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likely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occurred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 epidemic?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681"/>
            <a:ext cx="10325100" cy="431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81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occurrence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spc="-30" dirty="0">
                <a:latin typeface="Calibri"/>
                <a:cs typeface="Calibri"/>
              </a:rPr>
              <a:t>greater-</a:t>
            </a:r>
            <a:r>
              <a:rPr sz="2600" b="1" spc="-15" dirty="0">
                <a:latin typeface="Calibri"/>
                <a:cs typeface="Calibri"/>
              </a:rPr>
              <a:t>than-</a:t>
            </a:r>
            <a:r>
              <a:rPr sz="2600" b="1" dirty="0">
                <a:latin typeface="Calibri"/>
                <a:cs typeface="Calibri"/>
              </a:rPr>
              <a:t>expected</a:t>
            </a:r>
            <a:r>
              <a:rPr sz="2600" b="1" spc="-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number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cases</a:t>
            </a:r>
            <a:endParaRPr sz="2600">
              <a:latin typeface="Calibri"/>
              <a:cs typeface="Calibri"/>
            </a:endParaRPr>
          </a:p>
          <a:p>
            <a:pPr marL="240665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within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specific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time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period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geographic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area,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or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population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group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Clustering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Matters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5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May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signal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unusual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aggregation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disease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30"/>
              </a:lnSpc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Helps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identify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patterns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warrant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closer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monitoring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investigation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Examples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spc="-30" dirty="0">
                <a:latin typeface="Calibri"/>
                <a:cs typeface="Calibri"/>
              </a:rPr>
              <a:t>Temporal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clustering: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Increased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influenza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during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short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winter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period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61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Spatial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clustering: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Higher-</a:t>
            </a:r>
            <a:r>
              <a:rPr sz="2200" spc="-10" dirty="0">
                <a:latin typeface="Calibri"/>
                <a:cs typeface="Calibri"/>
              </a:rPr>
              <a:t>than-</a:t>
            </a:r>
            <a:r>
              <a:rPr sz="2200" dirty="0">
                <a:latin typeface="Calibri"/>
                <a:cs typeface="Calibri"/>
              </a:rPr>
              <a:t>expected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leukemia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community</a:t>
            </a:r>
            <a:endParaRPr sz="2200">
              <a:latin typeface="Calibri"/>
              <a:cs typeface="Calibri"/>
            </a:endParaRPr>
          </a:p>
          <a:p>
            <a:pPr marL="698500" marR="206375" lvl="1" indent="-228600">
              <a:lnSpc>
                <a:spcPts val="211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sz="2200" b="1" spc="-10" dirty="0">
                <a:latin typeface="Calibri"/>
                <a:cs typeface="Calibri"/>
              </a:rPr>
              <a:t>Spatiotemporal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clustering: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Dengue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occurring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neighborhood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over </a:t>
            </a:r>
            <a:r>
              <a:rPr sz="2200" spc="-10" dirty="0">
                <a:latin typeface="Calibri"/>
                <a:cs typeface="Calibri"/>
              </a:rPr>
              <a:t>several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weeks</a:t>
            </a:r>
            <a:endParaRPr sz="2200">
              <a:latin typeface="Calibri"/>
              <a:cs typeface="Calibri"/>
            </a:endParaRPr>
          </a:p>
          <a:p>
            <a:pPr marL="240665" marR="508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Key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Point: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Clustering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describes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where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when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cases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group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together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why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occur.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Comparing</a:t>
            </a:r>
            <a:r>
              <a:rPr spc="-60" dirty="0"/>
              <a:t> </a:t>
            </a:r>
            <a:r>
              <a:rPr dirty="0"/>
              <a:t>Time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Place</a:t>
            </a:r>
            <a:r>
              <a:rPr spc="-40" dirty="0"/>
              <a:t> </a:t>
            </a:r>
            <a:r>
              <a:rPr spc="-10" dirty="0"/>
              <a:t>Patterns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7838" y="1406396"/>
          <a:ext cx="11002645" cy="4859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8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1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8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Pattern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represents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8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distinguishing</a:t>
                      </a:r>
                      <a:r>
                        <a:rPr sz="18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feature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Example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Seasonal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trend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4413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Expected,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recurring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variation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time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Predictable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repeats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regularly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Influenza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peaks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winter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Temporal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clustering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6954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Descriptive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observation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cases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grouped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time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2318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Higher-than-expected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during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period;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designation implied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8064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Unusual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meningitis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weeks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Point</a:t>
                      </a:r>
                      <a:r>
                        <a:rPr sz="16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epidemic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7372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sharp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temporal clustering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27686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short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window,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often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consistent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 single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exposure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5270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poisoning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one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shared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meal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Endemic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pattern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6356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Baseline,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disease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population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1930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Ongoing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relatively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stable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over time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6800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Malaria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parts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sub-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Saharan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Africa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Spatial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clustering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1701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Descriptive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observation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cases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grouped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place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3619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Higher-than-expected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location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1606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Lyme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disease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concentrated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Northeast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U.S.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Spatiotemporal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clustering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17081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Descriptive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observation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cases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grouped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place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49466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Unusual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concentration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both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dimensions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38100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Dengue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one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neighborhood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several weeks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Epidemic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(Week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term)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Public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designation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577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Determination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observed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clustering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exceeds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expected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3390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COVID-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19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epidemic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early 2020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08070"/>
            <a:ext cx="951293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Descriptive</a:t>
            </a:r>
            <a:r>
              <a:rPr spc="-145" dirty="0"/>
              <a:t> </a:t>
            </a:r>
            <a:r>
              <a:rPr dirty="0"/>
              <a:t>Epidemiology:</a:t>
            </a:r>
            <a:r>
              <a:rPr spc="-145" dirty="0"/>
              <a:t> </a:t>
            </a:r>
            <a:r>
              <a:rPr spc="-10" dirty="0"/>
              <a:t>Advantages</a:t>
            </a:r>
            <a:r>
              <a:rPr spc="-170" dirty="0"/>
              <a:t> </a:t>
            </a:r>
            <a:r>
              <a:rPr spc="-25" dirty="0"/>
              <a:t>and </a:t>
            </a:r>
            <a:r>
              <a:rPr spc="-10" dirty="0"/>
              <a:t>Limitations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pc="-10" dirty="0"/>
              <a:t>Advantages</a:t>
            </a:r>
          </a:p>
          <a:p>
            <a:pPr marL="240029" marR="229235" indent="-227329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Describes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dirty="0"/>
              <a:t>who,</a:t>
            </a:r>
            <a:r>
              <a:rPr spc="-100" dirty="0"/>
              <a:t> </a:t>
            </a:r>
            <a:r>
              <a:rPr dirty="0"/>
              <a:t>where,</a:t>
            </a:r>
            <a:r>
              <a:rPr spc="-80" dirty="0"/>
              <a:t> </a:t>
            </a:r>
            <a:r>
              <a:rPr spc="-25" dirty="0"/>
              <a:t>and 	</a:t>
            </a:r>
            <a:r>
              <a:rPr dirty="0"/>
              <a:t>when</a:t>
            </a:r>
            <a:r>
              <a:rPr spc="-60" dirty="0"/>
              <a:t> </a:t>
            </a:r>
            <a:r>
              <a:rPr b="0" dirty="0">
                <a:latin typeface="Calibri"/>
                <a:cs typeface="Calibri"/>
              </a:rPr>
              <a:t>disease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occurs</a:t>
            </a:r>
          </a:p>
          <a:p>
            <a:pPr marL="240029" marR="516255" indent="-227329">
              <a:lnSpc>
                <a:spcPts val="303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Identifies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dirty="0"/>
              <a:t>patterns</a:t>
            </a:r>
            <a:r>
              <a:rPr spc="-125" dirty="0"/>
              <a:t> </a:t>
            </a:r>
            <a:r>
              <a:rPr spc="-25" dirty="0"/>
              <a:t>and 	</a:t>
            </a:r>
            <a:r>
              <a:rPr dirty="0"/>
              <a:t>disparities</a:t>
            </a:r>
            <a:r>
              <a:rPr spc="-45" dirty="0"/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populations</a:t>
            </a:r>
          </a:p>
          <a:p>
            <a:pPr marL="240029" marR="421640" indent="-227329">
              <a:lnSpc>
                <a:spcPts val="303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Supports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dirty="0"/>
              <a:t>public</a:t>
            </a:r>
            <a:r>
              <a:rPr spc="-70" dirty="0"/>
              <a:t> </a:t>
            </a:r>
            <a:r>
              <a:rPr spc="-10" dirty="0"/>
              <a:t>health 	</a:t>
            </a:r>
            <a:r>
              <a:rPr dirty="0"/>
              <a:t>surveillance</a:t>
            </a:r>
            <a:r>
              <a:rPr spc="-5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planning</a:t>
            </a:r>
          </a:p>
          <a:p>
            <a:pPr marL="239395" marR="5080" indent="-227329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</a:tabLst>
            </a:pPr>
            <a:r>
              <a:rPr b="0" dirty="0">
                <a:latin typeface="Calibri"/>
                <a:cs typeface="Calibri"/>
              </a:rPr>
              <a:t>Helps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generate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dirty="0"/>
              <a:t>questions</a:t>
            </a:r>
            <a:r>
              <a:rPr spc="-95" dirty="0"/>
              <a:t> </a:t>
            </a:r>
            <a:r>
              <a:rPr spc="-25" dirty="0"/>
              <a:t>for 	</a:t>
            </a:r>
            <a:r>
              <a:rPr dirty="0"/>
              <a:t>further</a:t>
            </a:r>
            <a:r>
              <a:rPr spc="-60" dirty="0"/>
              <a:t> </a:t>
            </a:r>
            <a:r>
              <a:rPr spc="-20" dirty="0"/>
              <a:t>study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pc="-10" dirty="0"/>
              <a:t>Limitations</a:t>
            </a:r>
          </a:p>
          <a:p>
            <a:pPr marL="239395" marR="1274445" indent="-227329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0665" algn="l"/>
              </a:tabLst>
            </a:pPr>
            <a:r>
              <a:rPr b="0" dirty="0">
                <a:latin typeface="Calibri"/>
                <a:cs typeface="Calibri"/>
              </a:rPr>
              <a:t>Cannot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establish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spc="-10" dirty="0"/>
              <a:t>causal 	relationships</a:t>
            </a:r>
          </a:p>
          <a:p>
            <a:pPr marL="240029" indent="-227329">
              <a:lnSpc>
                <a:spcPts val="3195"/>
              </a:lnSpc>
              <a:spcBef>
                <a:spcPts val="605"/>
              </a:spcBef>
              <a:buFont typeface="Arial"/>
              <a:buChar char="•"/>
              <a:tabLst>
                <a:tab pos="240029" algn="l"/>
              </a:tabLst>
            </a:pPr>
            <a:r>
              <a:rPr b="0" dirty="0">
                <a:latin typeface="Calibri"/>
                <a:cs typeface="Calibri"/>
              </a:rPr>
              <a:t>Often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lacks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spc="-10" dirty="0"/>
              <a:t>temporal</a:t>
            </a:r>
            <a:r>
              <a:rPr spc="-55" dirty="0"/>
              <a:t> </a:t>
            </a:r>
            <a:r>
              <a:rPr spc="-10" dirty="0"/>
              <a:t>order</a:t>
            </a:r>
          </a:p>
          <a:p>
            <a:pPr marL="240665">
              <a:lnSpc>
                <a:spcPts val="3195"/>
              </a:lnSpc>
            </a:pPr>
            <a:r>
              <a:rPr b="0" dirty="0">
                <a:latin typeface="Calibri"/>
                <a:cs typeface="Calibri"/>
              </a:rPr>
              <a:t>between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exposure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outcome</a:t>
            </a:r>
          </a:p>
          <a:p>
            <a:pPr marL="239395" marR="109220" indent="-227329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0665" algn="l"/>
              </a:tabLst>
            </a:pPr>
            <a:r>
              <a:rPr b="0" dirty="0">
                <a:latin typeface="Calibri"/>
                <a:cs typeface="Calibri"/>
              </a:rPr>
              <a:t>May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influenced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by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spc="-10" dirty="0"/>
              <a:t>reporting 	</a:t>
            </a:r>
            <a:r>
              <a:rPr dirty="0"/>
              <a:t>or</a:t>
            </a:r>
            <a:r>
              <a:rPr spc="-65" dirty="0"/>
              <a:t> </a:t>
            </a:r>
            <a:r>
              <a:rPr spc="-10" dirty="0"/>
              <a:t>measurement</a:t>
            </a:r>
            <a:r>
              <a:rPr spc="-30" dirty="0"/>
              <a:t> </a:t>
            </a:r>
            <a:r>
              <a:rPr spc="-10" dirty="0"/>
              <a:t>differences</a:t>
            </a:r>
          </a:p>
          <a:p>
            <a:pPr marL="240029" marR="63500" indent="-227329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Describes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patterns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but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does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not 	</a:t>
            </a:r>
            <a:r>
              <a:rPr b="0" dirty="0">
                <a:latin typeface="Calibri"/>
                <a:cs typeface="Calibri"/>
              </a:rPr>
              <a:t>explain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dirty="0"/>
              <a:t>why</a:t>
            </a:r>
            <a:r>
              <a:rPr spc="-90" dirty="0"/>
              <a:t> </a:t>
            </a:r>
            <a:r>
              <a:rPr b="0" dirty="0">
                <a:latin typeface="Calibri"/>
                <a:cs typeface="Calibri"/>
              </a:rPr>
              <a:t>they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occur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Epidemiologic</a:t>
            </a:r>
            <a:r>
              <a:rPr spc="-120" dirty="0"/>
              <a:t> </a:t>
            </a:r>
            <a:r>
              <a:rPr spc="-10" dirty="0"/>
              <a:t>Inference</a:t>
            </a:r>
          </a:p>
        </p:txBody>
      </p:sp>
      <p:pic>
        <p:nvPicPr>
          <p:cNvPr id="3" name="object 3" descr="The steps involved in the process of epidemiologic inference are as follows: Observation leads to a cyclic process that involves the following four steps: make comparisons, generate, hypotheses, and test. The cyclic process further gives rise to descriptive epidemiology, analytic epidemiology, and epidemiologic inference. Descriptive epidemiology involves questions such as who, what, where, when, &amp; how many? It rules out chance, bias, and confounding and involves design, conduct, analysis, and interpretation. Analytic epidemiology involves questions such as why &amp; how? It controls for chance, bias, and confounding and involves design, conduct, analysis, and interpretation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171" y="1825625"/>
            <a:ext cx="11337612" cy="4648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0589" y="3540886"/>
            <a:ext cx="54203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Epi</a:t>
            </a:r>
            <a:r>
              <a:rPr sz="6000" spc="-165" dirty="0"/>
              <a:t> </a:t>
            </a:r>
            <a:r>
              <a:rPr sz="6000" dirty="0"/>
              <a:t>Project</a:t>
            </a:r>
            <a:r>
              <a:rPr sz="6000" spc="-165" dirty="0"/>
              <a:t> </a:t>
            </a:r>
            <a:r>
              <a:rPr sz="6000" dirty="0"/>
              <a:t>Prep</a:t>
            </a:r>
            <a:r>
              <a:rPr sz="6000" spc="-165" dirty="0"/>
              <a:t> </a:t>
            </a:r>
            <a:r>
              <a:rPr sz="6000" spc="-50" dirty="0"/>
              <a:t>2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3102</Words>
  <Application>Microsoft Office PowerPoint</Application>
  <PresentationFormat>Widescreen</PresentationFormat>
  <Paragraphs>410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Office Theme</vt:lpstr>
      <vt:lpstr>APHS 20203 Epidemiology &amp; Biostatistics</vt:lpstr>
      <vt:lpstr>Learning Objectives</vt:lpstr>
      <vt:lpstr>What Is Descriptive Epidemiology?</vt:lpstr>
      <vt:lpstr>Example: Descriptive Epidemiology in Practice</vt:lpstr>
      <vt:lpstr>Descriptive Epidemiologic Study Designs</vt:lpstr>
      <vt:lpstr>Case Reports</vt:lpstr>
      <vt:lpstr>Case Reports: Example</vt:lpstr>
      <vt:lpstr>Case Series</vt:lpstr>
      <vt:lpstr>Case Series: Example</vt:lpstr>
      <vt:lpstr>Why Individual Cases Belong in Epidemiology</vt:lpstr>
      <vt:lpstr>Cross-Sectional Studies</vt:lpstr>
      <vt:lpstr>Cross-Sectional: One-Time Snapshot</vt:lpstr>
      <vt:lpstr>Cross-Sectional Study: Example</vt:lpstr>
      <vt:lpstr>PowerPoint Presentation</vt:lpstr>
      <vt:lpstr>Person Variables: the “Who” Factor</vt:lpstr>
      <vt:lpstr>Age</vt:lpstr>
      <vt:lpstr>Sex/Gender</vt:lpstr>
      <vt:lpstr>Race/Ethnicity</vt:lpstr>
      <vt:lpstr>Socioeconomic Status (SES)</vt:lpstr>
      <vt:lpstr>Social Determinants of Health (SDOH)</vt:lpstr>
      <vt:lpstr>SES vs. SDOH</vt:lpstr>
      <vt:lpstr>Exercise: SES or SDOH?</vt:lpstr>
      <vt:lpstr>Health Disparities</vt:lpstr>
      <vt:lpstr>Place Variables-the “Where” Factor</vt:lpstr>
      <vt:lpstr>International Variation</vt:lpstr>
      <vt:lpstr>National (Within-Country) Variations</vt:lpstr>
      <vt:lpstr>PowerPoint Presentation</vt:lpstr>
      <vt:lpstr>From Urban–Rural to Local</vt:lpstr>
      <vt:lpstr>Localized Patterns of Disease</vt:lpstr>
      <vt:lpstr>Time: The “When”</vt:lpstr>
      <vt:lpstr>Secular Trends</vt:lpstr>
      <vt:lpstr>Seasonal (Cyclic) Trends</vt:lpstr>
      <vt:lpstr>Point Epidemics</vt:lpstr>
      <vt:lpstr>Clustering</vt:lpstr>
      <vt:lpstr>Comparing Time and Place Patterns</vt:lpstr>
      <vt:lpstr>Descriptive Epidemiology: Advantages and Limitations</vt:lpstr>
      <vt:lpstr>Epidemiologic Inference</vt:lpstr>
      <vt:lpstr>Epi Project Prep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HCHS 20203  Epidemiology &amp; Biostatistics</dc:title>
  <dc:creator>Zhang, Yan</dc:creator>
  <cp:lastModifiedBy>Zhang, Yan</cp:lastModifiedBy>
  <cp:revision>1</cp:revision>
  <dcterms:created xsi:type="dcterms:W3CDTF">2026-02-03T16:24:00Z</dcterms:created>
  <dcterms:modified xsi:type="dcterms:W3CDTF">2026-02-03T16:43:09Z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2026-01-31T00:00:00Z</vt:filetime>
  </property>
  <property fmtid="{D5CDD505-2E9C-101B-9397-08002B2CF9AE}" pid="3" name="Creator">
    <vt:lpwstr>Acrobat PDFMaker 25 for PowerPoint</vt:lpwstr>
  </property>
  <property fmtid="{D5CDD505-2E9C-101B-9397-08002B2CF9AE}" pid="4" name="LastSaved">
    <vt:filetime>2026-02-03T00:00:00Z</vt:filetime>
  </property>
  <property fmtid="{D5CDD505-2E9C-101B-9397-08002B2CF9AE}" pid="5" name="Producer">
    <vt:lpwstr>Adobe PDF Library 25.1.119</vt:lpwstr>
  </property>
</Properties>
</file>