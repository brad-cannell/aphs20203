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64" r:id="rId4"/>
    <p:sldId id="265" r:id="rId5"/>
    <p:sldId id="266" r:id="rId6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5F71"/>
    <a:srgbClr val="6C757D"/>
    <a:srgbClr val="203044"/>
    <a:srgbClr val="E8EDF3"/>
    <a:srgbClr val="FFD662"/>
    <a:srgbClr val="4E5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83"/>
    <p:restoredTop sz="78579"/>
  </p:normalViewPr>
  <p:slideViewPr>
    <p:cSldViewPr snapToGrid="0">
      <p:cViewPr varScale="1">
        <p:scale>
          <a:sx n="137" d="100"/>
          <a:sy n="137" d="100"/>
        </p:scale>
        <p:origin x="2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4D113-9A91-024F-8A6E-20C8CC7EF085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38C4F-CA62-344E-A1F2-569D6073C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Editable pattern: Objects</a:t>
            </a:r>
            <a:br>
              <a:rPr lang="en-US" dirty="0"/>
            </a:br>
            <a:r>
              <a:rPr lang="en-US" dirty="0"/>
              <a:t>Duplicate this slide to outline objectives. Adjust the number of objectives, timing, grouping instructions, and visible emphasis for the specific activity. Keep the title descriptive and preserve the reading order: title, then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7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Editable pattern: Prompt plus expected-outcome callout</a:t>
            </a:r>
            <a:br>
              <a:rPr lang="en-US" dirty="0"/>
            </a:br>
            <a:r>
              <a:rPr lang="en-US" dirty="0"/>
              <a:t>Duplicate this slide when learners need a focused prompt plus a concise statement of what they should produce. Adapt the prompt, response mode, and sidebar length for the activity. Keep the reading order: title, main prompt, then expected-outcome callout.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32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Editable pattern: Two-panel comparison</a:t>
            </a:r>
            <a:br>
              <a:rPr lang="en-US" dirty="0"/>
            </a:br>
            <a:r>
              <a:rPr lang="en-US" dirty="0"/>
              <a:t>Duplicate this slide when two concepts, approaches, populations, or options need a side-by-side comparison. Replace both headings and all panel text; use meaningful headings rather than relying on the yellow and green rules to convey the distinction. </a:t>
            </a:r>
          </a:p>
          <a:p>
            <a:r>
              <a:rPr lang="en-US" dirty="0"/>
              <a:t>Keep the panel backgrounds and top rules decorative. Confirm the reading order is: title, left-panel heading and text, then right-panel heading and text. </a:t>
            </a:r>
            <a:r>
              <a:rPr lang="en-US"/>
              <a:t>Use a different structure for dense comparisons or true tabular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71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Editable pattern: Image-supported profile or explanation</a:t>
            </a:r>
            <a:br>
              <a:rPr lang="en-US" dirty="0"/>
            </a:br>
            <a:r>
              <a:rPr lang="en-US" dirty="0"/>
              <a:t>Duplicate this slide when an image helps introduce a person, setting, case, or concept. Replace the image and accompanying text together; do not use an image merely to fill space. </a:t>
            </a:r>
          </a:p>
          <a:p>
            <a:r>
              <a:rPr lang="en-US" dirty="0"/>
              <a:t>Crop the image to the right-side frame. Add concise alt text when it conveys information not already available in the text; mark it decorative only when the text fully conveys its purpose. Keep the reading order: title, main text, then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27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Editable pattern: Full-screen Image with Hidden Title</a:t>
            </a:r>
            <a:br>
              <a:rPr lang="en-US" dirty="0"/>
            </a:br>
            <a:r>
              <a:rPr lang="en-US" dirty="0"/>
              <a:t>Duplicate this slide to display a full-screen image. A title and alt text are required for screen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238C4F-CA62-344E-A1F2-569D6073C3F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386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4E5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356DE-8095-ED1E-5412-D3C1A35F6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93976"/>
            <a:ext cx="8458200" cy="1618488"/>
          </a:xfrm>
        </p:spPr>
        <p:txBody>
          <a:bodyPr anchor="ctr"/>
          <a:lstStyle>
            <a:lvl1pPr algn="l">
              <a:defRPr sz="56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3D6F0-C7C1-7523-6EF8-1E8748B66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4005072"/>
            <a:ext cx="6190488" cy="649224"/>
          </a:xfrm>
        </p:spPr>
        <p:txBody>
          <a:bodyPr anchor="ctr"/>
          <a:lstStyle>
            <a:lvl1pPr marL="0" indent="0" algn="l">
              <a:buNone/>
              <a:defRPr sz="2400" b="0" i="0">
                <a:solidFill>
                  <a:srgbClr val="E8EDF3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286646-C253-C1A6-33B2-FD74D0668D0E}"/>
              </a:ext>
            </a:extLst>
          </p:cNvPr>
          <p:cNvSpPr/>
          <p:nvPr userDrawn="1"/>
        </p:nvSpPr>
        <p:spPr>
          <a:xfrm>
            <a:off x="685800" y="1618488"/>
            <a:ext cx="1143000" cy="73152"/>
          </a:xfrm>
          <a:prstGeom prst="rect">
            <a:avLst/>
          </a:prstGeom>
          <a:solidFill>
            <a:srgbClr val="FFD66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5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4E5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E6A9-EA9D-15BD-9217-342C680E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423160"/>
            <a:ext cx="9829800" cy="2852737"/>
          </a:xfrm>
        </p:spPr>
        <p:txBody>
          <a:bodyPr anchor="b"/>
          <a:lstStyle>
            <a:lvl1pPr>
              <a:defRPr sz="4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F42D9-E64F-126E-6790-F7FAC155467D}"/>
              </a:ext>
            </a:extLst>
          </p:cNvPr>
          <p:cNvSpPr/>
          <p:nvPr userDrawn="1"/>
        </p:nvSpPr>
        <p:spPr>
          <a:xfrm>
            <a:off x="685800" y="1965960"/>
            <a:ext cx="1143000" cy="73152"/>
          </a:xfrm>
          <a:prstGeom prst="rect">
            <a:avLst/>
          </a:prstGeom>
          <a:solidFill>
            <a:srgbClr val="FFD662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3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024"/>
          </a:xfrm>
        </p:spPr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4D2-611F-7E9E-6AE7-C5FDB39D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974"/>
            <a:ext cx="10515600" cy="4532989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659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4680-BCF2-49BA-7BBC-531957C7D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4024"/>
          </a:xfrm>
        </p:spPr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46CA-16A5-A947-984D-F1318B6E4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5920"/>
            <a:ext cx="5181600" cy="4562171"/>
          </a:xfrm>
        </p:spPr>
        <p:txBody>
          <a:bodyPr/>
          <a:lstStyle>
            <a:lvl1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70588-B059-08DD-02E2-95C0709B3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45920"/>
            <a:ext cx="5181600" cy="4562171"/>
          </a:xfrm>
        </p:spPr>
        <p:txBody>
          <a:bodyPr/>
          <a:lstStyle>
            <a:lvl1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49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Main Content,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024"/>
          </a:xfrm>
        </p:spPr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4D2-611F-7E9E-6AE7-C5FDB39D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43974"/>
            <a:ext cx="7059168" cy="4532989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8F63CD-0756-4B27-52D6-71A7796E10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76616" y="1643974"/>
            <a:ext cx="3529584" cy="4532989"/>
          </a:xfrm>
          <a:solidFill>
            <a:srgbClr val="E8EDF3"/>
          </a:solidFill>
          <a:ln>
            <a:noFill/>
          </a:ln>
        </p:spPr>
        <p:txBody>
          <a:bodyPr lIns="182880" tIns="182880" rIns="182880" bIns="182880" anchor="ctr"/>
          <a:lstStyle>
            <a:lvl1pPr algn="l"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 algn="l"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 algn="l"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 algn="l"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 algn="l">
              <a:defRPr b="0" i="0"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8874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Full-Width 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94024"/>
          </a:xfrm>
        </p:spPr>
        <p:txBody>
          <a:bodyPr/>
          <a:lstStyle>
            <a:lvl1pPr>
              <a:defRPr sz="3500" b="1" i="0">
                <a:solidFill>
                  <a:srgbClr val="203044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84D2-611F-7E9E-6AE7-C5FDB39D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974"/>
            <a:ext cx="10515600" cy="4533186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1pPr>
            <a:lvl2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2pPr>
            <a:lvl3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3pPr>
            <a:lvl4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4pPr>
            <a:lvl5pPr>
              <a:lnSpc>
                <a:spcPct val="100000"/>
              </a:lnSpc>
              <a:defRPr>
                <a:solidFill>
                  <a:srgbClr val="203044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9676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dden Title —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2912-EA62-F4DC-6CCB-52F2078D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5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535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791BD-70F5-F889-3449-9D9824AF8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C4EE3-23E3-5591-BA1D-D86B4C314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93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783E-91A6-FDC6-2C00-8EBCE559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Objectives</a:t>
            </a:r>
          </a:p>
        </p:txBody>
      </p:sp>
      <p:sp>
        <p:nvSpPr>
          <p:cNvPr id="4" name="objective-dot-0">
            <a:extLst>
              <a:ext uri="{FF2B5EF4-FFF2-40B4-BE49-F238E27FC236}">
                <a16:creationId xmlns:a16="http://schemas.microsoft.com/office/drawing/2014/main" id="{C358B990-B50E-0D20-A3D2-2EDA88098C37}"/>
              </a:ext>
            </a:extLst>
          </p:cNvPr>
          <p:cNvSpPr>
            <a:spLocks/>
          </p:cNvSpPr>
          <p:nvPr/>
        </p:nvSpPr>
        <p:spPr>
          <a:xfrm>
            <a:off x="838200" y="1876619"/>
            <a:ext cx="456034" cy="456034"/>
          </a:xfrm>
          <a:prstGeom prst="ellipse">
            <a:avLst/>
          </a:prstGeom>
          <a:solidFill>
            <a:schemeClr val="accent2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88BD4-7A8C-FF7F-316D-DD14A2550F81}"/>
              </a:ext>
            </a:extLst>
          </p:cNvPr>
          <p:cNvSpPr txBox="1"/>
          <p:nvPr/>
        </p:nvSpPr>
        <p:spPr>
          <a:xfrm>
            <a:off x="1478183" y="1919970"/>
            <a:ext cx="477021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Get acquainted with each other</a:t>
            </a:r>
          </a:p>
        </p:txBody>
      </p:sp>
      <p:sp>
        <p:nvSpPr>
          <p:cNvPr id="11" name="objective-dot-0">
            <a:extLst>
              <a:ext uri="{FF2B5EF4-FFF2-40B4-BE49-F238E27FC236}">
                <a16:creationId xmlns:a16="http://schemas.microsoft.com/office/drawing/2014/main" id="{42B0256C-758B-2314-F6B7-2ED56827FD82}"/>
              </a:ext>
            </a:extLst>
          </p:cNvPr>
          <p:cNvSpPr>
            <a:spLocks/>
          </p:cNvSpPr>
          <p:nvPr/>
        </p:nvSpPr>
        <p:spPr>
          <a:xfrm>
            <a:off x="838200" y="3218636"/>
            <a:ext cx="456034" cy="456034"/>
          </a:xfrm>
          <a:prstGeom prst="ellipse">
            <a:avLst/>
          </a:prstGeom>
          <a:solidFill>
            <a:schemeClr val="accent2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AED077-0C98-A00A-6F9F-D7E66B8CF848}"/>
              </a:ext>
            </a:extLst>
          </p:cNvPr>
          <p:cNvSpPr txBox="1"/>
          <p:nvPr/>
        </p:nvSpPr>
        <p:spPr>
          <a:xfrm>
            <a:off x="1478183" y="2984989"/>
            <a:ext cx="5491784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dirty="0"/>
              <a:t>Become familiar with the syllabus</a:t>
            </a:r>
          </a:p>
          <a:p>
            <a:pPr lvl="0"/>
            <a:r>
              <a:rPr lang="en-US" dirty="0"/>
              <a:t>Mark important dates</a:t>
            </a:r>
          </a:p>
          <a:p>
            <a:pPr lvl="0"/>
            <a:r>
              <a:rPr lang="en-US" dirty="0"/>
              <a:t>Understand the assignments</a:t>
            </a:r>
          </a:p>
        </p:txBody>
      </p:sp>
      <p:sp>
        <p:nvSpPr>
          <p:cNvPr id="17" name="objective-dot-0">
            <a:extLst>
              <a:ext uri="{FF2B5EF4-FFF2-40B4-BE49-F238E27FC236}">
                <a16:creationId xmlns:a16="http://schemas.microsoft.com/office/drawing/2014/main" id="{B6639958-7382-396C-055A-2C22ED11291B}"/>
              </a:ext>
            </a:extLst>
          </p:cNvPr>
          <p:cNvSpPr>
            <a:spLocks/>
          </p:cNvSpPr>
          <p:nvPr/>
        </p:nvSpPr>
        <p:spPr>
          <a:xfrm>
            <a:off x="838200" y="4560654"/>
            <a:ext cx="456034" cy="456034"/>
          </a:xfrm>
          <a:prstGeom prst="ellipse">
            <a:avLst/>
          </a:prstGeom>
          <a:solidFill>
            <a:schemeClr val="accent2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r>
              <a:rPr lang="en-US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4F3344-E378-0822-2895-3109E6E65B65}"/>
              </a:ext>
            </a:extLst>
          </p:cNvPr>
          <p:cNvSpPr txBox="1"/>
          <p:nvPr/>
        </p:nvSpPr>
        <p:spPr>
          <a:xfrm>
            <a:off x="1478182" y="4604005"/>
            <a:ext cx="626622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dirty="0"/>
              <a:t>Be ready to share one conclusion and the evidence behind it.</a:t>
            </a:r>
          </a:p>
        </p:txBody>
      </p:sp>
    </p:spTree>
    <p:extLst>
      <p:ext uri="{BB962C8B-B14F-4D97-AF65-F5344CB8AC3E}">
        <p14:creationId xmlns:p14="http://schemas.microsoft.com/office/powerpoint/2010/main" val="3416104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0ED7B-D8C3-E2BD-11E8-CD0F064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Prompt and Outcome Callout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F5E6A-E8AA-FBF3-4513-181508F2E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Prompt</a:t>
            </a:r>
            <a:br>
              <a:rPr lang="en-US" dirty="0"/>
            </a:br>
            <a:r>
              <a:rPr lang="en-US" dirty="0"/>
              <a:t>Using the study scenario, identify the exposure, outcome, and comparison you would need to estimate an association.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D9344-2ED3-1898-7E6C-A05BC6DABE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Expected outcome</a:t>
            </a:r>
            <a:br>
              <a:rPr lang="en-US" dirty="0"/>
            </a:br>
            <a:r>
              <a:rPr lang="en-US" dirty="0"/>
              <a:t>Be ready to name:</a:t>
            </a:r>
          </a:p>
          <a:p>
            <a:pPr lvl="0"/>
            <a:r>
              <a:rPr lang="en-US" sz="2400" dirty="0"/>
              <a:t>A plausible exposure</a:t>
            </a:r>
          </a:p>
          <a:p>
            <a:pPr lvl="0"/>
            <a:r>
              <a:rPr lang="en-US" sz="2400" dirty="0"/>
              <a:t>A plausible outcome</a:t>
            </a:r>
          </a:p>
          <a:p>
            <a:pPr lvl="0"/>
            <a:r>
              <a:rPr lang="en-US" sz="2400" dirty="0"/>
              <a:t>The comparison group</a:t>
            </a:r>
          </a:p>
          <a:p>
            <a:pPr lvl="0"/>
            <a:r>
              <a:rPr lang="en-US" sz="2400" dirty="0"/>
              <a:t>One question your group would need to resolve</a:t>
            </a:r>
          </a:p>
        </p:txBody>
      </p:sp>
    </p:spTree>
    <p:extLst>
      <p:ext uri="{BB962C8B-B14F-4D97-AF65-F5344CB8AC3E}">
        <p14:creationId xmlns:p14="http://schemas.microsoft.com/office/powerpoint/2010/main" val="17844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0C4A77B3-66D9-3EBA-13E0-0D85D7241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288024" y="1783080"/>
            <a:ext cx="5227320" cy="3072384"/>
          </a:xfrm>
          <a:prstGeom prst="round2Same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B80B8A81-455A-467E-940F-646E9259D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79704" y="1783080"/>
            <a:ext cx="5227320" cy="3072384"/>
          </a:xfrm>
          <a:prstGeom prst="round2Same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D39651-534E-09DA-7BC0-3590C80D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Two-Panel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E2C057-D576-037A-29B2-EB0E4670F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7" y="1783080"/>
            <a:ext cx="5230368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04F396-0EB2-29CD-841A-729B6BDCA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8023" y="1783080"/>
            <a:ext cx="5230368" cy="731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19E3D-EA74-1092-165F-8CBA63CEF474}"/>
              </a:ext>
            </a:extLst>
          </p:cNvPr>
          <p:cNvSpPr txBox="1"/>
          <p:nvPr/>
        </p:nvSpPr>
        <p:spPr>
          <a:xfrm>
            <a:off x="673609" y="2296367"/>
            <a:ext cx="523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C757D"/>
                </a:solidFill>
              </a:rPr>
              <a:t>Concept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E8B2A9-BA19-63D5-2D98-7D689A75C834}"/>
              </a:ext>
            </a:extLst>
          </p:cNvPr>
          <p:cNvSpPr txBox="1"/>
          <p:nvPr/>
        </p:nvSpPr>
        <p:spPr>
          <a:xfrm>
            <a:off x="673609" y="3105834"/>
            <a:ext cx="5230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03044"/>
                </a:solidFill>
              </a:rPr>
              <a:t>Describe the first concept, approach, or option.</a:t>
            </a:r>
            <a:br>
              <a:rPr lang="en-US" dirty="0">
                <a:solidFill>
                  <a:srgbClr val="203044"/>
                </a:solidFill>
              </a:rPr>
            </a:br>
            <a:r>
              <a:rPr lang="en-US" dirty="0">
                <a:solidFill>
                  <a:srgbClr val="203044"/>
                </a:solidFill>
              </a:rPr>
              <a:t>Add a short implication, strength, or limitation.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48B59D-1D2E-CB77-1C63-7ABD68CB7158}"/>
              </a:ext>
            </a:extLst>
          </p:cNvPr>
          <p:cNvSpPr txBox="1"/>
          <p:nvPr/>
        </p:nvSpPr>
        <p:spPr>
          <a:xfrm>
            <a:off x="6284978" y="2296367"/>
            <a:ext cx="5230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C757D"/>
                </a:solidFill>
              </a:rPr>
              <a:t>Concept 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CCB42-57A1-B940-750A-44FF5E456FB0}"/>
              </a:ext>
            </a:extLst>
          </p:cNvPr>
          <p:cNvSpPr txBox="1"/>
          <p:nvPr/>
        </p:nvSpPr>
        <p:spPr>
          <a:xfrm>
            <a:off x="6284978" y="3105834"/>
            <a:ext cx="5230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03044"/>
                </a:solidFill>
              </a:rPr>
              <a:t>Describe the second concept, approach, or option.</a:t>
            </a:r>
            <a:br>
              <a:rPr lang="en-US" dirty="0">
                <a:solidFill>
                  <a:srgbClr val="203044"/>
                </a:solidFill>
              </a:rPr>
            </a:br>
            <a:r>
              <a:rPr lang="en-US" dirty="0">
                <a:solidFill>
                  <a:srgbClr val="203044"/>
                </a:solidFill>
              </a:rPr>
              <a:t>Add a short implication, strength, or limitation.</a:t>
            </a:r>
          </a:p>
        </p:txBody>
      </p:sp>
    </p:spTree>
    <p:extLst>
      <p:ext uri="{BB962C8B-B14F-4D97-AF65-F5344CB8AC3E}">
        <p14:creationId xmlns:p14="http://schemas.microsoft.com/office/powerpoint/2010/main" val="139398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ACE26-C346-ACCF-F354-938C9259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177224" cy="1094024"/>
          </a:xfrm>
        </p:spPr>
        <p:txBody>
          <a:bodyPr/>
          <a:lstStyle/>
          <a:p>
            <a:r>
              <a:rPr lang="en-US" dirty="0"/>
              <a:t>Example: Image-Supported Profile or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883A-64C9-B1F4-B9C9-F030800C9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43974"/>
            <a:ext cx="6177224" cy="4532989"/>
          </a:xfrm>
        </p:spPr>
        <p:txBody>
          <a:bodyPr/>
          <a:lstStyle/>
          <a:p>
            <a:r>
              <a:rPr lang="en-US" dirty="0"/>
              <a:t>Use this space for a concise profile, case description, or explanation. Keep the text focused on the information learners need to understand before or while viewing the image.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17817-D23C-001F-28D1-FC45A6EC9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3193" y="0"/>
            <a:ext cx="4568807" cy="6858000"/>
          </a:xfrm>
          <a:prstGeom prst="rect">
            <a:avLst/>
          </a:prstGeom>
        </p:spPr>
      </p:pic>
      <p:sp>
        <p:nvSpPr>
          <p:cNvPr id="6" name="accent-rule">
            <a:extLst>
              <a:ext uri="{FF2B5EF4-FFF2-40B4-BE49-F238E27FC236}">
                <a16:creationId xmlns:a16="http://schemas.microsoft.com/office/drawing/2014/main" id="{AC124288-4704-B366-8F91-257189169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85800" y="132677"/>
            <a:ext cx="876300" cy="47625"/>
          </a:xfrm>
          <a:prstGeom prst="rect">
            <a:avLst/>
          </a:prstGeom>
          <a:solidFill>
            <a:srgbClr val="FFD662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494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20E49-7579-A2A3-14F2-227E94D8A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Full Screen Image with Hidden Title</a:t>
            </a:r>
          </a:p>
        </p:txBody>
      </p:sp>
      <p:pic>
        <p:nvPicPr>
          <p:cNvPr id="3" name="Picture 2" descr="A picture of Brad posing for a picture with his great-grandmother.">
            <a:extLst>
              <a:ext uri="{FF2B5EF4-FFF2-40B4-BE49-F238E27FC236}">
                <a16:creationId xmlns:a16="http://schemas.microsoft.com/office/drawing/2014/main" id="{5B4893B3-E504-C606-360F-8882A4CBF97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9709"/>
          <a:stretch/>
        </p:blipFill>
        <p:spPr>
          <a:xfrm>
            <a:off x="2462" y="65315"/>
            <a:ext cx="12187077" cy="672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28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WB Accessible">
      <a:dk1>
        <a:srgbClr val="203044"/>
      </a:dk1>
      <a:lt1>
        <a:srgbClr val="FFFFFF"/>
      </a:lt1>
      <a:dk2>
        <a:srgbClr val="4E5F71"/>
      </a:dk2>
      <a:lt2>
        <a:srgbClr val="E8EDF3"/>
      </a:lt2>
      <a:accent1>
        <a:srgbClr val="4E5F71"/>
      </a:accent1>
      <a:accent2>
        <a:srgbClr val="FFD661"/>
      </a:accent2>
      <a:accent3>
        <a:srgbClr val="28A745"/>
      </a:accent3>
      <a:accent4>
        <a:srgbClr val="FD7E14"/>
      </a:accent4>
      <a:accent5>
        <a:srgbClr val="6C757D"/>
      </a:accent5>
      <a:accent6>
        <a:srgbClr val="203044"/>
      </a:accent6>
      <a:hlink>
        <a:srgbClr val="4E5F71"/>
      </a:hlink>
      <a:folHlink>
        <a:srgbClr val="6C75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HS 20203 Accessible PowerPoint Template v2" id="{5CF6A728-C36B-764B-ADC1-3A2704BFA42F}" vid="{02507688-7771-5949-A1EB-960FDB8EF0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837</Words>
  <Application>Microsoft Macintosh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Example: Objectives</vt:lpstr>
      <vt:lpstr>Example: Numbered Activity Instructions</vt:lpstr>
      <vt:lpstr>Example: Prompt and Outcome Callout</vt:lpstr>
      <vt:lpstr>Example: Two-Panel Comparison</vt:lpstr>
      <vt:lpstr>Example: Image-Supported Profile or Explanation</vt:lpstr>
      <vt:lpstr>Example: Graph Interpretation</vt:lpstr>
      <vt:lpstr>Example: Table Interpretation</vt:lpstr>
      <vt:lpstr>Example: Full Screen Image with Hidden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APHS 20203 Accessible PowerPoint Pattern Library</dc:title>
  <dc:subject/>
  <dc:creator>Brad Cannell</dc:creator>
  <cp:keywords/>
  <dc:description/>
  <cp:lastModifiedBy>Brad Cannell</cp:lastModifiedBy>
  <cp:revision>23</cp:revision>
  <dcterms:created xsi:type="dcterms:W3CDTF">2026-08-24T00:21:23Z</dcterms:created>
  <dcterms:modified xsi:type="dcterms:W3CDTF">2026-08-25T01:15:21Z</dcterms:modified>
  <cp:category/>
</cp:coreProperties>
</file>