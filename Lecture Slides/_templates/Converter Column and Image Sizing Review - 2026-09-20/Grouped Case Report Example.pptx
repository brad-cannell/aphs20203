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92382" y="1665414"/>
            <a:ext cx="8607234" cy="176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561715" y="3487229"/>
            <a:ext cx="506856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07159"/>
            <a:ext cx="4434205" cy="411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0940" y="1707366"/>
            <a:ext cx="4916805" cy="411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822"/>
            <a:ext cx="1030033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5681"/>
            <a:ext cx="10152380" cy="406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288" y="6463728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hyperlink" Target="https://www.nejm.org/doi/full/10.1056/nejmoa2001191" TargetMode="Externa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8092" y="0"/>
            <a:ext cx="6701790" cy="6858000"/>
            <a:chOff x="5158092" y="0"/>
            <a:chExt cx="670179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6019" y="0"/>
              <a:ext cx="5603746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0647" y="79162"/>
              <a:ext cx="5016830" cy="64080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8092" y="79159"/>
              <a:ext cx="2925597" cy="3693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</a:t>
            </a:r>
            <a:r>
              <a:rPr spc="-65" dirty="0"/>
              <a:t> </a:t>
            </a:r>
            <a:r>
              <a:rPr dirty="0"/>
              <a:t>Reports:</a:t>
            </a:r>
            <a:r>
              <a:rPr spc="-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11278" y="6463728"/>
            <a:ext cx="4724400" cy="37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7310" algn="r">
              <a:lnSpc>
                <a:spcPts val="1165"/>
              </a:lnSpc>
            </a:pPr>
            <a:fld id="{81D60167-4931-47E6-BA6A-407CBD079E47}" type="slidenum"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  <a:p>
            <a:pPr marR="5080" algn="r">
              <a:lnSpc>
                <a:spcPts val="1605"/>
              </a:lnSpc>
            </a:pPr>
            <a:r>
              <a:rPr sz="1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Source:</a:t>
            </a:r>
            <a:r>
              <a:rPr sz="14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https://www.nejm.org/doi/full/10.1056/nejmoa2001191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457214"/>
            <a:ext cx="5127625" cy="458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Scan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text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answer:</a:t>
            </a:r>
            <a:endParaRPr sz="2400">
              <a:latin typeface="Calibri"/>
              <a:cs typeface="Calibri"/>
            </a:endParaRPr>
          </a:p>
          <a:p>
            <a:pPr marL="698500" marR="589280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</a:tabLst>
            </a:pPr>
            <a:r>
              <a:rPr sz="2200" b="1" dirty="0">
                <a:latin typeface="Calibri"/>
                <a:cs typeface="Calibri"/>
              </a:rPr>
              <a:t>How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many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cases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described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in </a:t>
            </a:r>
            <a:r>
              <a:rPr sz="2200" b="1" spc="-10" dirty="0">
                <a:latin typeface="Calibri"/>
                <a:cs typeface="Calibri"/>
              </a:rPr>
              <a:t>detail?</a:t>
            </a:r>
            <a:endParaRPr sz="2200">
              <a:latin typeface="Calibri"/>
              <a:cs typeface="Calibri"/>
            </a:endParaRPr>
          </a:p>
          <a:p>
            <a:pPr marL="1155065" marR="174625" lvl="2" indent="-228600">
              <a:lnSpc>
                <a:spcPct val="70000"/>
              </a:lnSpc>
              <a:spcBef>
                <a:spcPts val="500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evidence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support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single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-20" dirty="0">
                <a:latin typeface="Calibri"/>
                <a:cs typeface="Calibri"/>
              </a:rPr>
              <a:t>case</a:t>
            </a:r>
            <a:r>
              <a:rPr sz="1900" spc="-2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255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10" dirty="0">
                <a:latin typeface="Calibri"/>
                <a:cs typeface="Calibri"/>
              </a:rPr>
              <a:t>Person</a:t>
            </a:r>
            <a:endParaRPr sz="2200">
              <a:latin typeface="Calibri"/>
              <a:cs typeface="Calibri"/>
            </a:endParaRPr>
          </a:p>
          <a:p>
            <a:pPr marL="1155065" marR="30480" lvl="2" indent="-228600">
              <a:lnSpc>
                <a:spcPct val="70000"/>
              </a:lnSpc>
              <a:spcBef>
                <a:spcPts val="590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basic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characteristics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patient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provided?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26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10" dirty="0">
                <a:latin typeface="Calibri"/>
                <a:cs typeface="Calibri"/>
              </a:rPr>
              <a:t>Place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ts val="2095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occur?</a:t>
            </a:r>
            <a:endParaRPr sz="1900">
              <a:latin typeface="Calibri"/>
              <a:cs typeface="Calibri"/>
            </a:endParaRPr>
          </a:p>
          <a:p>
            <a:pPr marL="1155065" lvl="2" indent="-228600">
              <a:lnSpc>
                <a:spcPts val="2039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outbreak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begin?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405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20" dirty="0"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1155065" marR="5080" lvl="2" indent="-228600">
              <a:lnSpc>
                <a:spcPct val="70000"/>
              </a:lnSpc>
              <a:spcBef>
                <a:spcPts val="595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identified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outbreak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timeline?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2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What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being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described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vs.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inferred?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ts val="2100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describe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this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patient</a:t>
            </a:r>
            <a:r>
              <a:rPr sz="1900" spc="-1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  <a:p>
            <a:pPr marL="1155065" lvl="2" indent="-228600">
              <a:lnSpc>
                <a:spcPts val="2190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reference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broader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context</a:t>
            </a:r>
            <a:r>
              <a:rPr sz="1900" spc="-1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8092" y="79159"/>
            <a:ext cx="2926080" cy="36957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COVID-</a:t>
            </a:r>
            <a:r>
              <a:rPr sz="1800" dirty="0">
                <a:latin typeface="Calibri"/>
                <a:cs typeface="Calibri"/>
              </a:rPr>
              <a:t>19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USA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3102</Words>
  <Application>Microsoft Office PowerPoint</Application>
  <PresentationFormat>Widescreen</PresentationFormat>
  <Paragraphs>410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Office Theme</vt:lpstr>
      <vt:lpstr>APHS 20203 Epidemiology &amp; Biostatistics</vt:lpstr>
      <vt:lpstr>Learning Objectives</vt:lpstr>
      <vt:lpstr>What Is Descriptive Epidemiology?</vt:lpstr>
      <vt:lpstr>Example: Descriptive Epidemiology in Practice</vt:lpstr>
      <vt:lpstr>Descriptive Epidemiologic Study Designs</vt:lpstr>
      <vt:lpstr>Case Reports</vt:lpstr>
      <vt:lpstr>Case Reports: Example</vt:lpstr>
      <vt:lpstr>Case Series</vt:lpstr>
      <vt:lpstr>Case Series: Example</vt:lpstr>
      <vt:lpstr>Why Individual Cases Belong in Epidemiology</vt:lpstr>
      <vt:lpstr>Cross-Sectional Studies</vt:lpstr>
      <vt:lpstr>Cross-Sectional: One-Time Snapshot</vt:lpstr>
      <vt:lpstr>Cross-Sectional Study: Example</vt:lpstr>
      <vt:lpstr>PowerPoint Presentation</vt:lpstr>
      <vt:lpstr>Person Variables: the “Who” Factor</vt:lpstr>
      <vt:lpstr>Age</vt:lpstr>
      <vt:lpstr>Sex/Gender</vt:lpstr>
      <vt:lpstr>Race/Ethnicity</vt:lpstr>
      <vt:lpstr>Socioeconomic Status (SES)</vt:lpstr>
      <vt:lpstr>Social Determinants of Health (SDOH)</vt:lpstr>
      <vt:lpstr>SES vs. SDOH</vt:lpstr>
      <vt:lpstr>Exercise: SES or SDOH?</vt:lpstr>
      <vt:lpstr>Health Disparities</vt:lpstr>
      <vt:lpstr>Place Variables-the “Where” Factor</vt:lpstr>
      <vt:lpstr>International Variation</vt:lpstr>
      <vt:lpstr>National (Within-Country) Variations</vt:lpstr>
      <vt:lpstr>PowerPoint Presentation</vt:lpstr>
      <vt:lpstr>From Urban–Rural to Local</vt:lpstr>
      <vt:lpstr>Localized Patterns of Disease</vt:lpstr>
      <vt:lpstr>Time: The “When”</vt:lpstr>
      <vt:lpstr>Secular Trends</vt:lpstr>
      <vt:lpstr>Seasonal (Cyclic) Trends</vt:lpstr>
      <vt:lpstr>Point Epidemics</vt:lpstr>
      <vt:lpstr>Clustering</vt:lpstr>
      <vt:lpstr>Comparing Time and Place Patterns</vt:lpstr>
      <vt:lpstr>Descriptive Epidemiology: Advantages and Limitations</vt:lpstr>
      <vt:lpstr>Epidemiologic Inference</vt:lpstr>
      <vt:lpstr>Epi Project Prep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HCHS 20203  Epidemiology &amp; Biostatistics</dc:title>
  <dc:creator>Zhang, Yan</dc:creator>
  <cp:lastModifiedBy>Zhang, Yan</cp:lastModifiedBy>
  <cp:revision>1</cp:revision>
  <dcterms:created xsi:type="dcterms:W3CDTF">2026-02-03T16:24:00Z</dcterms:created>
  <dcterms:modified xsi:type="dcterms:W3CDTF">2026-02-03T16:43:09Z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Creator">
    <vt:lpwstr>Acrobat PDFMaker 25 for PowerPoint</vt:lpwstr>
  </property>
  <property fmtid="{D5CDD505-2E9C-101B-9397-08002B2CF9AE}" pid="4" name="LastSaved">
    <vt:filetime>2026-02-03T00:00:00Z</vt:filetime>
  </property>
  <property fmtid="{D5CDD505-2E9C-101B-9397-08002B2CF9AE}" pid="5" name="Producer">
    <vt:lpwstr>Adobe PDF Library 25.1.119</vt:lpwstr>
  </property>
</Properties>
</file>