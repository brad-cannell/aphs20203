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044"/>
    <a:srgbClr val="4E5F72"/>
    <a:srgbClr val="E8EDF3"/>
    <a:srgbClr val="FFD662"/>
    <a:srgbClr val="6C75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29"/>
    <p:restoredTop sz="78545"/>
  </p:normalViewPr>
  <p:slideViewPr>
    <p:cSldViewPr snapToGrid="0">
      <p:cViewPr varScale="1">
        <p:scale>
          <a:sx n="152" d="100"/>
          <a:sy n="152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4D113-9A91-024F-8A6E-20C8CC7EF085}" type="datetimeFigureOut">
              <a:rPr lang="en-US" smtClean="0"/>
              <a:t>8/23/26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38C4F-CA62-344E-A1F2-569D6073C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1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Demonstrates the native Title layout. The reading order should be title, then subtitle.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8C4F-CA62-344E-A1F2-569D6073C3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88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Demonstrates the native Section Divider layout. Reading order should begin with the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8C4F-CA62-344E-A1F2-569D6073C3F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20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Demonstrates the native Title and Content layout. Reading order should be title, then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8C4F-CA62-344E-A1F2-569D6073C3F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86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Demonstrates the native two-column layout. Reading order should be title, left content, then right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8C4F-CA62-344E-A1F2-569D6073C3F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14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Demonstrates the native main-content-and-sidebar layout. Reading order should be title, main content, then sidebar.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8C4F-CA62-344E-A1F2-569D6073C3F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72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Demonstrates the native full-width-media layout. Replace this guidance with a meaningful visual and add alt text when the visual conveys instructional content. Reading order should be title, then media or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8C4F-CA62-344E-A1F2-569D6073C3F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67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8C4F-CA62-344E-A1F2-569D6073C3F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4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4E5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356DE-8095-ED1E-5412-D3C1A35F6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093976"/>
            <a:ext cx="8458200" cy="1618488"/>
          </a:xfrm>
        </p:spPr>
        <p:txBody>
          <a:bodyPr anchor="ctr"/>
          <a:lstStyle>
            <a:lvl1pPr algn="l">
              <a:defRPr sz="56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3D6F0-C7C1-7523-6EF8-1E8748B66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4005072"/>
            <a:ext cx="6190488" cy="649224"/>
          </a:xfrm>
        </p:spPr>
        <p:txBody>
          <a:bodyPr anchor="ctr"/>
          <a:lstStyle>
            <a:lvl1pPr marL="0" indent="0" algn="l">
              <a:buNone/>
              <a:defRPr sz="2400" b="0" i="0">
                <a:solidFill>
                  <a:srgbClr val="E8EDF3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286646-C253-C1A6-33B2-FD74D0668D0E}"/>
              </a:ext>
            </a:extLst>
          </p:cNvPr>
          <p:cNvSpPr/>
          <p:nvPr userDrawn="1"/>
        </p:nvSpPr>
        <p:spPr>
          <a:xfrm>
            <a:off x="685800" y="1618488"/>
            <a:ext cx="1143000" cy="73152"/>
          </a:xfrm>
          <a:prstGeom prst="rect">
            <a:avLst/>
          </a:prstGeom>
          <a:solidFill>
            <a:srgbClr val="FFD66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55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rgbClr val="4E5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CE6A9-EA9D-15BD-9217-342C680E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423160"/>
            <a:ext cx="9829800" cy="2852737"/>
          </a:xfrm>
        </p:spPr>
        <p:txBody>
          <a:bodyPr anchor="b"/>
          <a:lstStyle>
            <a:lvl1pPr>
              <a:defRPr sz="48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0F42D9-E64F-126E-6790-F7FAC155467D}"/>
              </a:ext>
            </a:extLst>
          </p:cNvPr>
          <p:cNvSpPr/>
          <p:nvPr userDrawn="1"/>
        </p:nvSpPr>
        <p:spPr>
          <a:xfrm>
            <a:off x="685800" y="1965960"/>
            <a:ext cx="1143000" cy="73152"/>
          </a:xfrm>
          <a:prstGeom prst="rect">
            <a:avLst/>
          </a:prstGeom>
          <a:solidFill>
            <a:srgbClr val="FFD66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3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2912-EA62-F4DC-6CCB-52F2078D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500" b="1" i="0">
                <a:solidFill>
                  <a:srgbClr val="20304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884D2-611F-7E9E-6AE7-C5FDB39D0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1pPr>
            <a:lvl2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2pPr>
            <a:lvl3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3pPr>
            <a:lvl4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4pPr>
            <a:lvl5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6595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C4680-BCF2-49BA-7BBC-531957C7D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500" b="1" i="0">
                <a:solidFill>
                  <a:srgbClr val="20304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46CA-16A5-A947-984D-F1318B6E4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1pPr>
            <a:lvl2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2pPr>
            <a:lvl3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3pPr>
            <a:lvl4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4pPr>
            <a:lvl5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70588-B059-08DD-02E2-95C0709B3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1pPr>
            <a:lvl2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2pPr>
            <a:lvl3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3pPr>
            <a:lvl4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4pPr>
            <a:lvl5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4495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Main Content,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2912-EA62-F4DC-6CCB-52F2078D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500" b="1" i="0">
                <a:solidFill>
                  <a:srgbClr val="20304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884D2-611F-7E9E-6AE7-C5FDB39D0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25625"/>
            <a:ext cx="7059168" cy="4351338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1pPr>
            <a:lvl2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2pPr>
            <a:lvl3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3pPr>
            <a:lvl4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4pPr>
            <a:lvl5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8F63CD-0756-4B27-52D6-71A7796E101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76616" y="1825625"/>
            <a:ext cx="3529584" cy="4351338"/>
          </a:xfrm>
        </p:spPr>
        <p:txBody>
          <a:bodyPr/>
          <a:lstStyle>
            <a:lvl1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1pPr>
            <a:lvl2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2pPr>
            <a:lvl3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3pPr>
            <a:lvl4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4pPr>
            <a:lvl5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8874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Full-Width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2912-EA62-F4DC-6CCB-52F2078D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500" b="1" i="0">
                <a:solidFill>
                  <a:srgbClr val="20304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884D2-611F-7E9E-6AE7-C5FDB39D0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1pPr>
            <a:lvl2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2pPr>
            <a:lvl3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3pPr>
            <a:lvl4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4pPr>
            <a:lvl5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9676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dden Title —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2912-EA62-F4DC-6CCB-52F2078D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5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0653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791BD-70F5-F889-3449-9D9824AF8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C4EE3-23E3-5591-BA1D-D86B4C314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293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BCDE2-590B-412F-F5FB-60ACC2337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093976"/>
            <a:ext cx="8458200" cy="1618488"/>
          </a:xfrm>
        </p:spPr>
        <p:txBody>
          <a:bodyPr>
            <a:normAutofit fontScale="90000"/>
          </a:bodyPr>
          <a:lstStyle/>
          <a:p>
            <a:r>
              <a:rPr lang="en-US" dirty="0"/>
              <a:t>APHS 20203</a:t>
            </a:r>
            <a:br>
              <a:rPr lang="en-US" dirty="0"/>
            </a:br>
            <a:r>
              <a:rPr lang="en-US" dirty="0"/>
              <a:t>Epidemiology &amp; Biostatistics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37557-8CB7-B6CA-23CE-80124EB256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Accessible PowerPoint Template</a:t>
            </a:r>
          </a:p>
        </p:txBody>
      </p:sp>
    </p:spTree>
    <p:extLst>
      <p:ext uri="{BB962C8B-B14F-4D97-AF65-F5344CB8AC3E}">
        <p14:creationId xmlns:p14="http://schemas.microsoft.com/office/powerpoint/2010/main" val="1722120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9225-5C59-59EA-5C41-0CA763A9E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</p:spTree>
    <p:extLst>
      <p:ext uri="{BB962C8B-B14F-4D97-AF65-F5344CB8AC3E}">
        <p14:creationId xmlns:p14="http://schemas.microsoft.com/office/powerpoint/2010/main" val="893051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B326B-8774-03B0-1DED-D62123D8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Template Supports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2612C-44DA-76B5-C043-3F563B347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Clear, title-first navigation on every slide</a:t>
            </a:r>
          </a:p>
          <a:p>
            <a:r>
              <a:rPr lang="en-US" dirty="0"/>
              <a:t>Editable layouts built from native PowerPoint placeholders</a:t>
            </a:r>
          </a:p>
          <a:p>
            <a:r>
              <a:rPr lang="en-US" dirty="0"/>
              <a:t>Flexible space for explanations, visuals, activities, and data</a:t>
            </a:r>
          </a:p>
        </p:txBody>
      </p:sp>
    </p:spTree>
    <p:extLst>
      <p:ext uri="{BB962C8B-B14F-4D97-AF65-F5344CB8AC3E}">
        <p14:creationId xmlns:p14="http://schemas.microsoft.com/office/powerpoint/2010/main" val="394067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3334A-BA14-9139-C9ED-761C1280C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to Structure a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6E4E9-41ED-E983-621C-E6F37C2D17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Explain</a:t>
            </a:r>
          </a:p>
          <a:p>
            <a:r>
              <a:rPr lang="en-US" dirty="0"/>
              <a:t>Introduce one key concept and a relevant example.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2B55EB-6596-1432-7176-C940EB818E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  <a:p>
            <a:r>
              <a:rPr lang="en-US" dirty="0"/>
              <a:t>Give learners a task and an expected outcome.</a:t>
            </a:r>
          </a:p>
        </p:txBody>
      </p:sp>
    </p:spTree>
    <p:extLst>
      <p:ext uri="{BB962C8B-B14F-4D97-AF65-F5344CB8AC3E}">
        <p14:creationId xmlns:p14="http://schemas.microsoft.com/office/powerpoint/2010/main" val="2880897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94776-8383-4488-DBDF-CE4BF5C6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Practice: Interpret a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BBE19-B4BF-D88D-A437-2D3CC52D9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Identify the comparison being made.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State the finding in plain language.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Explain why it matters.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2BC62-A046-585D-EB8C-E69804080F4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Expected outcome</a:t>
            </a:r>
          </a:p>
          <a:p>
            <a:r>
              <a:rPr lang="en-US" dirty="0"/>
              <a:t>A one-sentence interpretation that names the result and its implication.</a:t>
            </a:r>
          </a:p>
        </p:txBody>
      </p:sp>
    </p:spTree>
    <p:extLst>
      <p:ext uri="{BB962C8B-B14F-4D97-AF65-F5344CB8AC3E}">
        <p14:creationId xmlns:p14="http://schemas.microsoft.com/office/powerpoint/2010/main" val="2906097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E441-A023-F092-EF7F-D68ECC8E0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Visual Can Carry the Main Teaching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A32FA-5BE5-0138-5524-8A4D3F35D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this space for one meaningful chart, image, table, video, or diagram.</a:t>
            </a:r>
          </a:p>
        </p:txBody>
      </p:sp>
    </p:spTree>
    <p:extLst>
      <p:ext uri="{BB962C8B-B14F-4D97-AF65-F5344CB8AC3E}">
        <p14:creationId xmlns:p14="http://schemas.microsoft.com/office/powerpoint/2010/main" val="3685004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4CDD55-5A04-7668-DC67-D18C2652E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 Title</a:t>
            </a:r>
          </a:p>
        </p:txBody>
      </p:sp>
    </p:spTree>
    <p:extLst>
      <p:ext uri="{BB962C8B-B14F-4D97-AF65-F5344CB8AC3E}">
        <p14:creationId xmlns:p14="http://schemas.microsoft.com/office/powerpoint/2010/main" val="3651888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WB Accessible">
      <a:dk1>
        <a:srgbClr val="203044"/>
      </a:dk1>
      <a:lt1>
        <a:srgbClr val="FFFFFF"/>
      </a:lt1>
      <a:dk2>
        <a:srgbClr val="4E5F71"/>
      </a:dk2>
      <a:lt2>
        <a:srgbClr val="E8EDF3"/>
      </a:lt2>
      <a:accent1>
        <a:srgbClr val="4E5F71"/>
      </a:accent1>
      <a:accent2>
        <a:srgbClr val="FFD661"/>
      </a:accent2>
      <a:accent3>
        <a:srgbClr val="28A745"/>
      </a:accent3>
      <a:accent4>
        <a:srgbClr val="FD7E14"/>
      </a:accent4>
      <a:accent5>
        <a:srgbClr val="6C757D"/>
      </a:accent5>
      <a:accent6>
        <a:srgbClr val="203044"/>
      </a:accent6>
      <a:hlink>
        <a:srgbClr val="4E5F71"/>
      </a:hlink>
      <a:folHlink>
        <a:srgbClr val="6C75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256</Words>
  <Application>Microsoft Macintosh PowerPoint</Application>
  <PresentationFormat>Widescreen</PresentationFormat>
  <Paragraphs>34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APHS 20203 Epidemiology &amp; Biostatistics</vt:lpstr>
      <vt:lpstr>Course Introduction</vt:lpstr>
      <vt:lpstr>What This Template Supports</vt:lpstr>
      <vt:lpstr>Two Ways to Structure a Lesson</vt:lpstr>
      <vt:lpstr>Practice: Interpret a Result</vt:lpstr>
      <vt:lpstr>A Visual Can Carry the Main Teaching Point</vt:lpstr>
      <vt:lpstr>Hidden 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APHS 20203 — Epidemiology &amp; Biostatistics Accessible PowerPoint Template</dc:title>
  <dc:subject/>
  <dc:creator>Brad Cannell</dc:creator>
  <cp:keywords/>
  <dc:description/>
  <cp:lastModifiedBy>Brad Cannell</cp:lastModifiedBy>
  <cp:revision>27</cp:revision>
  <dcterms:created xsi:type="dcterms:W3CDTF">2026-08-22T20:08:03Z</dcterms:created>
  <dcterms:modified xsi:type="dcterms:W3CDTF">2026-08-23T23:25:40Z</dcterms:modified>
  <cp:category/>
</cp:coreProperties>
</file>