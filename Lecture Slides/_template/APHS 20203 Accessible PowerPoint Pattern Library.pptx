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3" r:id="rId2"/>
    <p:sldId id="269" r:id="rId3"/>
    <p:sldId id="264" r:id="rId4"/>
    <p:sldId id="265" r:id="rId5"/>
    <p:sldId id="266" r:id="rId6"/>
    <p:sldId id="267" r:id="rId7"/>
    <p:sldId id="268" r:id="rId8"/>
    <p:sldId id="27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5F71"/>
    <a:srgbClr val="6C757D"/>
    <a:srgbClr val="203044"/>
    <a:srgbClr val="E8EDF3"/>
    <a:srgbClr val="FFD662"/>
    <a:srgbClr val="4E5F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383"/>
    <p:restoredTop sz="78579"/>
  </p:normalViewPr>
  <p:slideViewPr>
    <p:cSldViewPr snapToGrid="0">
      <p:cViewPr varScale="1">
        <p:scale>
          <a:sx n="137" d="100"/>
          <a:sy n="137" d="100"/>
        </p:scale>
        <p:origin x="20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Percent Meeting Target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Group A</c:v>
                </c:pt>
                <c:pt idx="1">
                  <c:v>Group B</c:v>
                </c:pt>
                <c:pt idx="2">
                  <c:v>Group C</c:v>
                </c:pt>
              </c:strCache>
            </c:strRef>
          </c:cat>
          <c:val>
            <c:numRef>
              <c:f>Sheet1!$B$2:$B$4</c:f>
              <c:numCache>
                <c:formatCode>General</c:formatCode>
                <c:ptCount val="3"/>
                <c:pt idx="0">
                  <c:v>38</c:v>
                </c:pt>
                <c:pt idx="1">
                  <c:v>54</c:v>
                </c:pt>
                <c:pt idx="2">
                  <c:v>72</c:v>
                </c:pt>
              </c:numCache>
            </c:numRef>
          </c:val>
          <c:extLst>
            <c:ext xmlns:c16="http://schemas.microsoft.com/office/drawing/2014/chart" uri="{C3380CC4-5D6E-409C-BE32-E72D297353CC}">
              <c16:uniqueId val="{00000000-0F2E-8840-8D14-6F932EEAFB28}"/>
            </c:ext>
          </c:extLst>
        </c:ser>
        <c:dLbls>
          <c:dLblPos val="outEnd"/>
          <c:showLegendKey val="0"/>
          <c:showVal val="1"/>
          <c:showCatName val="0"/>
          <c:showSerName val="0"/>
          <c:showPercent val="0"/>
          <c:showBubbleSize val="0"/>
        </c:dLbls>
        <c:gapWidth val="219"/>
        <c:overlap val="-27"/>
        <c:axId val="1460375935"/>
        <c:axId val="1460377727"/>
      </c:barChart>
      <c:catAx>
        <c:axId val="14603759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60377727"/>
        <c:crosses val="autoZero"/>
        <c:auto val="1"/>
        <c:lblAlgn val="ctr"/>
        <c:lblOffset val="100"/>
        <c:noMultiLvlLbl val="0"/>
      </c:catAx>
      <c:valAx>
        <c:axId val="1460377727"/>
        <c:scaling>
          <c:orientation val="minMax"/>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Percent</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603759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B4D113-9A91-024F-8A6E-20C8CC7EF085}" type="datetimeFigureOut">
              <a:rPr lang="en-US" smtClean="0"/>
              <a:t>8/24/26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238C4F-CA62-344E-A1F2-569D6073C3FB}" type="slidenum">
              <a:rPr lang="en-US" smtClean="0"/>
              <a:t>‹#›</a:t>
            </a:fld>
            <a:endParaRPr lang="en-US"/>
          </a:p>
        </p:txBody>
      </p:sp>
    </p:spTree>
    <p:extLst>
      <p:ext uri="{BB962C8B-B14F-4D97-AF65-F5344CB8AC3E}">
        <p14:creationId xmlns:p14="http://schemas.microsoft.com/office/powerpoint/2010/main" val="383051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Editable pattern: Objects</a:t>
            </a:r>
            <a:br>
              <a:rPr lang="en-US" dirty="0"/>
            </a:br>
            <a:r>
              <a:rPr lang="en-US" dirty="0"/>
              <a:t>Duplicate this slide to outline objectives. Adjust the number of objectives, timing, grouping instructions, and visible emphasis for the specific activity. Keep the title descriptive and preserve the reading order: title, then steps.</a:t>
            </a:r>
          </a:p>
        </p:txBody>
      </p:sp>
      <p:sp>
        <p:nvSpPr>
          <p:cNvPr id="4" name="Slide Number Placeholder 3"/>
          <p:cNvSpPr>
            <a:spLocks noGrp="1"/>
          </p:cNvSpPr>
          <p:nvPr>
            <p:ph type="sldNum" sz="quarter" idx="5"/>
          </p:nvPr>
        </p:nvSpPr>
        <p:spPr/>
        <p:txBody>
          <a:bodyPr/>
          <a:lstStyle/>
          <a:p>
            <a:fld id="{D3238C4F-CA62-344E-A1F2-569D6073C3FB}" type="slidenum">
              <a:rPr lang="en-US" smtClean="0"/>
              <a:t>1</a:t>
            </a:fld>
            <a:endParaRPr lang="en-US"/>
          </a:p>
        </p:txBody>
      </p:sp>
    </p:spTree>
    <p:extLst>
      <p:ext uri="{BB962C8B-B14F-4D97-AF65-F5344CB8AC3E}">
        <p14:creationId xmlns:p14="http://schemas.microsoft.com/office/powerpoint/2010/main" val="145277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4878D-3BAD-1743-C0F8-94E77DB15B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B6242C-1B58-0B35-71BA-35719B3918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31A7E3-0916-DE6C-914E-7E1CD1EE0F6F}"/>
              </a:ext>
            </a:extLst>
          </p:cNvPr>
          <p:cNvSpPr>
            <a:spLocks noGrp="1"/>
          </p:cNvSpPr>
          <p:nvPr>
            <p:ph type="body" idx="1"/>
          </p:nvPr>
        </p:nvSpPr>
        <p:spPr/>
        <p:txBody>
          <a:bodyPr/>
          <a:lstStyle/>
          <a:p>
            <a:r>
              <a:rPr lang="en-US" b="1" dirty="0"/>
              <a:t>Editable pattern: Numbered activity instructions</a:t>
            </a:r>
            <a:br>
              <a:rPr lang="en-US" dirty="0"/>
            </a:br>
            <a:r>
              <a:rPr lang="en-US" dirty="0"/>
              <a:t>Duplicate this slide when an activity needs ordered steps. Adjust the number of steps, timing, grouping instructions, and visible emphasis for the specific activity. Keep the title descriptive and preserve the reading order: title, then steps.</a:t>
            </a:r>
          </a:p>
        </p:txBody>
      </p:sp>
      <p:sp>
        <p:nvSpPr>
          <p:cNvPr id="4" name="Slide Number Placeholder 3">
            <a:extLst>
              <a:ext uri="{FF2B5EF4-FFF2-40B4-BE49-F238E27FC236}">
                <a16:creationId xmlns:a16="http://schemas.microsoft.com/office/drawing/2014/main" id="{2D2A1763-AAF2-DBF5-28E2-A00D30FC6E12}"/>
              </a:ext>
            </a:extLst>
          </p:cNvPr>
          <p:cNvSpPr>
            <a:spLocks noGrp="1"/>
          </p:cNvSpPr>
          <p:nvPr>
            <p:ph type="sldNum" sz="quarter" idx="5"/>
          </p:nvPr>
        </p:nvSpPr>
        <p:spPr/>
        <p:txBody>
          <a:bodyPr/>
          <a:lstStyle/>
          <a:p>
            <a:fld id="{D3238C4F-CA62-344E-A1F2-569D6073C3FB}" type="slidenum">
              <a:rPr lang="en-US" smtClean="0"/>
              <a:t>2</a:t>
            </a:fld>
            <a:endParaRPr lang="en-US"/>
          </a:p>
        </p:txBody>
      </p:sp>
    </p:spTree>
    <p:extLst>
      <p:ext uri="{BB962C8B-B14F-4D97-AF65-F5344CB8AC3E}">
        <p14:creationId xmlns:p14="http://schemas.microsoft.com/office/powerpoint/2010/main" val="1106295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Editable pattern: Prompt plus expected-outcome callout</a:t>
            </a:r>
            <a:br>
              <a:rPr lang="en-US" dirty="0"/>
            </a:br>
            <a:r>
              <a:rPr lang="en-US" dirty="0"/>
              <a:t>Duplicate this slide when learners need a focused prompt plus a concise statement of what they should produce. Adapt the prompt, response mode, and sidebar length for the activity. Keep the reading order: title, main prompt, then expected-outcome callout.</a:t>
            </a:r>
          </a:p>
        </p:txBody>
      </p:sp>
      <p:sp>
        <p:nvSpPr>
          <p:cNvPr id="4" name="Slide Number Placeholder 3"/>
          <p:cNvSpPr>
            <a:spLocks noGrp="1"/>
          </p:cNvSpPr>
          <p:nvPr>
            <p:ph type="sldNum" sz="quarter" idx="5"/>
          </p:nvPr>
        </p:nvSpPr>
        <p:spPr/>
        <p:txBody>
          <a:bodyPr/>
          <a:lstStyle/>
          <a:p>
            <a:fld id="{D3238C4F-CA62-344E-A1F2-569D6073C3FB}" type="slidenum">
              <a:rPr lang="en-US" smtClean="0"/>
              <a:t>3</a:t>
            </a:fld>
            <a:endParaRPr lang="en-US"/>
          </a:p>
        </p:txBody>
      </p:sp>
    </p:spTree>
    <p:extLst>
      <p:ext uri="{BB962C8B-B14F-4D97-AF65-F5344CB8AC3E}">
        <p14:creationId xmlns:p14="http://schemas.microsoft.com/office/powerpoint/2010/main" val="1282132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Editable pattern: Two-panel comparison</a:t>
            </a:r>
            <a:br>
              <a:rPr lang="en-US" dirty="0"/>
            </a:br>
            <a:r>
              <a:rPr lang="en-US" dirty="0"/>
              <a:t>Duplicate this slide when two concepts, approaches, populations, or options need a side-by-side comparison. Replace both headings and all panel text; use meaningful headings rather than relying on the yellow and green rules to convey the distinction. </a:t>
            </a:r>
          </a:p>
          <a:p>
            <a:r>
              <a:rPr lang="en-US" dirty="0"/>
              <a:t>Keep the panel backgrounds and top rules decorative. Confirm the reading order is: title, left-panel heading and text, then right-panel heading and text. </a:t>
            </a:r>
            <a:r>
              <a:rPr lang="en-US"/>
              <a:t>Use a different structure for dense comparisons or true tabular data.</a:t>
            </a:r>
          </a:p>
        </p:txBody>
      </p:sp>
      <p:sp>
        <p:nvSpPr>
          <p:cNvPr id="4" name="Slide Number Placeholder 3"/>
          <p:cNvSpPr>
            <a:spLocks noGrp="1"/>
          </p:cNvSpPr>
          <p:nvPr>
            <p:ph type="sldNum" sz="quarter" idx="5"/>
          </p:nvPr>
        </p:nvSpPr>
        <p:spPr/>
        <p:txBody>
          <a:bodyPr/>
          <a:lstStyle/>
          <a:p>
            <a:fld id="{D3238C4F-CA62-344E-A1F2-569D6073C3FB}" type="slidenum">
              <a:rPr lang="en-US" smtClean="0"/>
              <a:t>4</a:t>
            </a:fld>
            <a:endParaRPr lang="en-US"/>
          </a:p>
        </p:txBody>
      </p:sp>
    </p:spTree>
    <p:extLst>
      <p:ext uri="{BB962C8B-B14F-4D97-AF65-F5344CB8AC3E}">
        <p14:creationId xmlns:p14="http://schemas.microsoft.com/office/powerpoint/2010/main" val="1857771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Editable pattern: Image-supported profile or explanation</a:t>
            </a:r>
            <a:br>
              <a:rPr lang="en-US" dirty="0"/>
            </a:br>
            <a:r>
              <a:rPr lang="en-US" dirty="0"/>
              <a:t>Duplicate this slide when an image helps introduce a person, setting, case, or concept. Replace the image and accompanying text together; do not use an image merely to fill space. </a:t>
            </a:r>
          </a:p>
          <a:p>
            <a:r>
              <a:rPr lang="en-US" dirty="0"/>
              <a:t>Crop the image to the right-side frame. Add concise alt text when it conveys information not already available in the text; mark it decorative only when the text fully conveys its purpose. Keep the reading order: title, main text, then image.</a:t>
            </a:r>
          </a:p>
        </p:txBody>
      </p:sp>
      <p:sp>
        <p:nvSpPr>
          <p:cNvPr id="4" name="Slide Number Placeholder 3"/>
          <p:cNvSpPr>
            <a:spLocks noGrp="1"/>
          </p:cNvSpPr>
          <p:nvPr>
            <p:ph type="sldNum" sz="quarter" idx="5"/>
          </p:nvPr>
        </p:nvSpPr>
        <p:spPr/>
        <p:txBody>
          <a:bodyPr/>
          <a:lstStyle/>
          <a:p>
            <a:fld id="{D3238C4F-CA62-344E-A1F2-569D6073C3FB}" type="slidenum">
              <a:rPr lang="en-US" smtClean="0"/>
              <a:t>5</a:t>
            </a:fld>
            <a:endParaRPr lang="en-US"/>
          </a:p>
        </p:txBody>
      </p:sp>
    </p:spTree>
    <p:extLst>
      <p:ext uri="{BB962C8B-B14F-4D97-AF65-F5344CB8AC3E}">
        <p14:creationId xmlns:p14="http://schemas.microsoft.com/office/powerpoint/2010/main" val="15737271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Editable pattern: Graph interpretation</a:t>
            </a:r>
            <a:br>
              <a:rPr lang="en-US" dirty="0"/>
            </a:br>
            <a:r>
              <a:rPr lang="en-US" dirty="0"/>
              <a:t>Duplicate this slide when a native PowerPoint chart helps learners interpret a comparison, trend, or relationship. Replace the illustrative data, chart title, labels, and alt text together. </a:t>
            </a:r>
          </a:p>
          <a:p>
            <a:r>
              <a:rPr lang="en-US" dirty="0"/>
              <a:t>Use a chart title that states the takeaway, not merely the chart type. Do not rely on color alone to distinguish series; use direct labels, a legend, patterns, or other text-based cues when needed. Add a source note when the data are not created for the presentation. Keep the reading order: slide title, chart, then any source note.</a:t>
            </a:r>
          </a:p>
        </p:txBody>
      </p:sp>
      <p:sp>
        <p:nvSpPr>
          <p:cNvPr id="4" name="Slide Number Placeholder 3"/>
          <p:cNvSpPr>
            <a:spLocks noGrp="1"/>
          </p:cNvSpPr>
          <p:nvPr>
            <p:ph type="sldNum" sz="quarter" idx="5"/>
          </p:nvPr>
        </p:nvSpPr>
        <p:spPr/>
        <p:txBody>
          <a:bodyPr/>
          <a:lstStyle/>
          <a:p>
            <a:fld id="{D3238C4F-CA62-344E-A1F2-569D6073C3FB}" type="slidenum">
              <a:rPr lang="en-US" smtClean="0"/>
              <a:t>6</a:t>
            </a:fld>
            <a:endParaRPr lang="en-US"/>
          </a:p>
        </p:txBody>
      </p:sp>
    </p:spTree>
    <p:extLst>
      <p:ext uri="{BB962C8B-B14F-4D97-AF65-F5344CB8AC3E}">
        <p14:creationId xmlns:p14="http://schemas.microsoft.com/office/powerpoint/2010/main" val="3751503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Editable pattern: Table interpretation</a:t>
            </a:r>
            <a:br>
              <a:rPr lang="en-US" dirty="0"/>
            </a:br>
            <a:r>
              <a:rPr lang="en-US" dirty="0"/>
              <a:t>Duplicate this slide only for a true data table, not for visual positioning. Keep one clear header row, avoid merged cells, and use concise cell text. Replace the data, column headings, and alt text together. </a:t>
            </a:r>
          </a:p>
          <a:p>
            <a:r>
              <a:rPr lang="en-US" dirty="0"/>
              <a:t>Add a source note when needed and summarize the key comparison in the alt text or adjacent narrative. Use a different approach when the table is too dense to read comfortably in a live presentation. Keep the reading order: slide title, table, then any source note.</a:t>
            </a:r>
          </a:p>
        </p:txBody>
      </p:sp>
      <p:sp>
        <p:nvSpPr>
          <p:cNvPr id="4" name="Slide Number Placeholder 3"/>
          <p:cNvSpPr>
            <a:spLocks noGrp="1"/>
          </p:cNvSpPr>
          <p:nvPr>
            <p:ph type="sldNum" sz="quarter" idx="5"/>
          </p:nvPr>
        </p:nvSpPr>
        <p:spPr/>
        <p:txBody>
          <a:bodyPr/>
          <a:lstStyle/>
          <a:p>
            <a:fld id="{D3238C4F-CA62-344E-A1F2-569D6073C3FB}" type="slidenum">
              <a:rPr lang="en-US" smtClean="0"/>
              <a:t>7</a:t>
            </a:fld>
            <a:endParaRPr lang="en-US"/>
          </a:p>
        </p:txBody>
      </p:sp>
    </p:spTree>
    <p:extLst>
      <p:ext uri="{BB962C8B-B14F-4D97-AF65-F5344CB8AC3E}">
        <p14:creationId xmlns:p14="http://schemas.microsoft.com/office/powerpoint/2010/main" val="3918745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Editable pattern: Full-screen Image with Hidden Title</a:t>
            </a:r>
            <a:br>
              <a:rPr lang="en-US" dirty="0"/>
            </a:br>
            <a:r>
              <a:rPr lang="en-US" dirty="0"/>
              <a:t>Duplicate this slide to display a full-screen image. A title and alt text are required for screen readers.</a:t>
            </a:r>
          </a:p>
        </p:txBody>
      </p:sp>
      <p:sp>
        <p:nvSpPr>
          <p:cNvPr id="4" name="Slide Number Placeholder 3"/>
          <p:cNvSpPr>
            <a:spLocks noGrp="1"/>
          </p:cNvSpPr>
          <p:nvPr>
            <p:ph type="sldNum" sz="quarter" idx="5"/>
          </p:nvPr>
        </p:nvSpPr>
        <p:spPr/>
        <p:txBody>
          <a:bodyPr/>
          <a:lstStyle/>
          <a:p>
            <a:fld id="{D3238C4F-CA62-344E-A1F2-569D6073C3FB}" type="slidenum">
              <a:rPr lang="en-US" smtClean="0"/>
              <a:t>8</a:t>
            </a:fld>
            <a:endParaRPr lang="en-US"/>
          </a:p>
        </p:txBody>
      </p:sp>
    </p:spTree>
    <p:extLst>
      <p:ext uri="{BB962C8B-B14F-4D97-AF65-F5344CB8AC3E}">
        <p14:creationId xmlns:p14="http://schemas.microsoft.com/office/powerpoint/2010/main" val="2795138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rgbClr val="4E5F7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356DE-8095-ED1E-5412-D3C1A35F68C6}"/>
              </a:ext>
            </a:extLst>
          </p:cNvPr>
          <p:cNvSpPr>
            <a:spLocks noGrp="1"/>
          </p:cNvSpPr>
          <p:nvPr>
            <p:ph type="ctrTitle"/>
          </p:nvPr>
        </p:nvSpPr>
        <p:spPr>
          <a:xfrm>
            <a:off x="685800" y="2093976"/>
            <a:ext cx="8458200" cy="1618488"/>
          </a:xfrm>
        </p:spPr>
        <p:txBody>
          <a:bodyPr anchor="ctr"/>
          <a:lstStyle>
            <a:lvl1pPr algn="l">
              <a:defRPr sz="5600" b="1" i="0">
                <a:solidFill>
                  <a:schemeClr val="bg1"/>
                </a:solidFill>
                <a:latin typeface="Aptos" panose="020B00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D73D6F0-C7C1-7523-6EF8-1E8748B66AA5}"/>
              </a:ext>
            </a:extLst>
          </p:cNvPr>
          <p:cNvSpPr>
            <a:spLocks noGrp="1"/>
          </p:cNvSpPr>
          <p:nvPr>
            <p:ph type="subTitle" idx="1"/>
          </p:nvPr>
        </p:nvSpPr>
        <p:spPr>
          <a:xfrm>
            <a:off x="685800" y="4005072"/>
            <a:ext cx="6190488" cy="649224"/>
          </a:xfrm>
        </p:spPr>
        <p:txBody>
          <a:bodyPr anchor="ctr"/>
          <a:lstStyle>
            <a:lvl1pPr marL="0" indent="0" algn="l">
              <a:buNone/>
              <a:defRPr sz="2400" b="0" i="0">
                <a:solidFill>
                  <a:srgbClr val="E8EDF3"/>
                </a:solidFill>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Rectangle 6">
            <a:extLst>
              <a:ext uri="{FF2B5EF4-FFF2-40B4-BE49-F238E27FC236}">
                <a16:creationId xmlns:a16="http://schemas.microsoft.com/office/drawing/2014/main" id="{15286646-C253-C1A6-33B2-FD74D0668D0E}"/>
              </a:ext>
            </a:extLst>
          </p:cNvPr>
          <p:cNvSpPr/>
          <p:nvPr userDrawn="1"/>
        </p:nvSpPr>
        <p:spPr>
          <a:xfrm>
            <a:off x="685800" y="1618488"/>
            <a:ext cx="1143000" cy="73152"/>
          </a:xfrm>
          <a:prstGeom prst="rect">
            <a:avLst/>
          </a:prstGeom>
          <a:solidFill>
            <a:srgbClr val="FFD662"/>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6255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rgbClr val="4E5F7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CE6A9-EA9D-15BD-9217-342C680E51D9}"/>
              </a:ext>
            </a:extLst>
          </p:cNvPr>
          <p:cNvSpPr>
            <a:spLocks noGrp="1"/>
          </p:cNvSpPr>
          <p:nvPr>
            <p:ph type="title"/>
          </p:nvPr>
        </p:nvSpPr>
        <p:spPr>
          <a:xfrm>
            <a:off x="685800" y="2423160"/>
            <a:ext cx="9829800" cy="2852737"/>
          </a:xfrm>
        </p:spPr>
        <p:txBody>
          <a:bodyPr anchor="b"/>
          <a:lstStyle>
            <a:lvl1pPr>
              <a:defRPr sz="4800" b="1" i="0">
                <a:solidFill>
                  <a:schemeClr val="bg1"/>
                </a:solidFill>
                <a:latin typeface="Aptos" panose="020B0004020202020204" pitchFamily="34" charset="0"/>
              </a:defRPr>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F60F42D9-E64F-126E-6790-F7FAC155467D}"/>
              </a:ext>
            </a:extLst>
          </p:cNvPr>
          <p:cNvSpPr/>
          <p:nvPr userDrawn="1"/>
        </p:nvSpPr>
        <p:spPr>
          <a:xfrm>
            <a:off x="685800" y="1965960"/>
            <a:ext cx="1143000" cy="73152"/>
          </a:xfrm>
          <a:prstGeom prst="rect">
            <a:avLst/>
          </a:prstGeom>
          <a:solidFill>
            <a:srgbClr val="FFD662"/>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1532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52912-EA62-F4DC-6CCB-52F2078D7829}"/>
              </a:ext>
            </a:extLst>
          </p:cNvPr>
          <p:cNvSpPr>
            <a:spLocks noGrp="1"/>
          </p:cNvSpPr>
          <p:nvPr>
            <p:ph type="title"/>
          </p:nvPr>
        </p:nvSpPr>
        <p:spPr>
          <a:xfrm>
            <a:off x="838200" y="365126"/>
            <a:ext cx="10515600" cy="1094024"/>
          </a:xfrm>
        </p:spPr>
        <p:txBody>
          <a:bodyPr/>
          <a:lstStyle>
            <a:lvl1pPr>
              <a:defRPr sz="3500" b="1" i="0">
                <a:solidFill>
                  <a:srgbClr val="203044"/>
                </a:solidFill>
                <a:latin typeface="Aptos" panose="020B0004020202020204"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53884D2-611F-7E9E-6AE7-C5FDB39D00E4}"/>
              </a:ext>
            </a:extLst>
          </p:cNvPr>
          <p:cNvSpPr>
            <a:spLocks noGrp="1"/>
          </p:cNvSpPr>
          <p:nvPr>
            <p:ph idx="1"/>
          </p:nvPr>
        </p:nvSpPr>
        <p:spPr>
          <a:xfrm>
            <a:off x="838200" y="1643974"/>
            <a:ext cx="10515600" cy="4532989"/>
          </a:xfrm>
        </p:spPr>
        <p:txBody>
          <a:bodyPr/>
          <a:lstStyle>
            <a:lvl1pPr>
              <a:lnSpc>
                <a:spcPct val="100000"/>
              </a:lnSpc>
              <a:defRPr>
                <a:solidFill>
                  <a:srgbClr val="203044"/>
                </a:solidFill>
                <a:latin typeface="Aptos" panose="020B0004020202020204" pitchFamily="34" charset="0"/>
              </a:defRPr>
            </a:lvl1pPr>
            <a:lvl2pPr>
              <a:lnSpc>
                <a:spcPct val="100000"/>
              </a:lnSpc>
              <a:defRPr>
                <a:solidFill>
                  <a:srgbClr val="203044"/>
                </a:solidFill>
                <a:latin typeface="Aptos" panose="020B0004020202020204" pitchFamily="34" charset="0"/>
              </a:defRPr>
            </a:lvl2pPr>
            <a:lvl3pPr>
              <a:lnSpc>
                <a:spcPct val="100000"/>
              </a:lnSpc>
              <a:defRPr>
                <a:solidFill>
                  <a:srgbClr val="203044"/>
                </a:solidFill>
                <a:latin typeface="Aptos" panose="020B0004020202020204" pitchFamily="34" charset="0"/>
              </a:defRPr>
            </a:lvl3pPr>
            <a:lvl4pPr>
              <a:lnSpc>
                <a:spcPct val="100000"/>
              </a:lnSpc>
              <a:defRPr>
                <a:solidFill>
                  <a:srgbClr val="203044"/>
                </a:solidFill>
                <a:latin typeface="Aptos" panose="020B0004020202020204" pitchFamily="34" charset="0"/>
              </a:defRPr>
            </a:lvl4pPr>
            <a:lvl5pPr>
              <a:lnSpc>
                <a:spcPct val="100000"/>
              </a:lnSpc>
              <a:defRPr>
                <a:solidFill>
                  <a:srgbClr val="203044"/>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6595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C4680-BCF2-49BA-7BBC-531957C7D815}"/>
              </a:ext>
            </a:extLst>
          </p:cNvPr>
          <p:cNvSpPr>
            <a:spLocks noGrp="1"/>
          </p:cNvSpPr>
          <p:nvPr>
            <p:ph type="title"/>
          </p:nvPr>
        </p:nvSpPr>
        <p:spPr>
          <a:xfrm>
            <a:off x="838200" y="365125"/>
            <a:ext cx="10515600" cy="1094024"/>
          </a:xfrm>
        </p:spPr>
        <p:txBody>
          <a:bodyPr/>
          <a:lstStyle>
            <a:lvl1pPr>
              <a:defRPr sz="3500" b="1" i="0">
                <a:solidFill>
                  <a:srgbClr val="203044"/>
                </a:solidFill>
                <a:latin typeface="Aptos" panose="020B00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9EA046CA-16A5-A947-984D-F1318B6E42FC}"/>
              </a:ext>
            </a:extLst>
          </p:cNvPr>
          <p:cNvSpPr>
            <a:spLocks noGrp="1"/>
          </p:cNvSpPr>
          <p:nvPr>
            <p:ph sz="half" idx="1"/>
          </p:nvPr>
        </p:nvSpPr>
        <p:spPr>
          <a:xfrm>
            <a:off x="838200" y="1645920"/>
            <a:ext cx="5181600" cy="4562171"/>
          </a:xfrm>
        </p:spPr>
        <p:txBody>
          <a:bodyPr/>
          <a:lstStyle>
            <a:lvl1pPr>
              <a:defRPr b="0" i="0">
                <a:solidFill>
                  <a:srgbClr val="203044"/>
                </a:solidFill>
                <a:latin typeface="Aptos" panose="020B0004020202020204" pitchFamily="34" charset="0"/>
              </a:defRPr>
            </a:lvl1pPr>
            <a:lvl2pPr>
              <a:defRPr b="0" i="0">
                <a:solidFill>
                  <a:srgbClr val="203044"/>
                </a:solidFill>
                <a:latin typeface="Aptos" panose="020B0004020202020204" pitchFamily="34" charset="0"/>
              </a:defRPr>
            </a:lvl2pPr>
            <a:lvl3pPr>
              <a:defRPr b="0" i="0">
                <a:solidFill>
                  <a:srgbClr val="203044"/>
                </a:solidFill>
                <a:latin typeface="Aptos" panose="020B0004020202020204" pitchFamily="34" charset="0"/>
              </a:defRPr>
            </a:lvl3pPr>
            <a:lvl4pPr>
              <a:defRPr b="0" i="0">
                <a:solidFill>
                  <a:srgbClr val="203044"/>
                </a:solidFill>
                <a:latin typeface="Aptos" panose="020B0004020202020204" pitchFamily="34" charset="0"/>
              </a:defRPr>
            </a:lvl4pPr>
            <a:lvl5pPr>
              <a:defRPr b="0" i="0">
                <a:solidFill>
                  <a:srgbClr val="203044"/>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670588-B059-08DD-02E2-95C0709B390B}"/>
              </a:ext>
            </a:extLst>
          </p:cNvPr>
          <p:cNvSpPr>
            <a:spLocks noGrp="1"/>
          </p:cNvSpPr>
          <p:nvPr>
            <p:ph sz="half" idx="2"/>
          </p:nvPr>
        </p:nvSpPr>
        <p:spPr>
          <a:xfrm>
            <a:off x="6172200" y="1645920"/>
            <a:ext cx="5181600" cy="4562171"/>
          </a:xfrm>
        </p:spPr>
        <p:txBody>
          <a:bodyPr/>
          <a:lstStyle>
            <a:lvl1pPr>
              <a:defRPr b="0" i="0">
                <a:solidFill>
                  <a:srgbClr val="203044"/>
                </a:solidFill>
                <a:latin typeface="Aptos" panose="020B0004020202020204" pitchFamily="34" charset="0"/>
              </a:defRPr>
            </a:lvl1pPr>
            <a:lvl2pPr>
              <a:defRPr b="0" i="0">
                <a:solidFill>
                  <a:srgbClr val="203044"/>
                </a:solidFill>
                <a:latin typeface="Aptos" panose="020B0004020202020204" pitchFamily="34" charset="0"/>
              </a:defRPr>
            </a:lvl2pPr>
            <a:lvl3pPr>
              <a:defRPr b="0" i="0">
                <a:solidFill>
                  <a:srgbClr val="203044"/>
                </a:solidFill>
                <a:latin typeface="Aptos" panose="020B0004020202020204" pitchFamily="34" charset="0"/>
              </a:defRPr>
            </a:lvl3pPr>
            <a:lvl4pPr>
              <a:defRPr b="0" i="0">
                <a:solidFill>
                  <a:srgbClr val="203044"/>
                </a:solidFill>
                <a:latin typeface="Aptos" panose="020B0004020202020204" pitchFamily="34" charset="0"/>
              </a:defRPr>
            </a:lvl4pPr>
            <a:lvl5pPr>
              <a:defRPr b="0" i="0">
                <a:solidFill>
                  <a:srgbClr val="203044"/>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4495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Main Content, and Sideba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52912-EA62-F4DC-6CCB-52F2078D7829}"/>
              </a:ext>
            </a:extLst>
          </p:cNvPr>
          <p:cNvSpPr>
            <a:spLocks noGrp="1"/>
          </p:cNvSpPr>
          <p:nvPr>
            <p:ph type="title"/>
          </p:nvPr>
        </p:nvSpPr>
        <p:spPr>
          <a:xfrm>
            <a:off x="838200" y="365126"/>
            <a:ext cx="10515600" cy="1094024"/>
          </a:xfrm>
        </p:spPr>
        <p:txBody>
          <a:bodyPr/>
          <a:lstStyle>
            <a:lvl1pPr>
              <a:defRPr sz="3500" b="1" i="0">
                <a:solidFill>
                  <a:srgbClr val="203044"/>
                </a:solidFill>
                <a:latin typeface="Aptos" panose="020B0004020202020204"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53884D2-611F-7E9E-6AE7-C5FDB39D00E4}"/>
              </a:ext>
            </a:extLst>
          </p:cNvPr>
          <p:cNvSpPr>
            <a:spLocks noGrp="1"/>
          </p:cNvSpPr>
          <p:nvPr>
            <p:ph idx="1"/>
          </p:nvPr>
        </p:nvSpPr>
        <p:spPr>
          <a:xfrm>
            <a:off x="685800" y="1643974"/>
            <a:ext cx="7059168" cy="4532989"/>
          </a:xfrm>
        </p:spPr>
        <p:txBody>
          <a:bodyPr/>
          <a:lstStyle>
            <a:lvl1pPr>
              <a:lnSpc>
                <a:spcPct val="100000"/>
              </a:lnSpc>
              <a:defRPr>
                <a:solidFill>
                  <a:srgbClr val="203044"/>
                </a:solidFill>
                <a:latin typeface="Aptos" panose="020B0004020202020204" pitchFamily="34" charset="0"/>
              </a:defRPr>
            </a:lvl1pPr>
            <a:lvl2pPr>
              <a:lnSpc>
                <a:spcPct val="100000"/>
              </a:lnSpc>
              <a:defRPr>
                <a:solidFill>
                  <a:srgbClr val="203044"/>
                </a:solidFill>
                <a:latin typeface="Aptos" panose="020B0004020202020204" pitchFamily="34" charset="0"/>
              </a:defRPr>
            </a:lvl2pPr>
            <a:lvl3pPr>
              <a:lnSpc>
                <a:spcPct val="100000"/>
              </a:lnSpc>
              <a:defRPr>
                <a:solidFill>
                  <a:srgbClr val="203044"/>
                </a:solidFill>
                <a:latin typeface="Aptos" panose="020B0004020202020204" pitchFamily="34" charset="0"/>
              </a:defRPr>
            </a:lvl3pPr>
            <a:lvl4pPr>
              <a:lnSpc>
                <a:spcPct val="100000"/>
              </a:lnSpc>
              <a:defRPr>
                <a:solidFill>
                  <a:srgbClr val="203044"/>
                </a:solidFill>
                <a:latin typeface="Aptos" panose="020B0004020202020204" pitchFamily="34" charset="0"/>
              </a:defRPr>
            </a:lvl4pPr>
            <a:lvl5pPr>
              <a:lnSpc>
                <a:spcPct val="100000"/>
              </a:lnSpc>
              <a:defRPr>
                <a:solidFill>
                  <a:srgbClr val="203044"/>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B88F63CD-0756-4B27-52D6-71A7796E101E}"/>
              </a:ext>
            </a:extLst>
          </p:cNvPr>
          <p:cNvSpPr>
            <a:spLocks noGrp="1"/>
          </p:cNvSpPr>
          <p:nvPr>
            <p:ph sz="quarter" idx="10"/>
          </p:nvPr>
        </p:nvSpPr>
        <p:spPr>
          <a:xfrm>
            <a:off x="7976616" y="1643974"/>
            <a:ext cx="3529584" cy="4532989"/>
          </a:xfrm>
          <a:solidFill>
            <a:srgbClr val="E8EDF3"/>
          </a:solidFill>
          <a:ln>
            <a:noFill/>
          </a:ln>
        </p:spPr>
        <p:txBody>
          <a:bodyPr lIns="182880" tIns="182880" rIns="182880" bIns="182880" anchor="ctr"/>
          <a:lstStyle>
            <a:lvl1pPr algn="l">
              <a:defRPr b="0" i="0">
                <a:solidFill>
                  <a:srgbClr val="203044"/>
                </a:solidFill>
                <a:latin typeface="Aptos" panose="020B0004020202020204" pitchFamily="34" charset="0"/>
              </a:defRPr>
            </a:lvl1pPr>
            <a:lvl2pPr algn="l">
              <a:defRPr b="0" i="0">
                <a:solidFill>
                  <a:srgbClr val="203044"/>
                </a:solidFill>
                <a:latin typeface="Aptos" panose="020B0004020202020204" pitchFamily="34" charset="0"/>
              </a:defRPr>
            </a:lvl2pPr>
            <a:lvl3pPr algn="l">
              <a:defRPr b="0" i="0">
                <a:solidFill>
                  <a:srgbClr val="203044"/>
                </a:solidFill>
                <a:latin typeface="Aptos" panose="020B0004020202020204" pitchFamily="34" charset="0"/>
              </a:defRPr>
            </a:lvl3pPr>
            <a:lvl4pPr algn="l">
              <a:defRPr b="0" i="0">
                <a:solidFill>
                  <a:srgbClr val="203044"/>
                </a:solidFill>
                <a:latin typeface="Aptos" panose="020B0004020202020204" pitchFamily="34" charset="0"/>
              </a:defRPr>
            </a:lvl4pPr>
            <a:lvl5pPr algn="l">
              <a:defRPr b="0" i="0">
                <a:solidFill>
                  <a:srgbClr val="203044"/>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8874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Full-Width Medi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52912-EA62-F4DC-6CCB-52F2078D7829}"/>
              </a:ext>
            </a:extLst>
          </p:cNvPr>
          <p:cNvSpPr>
            <a:spLocks noGrp="1"/>
          </p:cNvSpPr>
          <p:nvPr>
            <p:ph type="title"/>
          </p:nvPr>
        </p:nvSpPr>
        <p:spPr>
          <a:xfrm>
            <a:off x="838200" y="365126"/>
            <a:ext cx="10515600" cy="1094024"/>
          </a:xfrm>
        </p:spPr>
        <p:txBody>
          <a:bodyPr/>
          <a:lstStyle>
            <a:lvl1pPr>
              <a:defRPr sz="3500" b="1" i="0">
                <a:solidFill>
                  <a:srgbClr val="203044"/>
                </a:solidFill>
                <a:latin typeface="Aptos" panose="020B0004020202020204"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53884D2-611F-7E9E-6AE7-C5FDB39D00E4}"/>
              </a:ext>
            </a:extLst>
          </p:cNvPr>
          <p:cNvSpPr>
            <a:spLocks noGrp="1"/>
          </p:cNvSpPr>
          <p:nvPr>
            <p:ph idx="1"/>
          </p:nvPr>
        </p:nvSpPr>
        <p:spPr>
          <a:xfrm>
            <a:off x="838200" y="1643974"/>
            <a:ext cx="10515600" cy="4533186"/>
          </a:xfrm>
        </p:spPr>
        <p:txBody>
          <a:bodyPr/>
          <a:lstStyle>
            <a:lvl1pPr>
              <a:lnSpc>
                <a:spcPct val="100000"/>
              </a:lnSpc>
              <a:defRPr>
                <a:solidFill>
                  <a:srgbClr val="203044"/>
                </a:solidFill>
                <a:latin typeface="Aptos" panose="020B0004020202020204" pitchFamily="34" charset="0"/>
              </a:defRPr>
            </a:lvl1pPr>
            <a:lvl2pPr>
              <a:lnSpc>
                <a:spcPct val="100000"/>
              </a:lnSpc>
              <a:defRPr>
                <a:solidFill>
                  <a:srgbClr val="203044"/>
                </a:solidFill>
                <a:latin typeface="Aptos" panose="020B0004020202020204" pitchFamily="34" charset="0"/>
              </a:defRPr>
            </a:lvl2pPr>
            <a:lvl3pPr>
              <a:lnSpc>
                <a:spcPct val="100000"/>
              </a:lnSpc>
              <a:defRPr>
                <a:solidFill>
                  <a:srgbClr val="203044"/>
                </a:solidFill>
                <a:latin typeface="Aptos" panose="020B0004020202020204" pitchFamily="34" charset="0"/>
              </a:defRPr>
            </a:lvl3pPr>
            <a:lvl4pPr>
              <a:lnSpc>
                <a:spcPct val="100000"/>
              </a:lnSpc>
              <a:defRPr>
                <a:solidFill>
                  <a:srgbClr val="203044"/>
                </a:solidFill>
                <a:latin typeface="Aptos" panose="020B0004020202020204" pitchFamily="34" charset="0"/>
              </a:defRPr>
            </a:lvl4pPr>
            <a:lvl5pPr>
              <a:lnSpc>
                <a:spcPct val="100000"/>
              </a:lnSpc>
              <a:defRPr>
                <a:solidFill>
                  <a:srgbClr val="203044"/>
                </a:solidFill>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9676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idden Titl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52912-EA62-F4DC-6CCB-52F2078D7829}"/>
              </a:ext>
            </a:extLst>
          </p:cNvPr>
          <p:cNvSpPr>
            <a:spLocks noGrp="1"/>
          </p:cNvSpPr>
          <p:nvPr>
            <p:ph type="title"/>
          </p:nvPr>
        </p:nvSpPr>
        <p:spPr/>
        <p:txBody>
          <a:bodyPr/>
          <a:lstStyle>
            <a:lvl1pPr>
              <a:defRPr sz="3500" b="1" i="0">
                <a:solidFill>
                  <a:schemeClr val="bg1"/>
                </a:solidFill>
                <a:latin typeface="Aptos" panose="020B000402020202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500653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791BD-70F5-F889-3449-9D9824AF80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BEC4EE3-23E3-5591-BA1D-D86B4C314F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72935692"/>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2783E-91A6-FDC6-2C00-8EBCE559AEBA}"/>
              </a:ext>
            </a:extLst>
          </p:cNvPr>
          <p:cNvSpPr>
            <a:spLocks noGrp="1"/>
          </p:cNvSpPr>
          <p:nvPr>
            <p:ph type="title"/>
          </p:nvPr>
        </p:nvSpPr>
        <p:spPr/>
        <p:txBody>
          <a:bodyPr/>
          <a:lstStyle/>
          <a:p>
            <a:r>
              <a:rPr lang="en-US" dirty="0"/>
              <a:t>Example: Objectives</a:t>
            </a:r>
          </a:p>
        </p:txBody>
      </p:sp>
      <p:sp>
        <p:nvSpPr>
          <p:cNvPr id="4" name="objective-dot-0">
            <a:extLst>
              <a:ext uri="{FF2B5EF4-FFF2-40B4-BE49-F238E27FC236}">
                <a16:creationId xmlns:a16="http://schemas.microsoft.com/office/drawing/2014/main" id="{C358B990-B50E-0D20-A3D2-2EDA88098C37}"/>
              </a:ext>
            </a:extLst>
          </p:cNvPr>
          <p:cNvSpPr>
            <a:spLocks/>
          </p:cNvSpPr>
          <p:nvPr/>
        </p:nvSpPr>
        <p:spPr>
          <a:xfrm>
            <a:off x="838200" y="1876619"/>
            <a:ext cx="456034" cy="456034"/>
          </a:xfrm>
          <a:prstGeom prst="ellipse">
            <a:avLst/>
          </a:prstGeom>
          <a:solidFill>
            <a:schemeClr val="accent2"/>
          </a:solidFill>
          <a:ln w="9525">
            <a:noFill/>
            <a:prstDash val="solid"/>
          </a:ln>
        </p:spPr>
        <p:txBody>
          <a:bodyPr anchor="ctr"/>
          <a:lstStyle/>
          <a:p>
            <a:pPr algn="ctr">
              <a:buNone/>
            </a:pPr>
            <a:r>
              <a:rPr lang="en-US" dirty="0"/>
              <a:t>1</a:t>
            </a:r>
          </a:p>
        </p:txBody>
      </p:sp>
      <p:sp>
        <p:nvSpPr>
          <p:cNvPr id="8" name="TextBox 7">
            <a:extLst>
              <a:ext uri="{FF2B5EF4-FFF2-40B4-BE49-F238E27FC236}">
                <a16:creationId xmlns:a16="http://schemas.microsoft.com/office/drawing/2014/main" id="{DD288BD4-7A8C-FF7F-316D-DD14A2550F81}"/>
              </a:ext>
            </a:extLst>
          </p:cNvPr>
          <p:cNvSpPr txBox="1"/>
          <p:nvPr/>
        </p:nvSpPr>
        <p:spPr>
          <a:xfrm>
            <a:off x="1478183" y="1919970"/>
            <a:ext cx="4770217" cy="369332"/>
          </a:xfrm>
          <a:prstGeom prst="rect">
            <a:avLst/>
          </a:prstGeom>
          <a:noFill/>
        </p:spPr>
        <p:txBody>
          <a:bodyPr wrap="square" rtlCol="0" anchor="ctr">
            <a:spAutoFit/>
          </a:bodyPr>
          <a:lstStyle/>
          <a:p>
            <a:r>
              <a:rPr lang="en-US" dirty="0"/>
              <a:t>Get acquainted with each other</a:t>
            </a:r>
          </a:p>
        </p:txBody>
      </p:sp>
      <p:sp>
        <p:nvSpPr>
          <p:cNvPr id="11" name="objective-dot-0">
            <a:extLst>
              <a:ext uri="{FF2B5EF4-FFF2-40B4-BE49-F238E27FC236}">
                <a16:creationId xmlns:a16="http://schemas.microsoft.com/office/drawing/2014/main" id="{42B0256C-758B-2314-F6B7-2ED56827FD82}"/>
              </a:ext>
            </a:extLst>
          </p:cNvPr>
          <p:cNvSpPr>
            <a:spLocks/>
          </p:cNvSpPr>
          <p:nvPr/>
        </p:nvSpPr>
        <p:spPr>
          <a:xfrm>
            <a:off x="838200" y="3218636"/>
            <a:ext cx="456034" cy="456034"/>
          </a:xfrm>
          <a:prstGeom prst="ellipse">
            <a:avLst/>
          </a:prstGeom>
          <a:solidFill>
            <a:schemeClr val="accent2"/>
          </a:solidFill>
          <a:ln w="9525">
            <a:noFill/>
            <a:prstDash val="solid"/>
          </a:ln>
        </p:spPr>
        <p:txBody>
          <a:bodyPr anchor="ctr"/>
          <a:lstStyle/>
          <a:p>
            <a:pPr algn="ctr">
              <a:buNone/>
            </a:pPr>
            <a:r>
              <a:rPr lang="en-US" dirty="0"/>
              <a:t>2</a:t>
            </a:r>
          </a:p>
        </p:txBody>
      </p:sp>
      <p:sp>
        <p:nvSpPr>
          <p:cNvPr id="12" name="TextBox 11">
            <a:extLst>
              <a:ext uri="{FF2B5EF4-FFF2-40B4-BE49-F238E27FC236}">
                <a16:creationId xmlns:a16="http://schemas.microsoft.com/office/drawing/2014/main" id="{8BAED077-0C98-A00A-6F9F-D7E66B8CF848}"/>
              </a:ext>
            </a:extLst>
          </p:cNvPr>
          <p:cNvSpPr txBox="1"/>
          <p:nvPr/>
        </p:nvSpPr>
        <p:spPr>
          <a:xfrm>
            <a:off x="1478183" y="2984989"/>
            <a:ext cx="5491784" cy="923330"/>
          </a:xfrm>
          <a:prstGeom prst="rect">
            <a:avLst/>
          </a:prstGeom>
          <a:noFill/>
        </p:spPr>
        <p:txBody>
          <a:bodyPr wrap="square" rtlCol="0" anchor="ctr">
            <a:spAutoFit/>
          </a:bodyPr>
          <a:lstStyle/>
          <a:p>
            <a:pPr lvl="0"/>
            <a:r>
              <a:rPr lang="en-US" dirty="0"/>
              <a:t>Become familiar with the syllabus</a:t>
            </a:r>
          </a:p>
          <a:p>
            <a:pPr lvl="0"/>
            <a:r>
              <a:rPr lang="en-US" dirty="0"/>
              <a:t>Mark important dates</a:t>
            </a:r>
          </a:p>
          <a:p>
            <a:pPr lvl="0"/>
            <a:r>
              <a:rPr lang="en-US" dirty="0"/>
              <a:t>Understand the assignments</a:t>
            </a:r>
          </a:p>
        </p:txBody>
      </p:sp>
      <p:sp>
        <p:nvSpPr>
          <p:cNvPr id="17" name="objective-dot-0">
            <a:extLst>
              <a:ext uri="{FF2B5EF4-FFF2-40B4-BE49-F238E27FC236}">
                <a16:creationId xmlns:a16="http://schemas.microsoft.com/office/drawing/2014/main" id="{B6639958-7382-396C-055A-2C22ED11291B}"/>
              </a:ext>
            </a:extLst>
          </p:cNvPr>
          <p:cNvSpPr>
            <a:spLocks/>
          </p:cNvSpPr>
          <p:nvPr/>
        </p:nvSpPr>
        <p:spPr>
          <a:xfrm>
            <a:off x="838200" y="4560654"/>
            <a:ext cx="456034" cy="456034"/>
          </a:xfrm>
          <a:prstGeom prst="ellipse">
            <a:avLst/>
          </a:prstGeom>
          <a:solidFill>
            <a:schemeClr val="accent2"/>
          </a:solidFill>
          <a:ln w="9525">
            <a:noFill/>
            <a:prstDash val="solid"/>
          </a:ln>
        </p:spPr>
        <p:txBody>
          <a:bodyPr anchor="ctr"/>
          <a:lstStyle/>
          <a:p>
            <a:pPr algn="ctr">
              <a:buNone/>
            </a:pPr>
            <a:r>
              <a:rPr lang="en-US" dirty="0"/>
              <a:t>3</a:t>
            </a:r>
          </a:p>
        </p:txBody>
      </p:sp>
      <p:sp>
        <p:nvSpPr>
          <p:cNvPr id="18" name="TextBox 17">
            <a:extLst>
              <a:ext uri="{FF2B5EF4-FFF2-40B4-BE49-F238E27FC236}">
                <a16:creationId xmlns:a16="http://schemas.microsoft.com/office/drawing/2014/main" id="{1C4F3344-E378-0822-2895-3109E6E65B65}"/>
              </a:ext>
            </a:extLst>
          </p:cNvPr>
          <p:cNvSpPr txBox="1"/>
          <p:nvPr/>
        </p:nvSpPr>
        <p:spPr>
          <a:xfrm>
            <a:off x="1478182" y="4604005"/>
            <a:ext cx="6266226" cy="369332"/>
          </a:xfrm>
          <a:prstGeom prst="rect">
            <a:avLst/>
          </a:prstGeom>
          <a:noFill/>
        </p:spPr>
        <p:txBody>
          <a:bodyPr wrap="square" rtlCol="0" anchor="ctr">
            <a:spAutoFit/>
          </a:bodyPr>
          <a:lstStyle/>
          <a:p>
            <a:pPr lvl="0"/>
            <a:r>
              <a:rPr lang="en-US" dirty="0"/>
              <a:t>Be ready to share one conclusion and the evidence behind it.</a:t>
            </a:r>
          </a:p>
        </p:txBody>
      </p:sp>
    </p:spTree>
    <p:extLst>
      <p:ext uri="{BB962C8B-B14F-4D97-AF65-F5344CB8AC3E}">
        <p14:creationId xmlns:p14="http://schemas.microsoft.com/office/powerpoint/2010/main" val="3416104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8FE7A-0B9F-65F6-E625-B791412A4D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E6DF34-B04B-6160-69FB-40D6E5B22CF1}"/>
              </a:ext>
            </a:extLst>
          </p:cNvPr>
          <p:cNvSpPr>
            <a:spLocks noGrp="1"/>
          </p:cNvSpPr>
          <p:nvPr>
            <p:ph type="title"/>
          </p:nvPr>
        </p:nvSpPr>
        <p:spPr/>
        <p:txBody>
          <a:bodyPr/>
          <a:lstStyle/>
          <a:p>
            <a:r>
              <a:rPr lang="en-US" dirty="0"/>
              <a:t>Example: Numbered Activity Instructions</a:t>
            </a:r>
          </a:p>
        </p:txBody>
      </p:sp>
      <p:sp>
        <p:nvSpPr>
          <p:cNvPr id="4" name="objective-dot-0">
            <a:extLst>
              <a:ext uri="{FF2B5EF4-FFF2-40B4-BE49-F238E27FC236}">
                <a16:creationId xmlns:a16="http://schemas.microsoft.com/office/drawing/2014/main" id="{7D0597C8-D726-7B06-0A64-EB39248D2E9B}"/>
              </a:ext>
            </a:extLst>
          </p:cNvPr>
          <p:cNvSpPr>
            <a:spLocks/>
          </p:cNvSpPr>
          <p:nvPr/>
        </p:nvSpPr>
        <p:spPr>
          <a:xfrm>
            <a:off x="838200" y="1876619"/>
            <a:ext cx="456034" cy="456034"/>
          </a:xfrm>
          <a:prstGeom prst="ellipse">
            <a:avLst/>
          </a:prstGeom>
          <a:solidFill>
            <a:srgbClr val="4E5F71"/>
          </a:solidFill>
          <a:ln w="9525">
            <a:noFill/>
            <a:prstDash val="solid"/>
          </a:ln>
        </p:spPr>
        <p:txBody>
          <a:bodyPr anchor="ctr"/>
          <a:lstStyle/>
          <a:p>
            <a:pPr algn="ctr">
              <a:buNone/>
            </a:pPr>
            <a:r>
              <a:rPr dirty="0">
                <a:solidFill>
                  <a:schemeClr val="bg1"/>
                </a:solidFill>
              </a:rPr>
              <a:t>1</a:t>
            </a:r>
          </a:p>
        </p:txBody>
      </p:sp>
      <p:sp>
        <p:nvSpPr>
          <p:cNvPr id="8" name="TextBox 7">
            <a:extLst>
              <a:ext uri="{FF2B5EF4-FFF2-40B4-BE49-F238E27FC236}">
                <a16:creationId xmlns:a16="http://schemas.microsoft.com/office/drawing/2014/main" id="{7ABC0D08-5A17-3562-0A2F-24EA1909F3A3}"/>
              </a:ext>
            </a:extLst>
          </p:cNvPr>
          <p:cNvSpPr txBox="1"/>
          <p:nvPr/>
        </p:nvSpPr>
        <p:spPr>
          <a:xfrm>
            <a:off x="1478183" y="1919970"/>
            <a:ext cx="4770217" cy="369332"/>
          </a:xfrm>
          <a:prstGeom prst="rect">
            <a:avLst/>
          </a:prstGeom>
          <a:noFill/>
        </p:spPr>
        <p:txBody>
          <a:bodyPr wrap="square" rtlCol="0" anchor="ctr">
            <a:spAutoFit/>
          </a:bodyPr>
          <a:lstStyle/>
          <a:p>
            <a:r>
              <a:rPr lang="en-US" dirty="0"/>
              <a:t>Read the prompt and identify the key decision.</a:t>
            </a:r>
          </a:p>
        </p:txBody>
      </p:sp>
      <p:sp>
        <p:nvSpPr>
          <p:cNvPr id="11" name="objective-dot-0">
            <a:extLst>
              <a:ext uri="{FF2B5EF4-FFF2-40B4-BE49-F238E27FC236}">
                <a16:creationId xmlns:a16="http://schemas.microsoft.com/office/drawing/2014/main" id="{E376FF06-CD56-91F9-43A1-279948156E48}"/>
              </a:ext>
            </a:extLst>
          </p:cNvPr>
          <p:cNvSpPr>
            <a:spLocks/>
          </p:cNvSpPr>
          <p:nvPr/>
        </p:nvSpPr>
        <p:spPr>
          <a:xfrm>
            <a:off x="838200" y="2781884"/>
            <a:ext cx="456034" cy="456034"/>
          </a:xfrm>
          <a:prstGeom prst="ellipse">
            <a:avLst/>
          </a:prstGeom>
          <a:solidFill>
            <a:srgbClr val="4E5F71"/>
          </a:solidFill>
          <a:ln w="9525">
            <a:noFill/>
            <a:prstDash val="solid"/>
          </a:ln>
        </p:spPr>
        <p:txBody>
          <a:bodyPr anchor="ctr"/>
          <a:lstStyle/>
          <a:p>
            <a:pPr algn="ctr">
              <a:buNone/>
            </a:pPr>
            <a:r>
              <a:rPr lang="en-US" dirty="0">
                <a:solidFill>
                  <a:schemeClr val="bg1"/>
                </a:solidFill>
              </a:rPr>
              <a:t>2</a:t>
            </a:r>
            <a:endParaRPr dirty="0">
              <a:solidFill>
                <a:schemeClr val="bg1"/>
              </a:solidFill>
            </a:endParaRPr>
          </a:p>
        </p:txBody>
      </p:sp>
      <p:sp>
        <p:nvSpPr>
          <p:cNvPr id="12" name="TextBox 11">
            <a:extLst>
              <a:ext uri="{FF2B5EF4-FFF2-40B4-BE49-F238E27FC236}">
                <a16:creationId xmlns:a16="http://schemas.microsoft.com/office/drawing/2014/main" id="{54C96AC1-C4E5-FC1E-AA58-840C26FC3BF2}"/>
              </a:ext>
            </a:extLst>
          </p:cNvPr>
          <p:cNvSpPr txBox="1"/>
          <p:nvPr/>
        </p:nvSpPr>
        <p:spPr>
          <a:xfrm>
            <a:off x="1478183" y="2825235"/>
            <a:ext cx="5491784" cy="369332"/>
          </a:xfrm>
          <a:prstGeom prst="rect">
            <a:avLst/>
          </a:prstGeom>
          <a:noFill/>
        </p:spPr>
        <p:txBody>
          <a:bodyPr wrap="square" rtlCol="0" anchor="ctr">
            <a:spAutoFit/>
          </a:bodyPr>
          <a:lstStyle/>
          <a:p>
            <a:pPr lvl="0"/>
            <a:r>
              <a:rPr lang="en-US" dirty="0"/>
              <a:t>Discuss your reasoning with a partner or small group.</a:t>
            </a:r>
          </a:p>
        </p:txBody>
      </p:sp>
      <p:sp>
        <p:nvSpPr>
          <p:cNvPr id="17" name="objective-dot-0">
            <a:extLst>
              <a:ext uri="{FF2B5EF4-FFF2-40B4-BE49-F238E27FC236}">
                <a16:creationId xmlns:a16="http://schemas.microsoft.com/office/drawing/2014/main" id="{03C592C4-D485-03B5-6EC3-464A4695FE3D}"/>
              </a:ext>
            </a:extLst>
          </p:cNvPr>
          <p:cNvSpPr>
            <a:spLocks/>
          </p:cNvSpPr>
          <p:nvPr/>
        </p:nvSpPr>
        <p:spPr>
          <a:xfrm>
            <a:off x="838200" y="3687148"/>
            <a:ext cx="456034" cy="456034"/>
          </a:xfrm>
          <a:prstGeom prst="ellipse">
            <a:avLst/>
          </a:prstGeom>
          <a:solidFill>
            <a:srgbClr val="4E5F71"/>
          </a:solidFill>
          <a:ln w="9525">
            <a:noFill/>
            <a:prstDash val="solid"/>
          </a:ln>
        </p:spPr>
        <p:txBody>
          <a:bodyPr anchor="ctr"/>
          <a:lstStyle/>
          <a:p>
            <a:pPr algn="ctr">
              <a:buNone/>
            </a:pPr>
            <a:r>
              <a:rPr lang="en-US" dirty="0">
                <a:solidFill>
                  <a:schemeClr val="bg1"/>
                </a:solidFill>
              </a:rPr>
              <a:t>3</a:t>
            </a:r>
            <a:endParaRPr dirty="0">
              <a:solidFill>
                <a:schemeClr val="bg1"/>
              </a:solidFill>
            </a:endParaRPr>
          </a:p>
        </p:txBody>
      </p:sp>
      <p:sp>
        <p:nvSpPr>
          <p:cNvPr id="18" name="TextBox 17">
            <a:extLst>
              <a:ext uri="{FF2B5EF4-FFF2-40B4-BE49-F238E27FC236}">
                <a16:creationId xmlns:a16="http://schemas.microsoft.com/office/drawing/2014/main" id="{AE5CFA63-DF1C-B6A0-BA8D-03726DFB3959}"/>
              </a:ext>
            </a:extLst>
          </p:cNvPr>
          <p:cNvSpPr txBox="1"/>
          <p:nvPr/>
        </p:nvSpPr>
        <p:spPr>
          <a:xfrm>
            <a:off x="1478182" y="3730499"/>
            <a:ext cx="6266226" cy="369332"/>
          </a:xfrm>
          <a:prstGeom prst="rect">
            <a:avLst/>
          </a:prstGeom>
          <a:noFill/>
        </p:spPr>
        <p:txBody>
          <a:bodyPr wrap="square" rtlCol="0" anchor="ctr">
            <a:spAutoFit/>
          </a:bodyPr>
          <a:lstStyle/>
          <a:p>
            <a:pPr lvl="0"/>
            <a:r>
              <a:rPr lang="en-US" dirty="0"/>
              <a:t>Be ready to share one conclusion and the evidence behind it.</a:t>
            </a:r>
          </a:p>
        </p:txBody>
      </p:sp>
    </p:spTree>
    <p:extLst>
      <p:ext uri="{BB962C8B-B14F-4D97-AF65-F5344CB8AC3E}">
        <p14:creationId xmlns:p14="http://schemas.microsoft.com/office/powerpoint/2010/main" val="13632520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0ED7B-D8C3-E2BD-11E8-CD0F064C5F06}"/>
              </a:ext>
            </a:extLst>
          </p:cNvPr>
          <p:cNvSpPr>
            <a:spLocks noGrp="1"/>
          </p:cNvSpPr>
          <p:nvPr>
            <p:ph type="title"/>
          </p:nvPr>
        </p:nvSpPr>
        <p:spPr/>
        <p:txBody>
          <a:bodyPr/>
          <a:lstStyle/>
          <a:p>
            <a:r>
              <a:rPr lang="en-US"/>
              <a:t>Example: Prompt and Outcome Callout</a:t>
            </a:r>
            <a:endParaRPr lang="en-US" dirty="0"/>
          </a:p>
        </p:txBody>
      </p:sp>
      <p:sp>
        <p:nvSpPr>
          <p:cNvPr id="3" name="Content Placeholder 2">
            <a:extLst>
              <a:ext uri="{FF2B5EF4-FFF2-40B4-BE49-F238E27FC236}">
                <a16:creationId xmlns:a16="http://schemas.microsoft.com/office/drawing/2014/main" id="{326F5E6A-E8AA-FBF3-4513-181508F2E60D}"/>
              </a:ext>
            </a:extLst>
          </p:cNvPr>
          <p:cNvSpPr>
            <a:spLocks noGrp="1"/>
          </p:cNvSpPr>
          <p:nvPr>
            <p:ph idx="1"/>
          </p:nvPr>
        </p:nvSpPr>
        <p:spPr/>
        <p:txBody>
          <a:bodyPr/>
          <a:lstStyle/>
          <a:p>
            <a:pPr marL="0" indent="0">
              <a:buNone/>
            </a:pPr>
            <a:r>
              <a:rPr lang="en-US" b="1" dirty="0"/>
              <a:t>Prompt</a:t>
            </a:r>
            <a:br>
              <a:rPr lang="en-US" dirty="0"/>
            </a:br>
            <a:r>
              <a:rPr lang="en-US" dirty="0"/>
              <a:t>Using the study scenario, identify the exposure, outcome, and comparison you would need to estimate an association.</a:t>
            </a:r>
          </a:p>
        </p:txBody>
      </p:sp>
      <p:sp>
        <p:nvSpPr>
          <p:cNvPr id="4" name="Content Placeholder 3">
            <a:extLst>
              <a:ext uri="{FF2B5EF4-FFF2-40B4-BE49-F238E27FC236}">
                <a16:creationId xmlns:a16="http://schemas.microsoft.com/office/drawing/2014/main" id="{EF6D9344-2ED3-1898-7E6C-A05BC6DABE41}"/>
              </a:ext>
            </a:extLst>
          </p:cNvPr>
          <p:cNvSpPr>
            <a:spLocks noGrp="1"/>
          </p:cNvSpPr>
          <p:nvPr>
            <p:ph sz="quarter" idx="10"/>
          </p:nvPr>
        </p:nvSpPr>
        <p:spPr/>
        <p:txBody>
          <a:bodyPr>
            <a:normAutofit/>
          </a:bodyPr>
          <a:lstStyle/>
          <a:p>
            <a:pPr marL="0" indent="0">
              <a:buNone/>
            </a:pPr>
            <a:r>
              <a:rPr lang="en-US" b="1" dirty="0"/>
              <a:t>Expected outcome</a:t>
            </a:r>
            <a:br>
              <a:rPr lang="en-US" dirty="0"/>
            </a:br>
            <a:r>
              <a:rPr lang="en-US" dirty="0"/>
              <a:t>Be ready to name:</a:t>
            </a:r>
          </a:p>
          <a:p>
            <a:pPr lvl="0"/>
            <a:r>
              <a:rPr lang="en-US" sz="2400" dirty="0"/>
              <a:t>A plausible exposure</a:t>
            </a:r>
          </a:p>
          <a:p>
            <a:pPr lvl="0"/>
            <a:r>
              <a:rPr lang="en-US" sz="2400" dirty="0"/>
              <a:t>A plausible outcome</a:t>
            </a:r>
          </a:p>
          <a:p>
            <a:pPr lvl="0"/>
            <a:r>
              <a:rPr lang="en-US" sz="2400" dirty="0"/>
              <a:t>The comparison group</a:t>
            </a:r>
          </a:p>
          <a:p>
            <a:pPr lvl="0"/>
            <a:r>
              <a:rPr lang="en-US" sz="2400" dirty="0"/>
              <a:t>One question your group would need to resolve</a:t>
            </a:r>
          </a:p>
        </p:txBody>
      </p:sp>
    </p:spTree>
    <p:extLst>
      <p:ext uri="{BB962C8B-B14F-4D97-AF65-F5344CB8AC3E}">
        <p14:creationId xmlns:p14="http://schemas.microsoft.com/office/powerpoint/2010/main" val="178446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 Same Side Corner Rectangle 7">
            <a:extLst>
              <a:ext uri="{FF2B5EF4-FFF2-40B4-BE49-F238E27FC236}">
                <a16:creationId xmlns:a16="http://schemas.microsoft.com/office/drawing/2014/main" id="{0C4A77B3-66D9-3EBA-13E0-0D85D724180D}"/>
              </a:ext>
              <a:ext uri="{C183D7F6-B498-43B3-948B-1728B52AA6E4}">
                <adec:decorative xmlns:adec="http://schemas.microsoft.com/office/drawing/2017/decorative" val="1"/>
              </a:ext>
            </a:extLst>
          </p:cNvPr>
          <p:cNvSpPr/>
          <p:nvPr/>
        </p:nvSpPr>
        <p:spPr>
          <a:xfrm rot="10800000">
            <a:off x="6288024" y="1783080"/>
            <a:ext cx="5227320" cy="3072384"/>
          </a:xfrm>
          <a:prstGeom prst="round2SameRect">
            <a:avLst/>
          </a:prstGeom>
          <a:solidFill>
            <a:schemeClr val="bg2">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 Same Side Corner Rectangle 6">
            <a:extLst>
              <a:ext uri="{FF2B5EF4-FFF2-40B4-BE49-F238E27FC236}">
                <a16:creationId xmlns:a16="http://schemas.microsoft.com/office/drawing/2014/main" id="{B80B8A81-455A-467E-940F-646E9259D7FA}"/>
              </a:ext>
              <a:ext uri="{C183D7F6-B498-43B3-948B-1728B52AA6E4}">
                <adec:decorative xmlns:adec="http://schemas.microsoft.com/office/drawing/2017/decorative" val="1"/>
              </a:ext>
            </a:extLst>
          </p:cNvPr>
          <p:cNvSpPr/>
          <p:nvPr/>
        </p:nvSpPr>
        <p:spPr>
          <a:xfrm rot="10800000">
            <a:off x="679704" y="1783080"/>
            <a:ext cx="5227320" cy="3072384"/>
          </a:xfrm>
          <a:prstGeom prst="round2SameRect">
            <a:avLst/>
          </a:prstGeom>
          <a:solidFill>
            <a:schemeClr val="bg2">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D39651-534E-09DA-7BC0-3590C80DE169}"/>
              </a:ext>
            </a:extLst>
          </p:cNvPr>
          <p:cNvSpPr>
            <a:spLocks noGrp="1"/>
          </p:cNvSpPr>
          <p:nvPr>
            <p:ph type="title"/>
          </p:nvPr>
        </p:nvSpPr>
        <p:spPr/>
        <p:txBody>
          <a:bodyPr/>
          <a:lstStyle/>
          <a:p>
            <a:r>
              <a:rPr lang="en-US" dirty="0"/>
              <a:t>Example: Two-Panel Comparison</a:t>
            </a:r>
          </a:p>
        </p:txBody>
      </p:sp>
      <p:sp>
        <p:nvSpPr>
          <p:cNvPr id="9" name="Rectangle 8">
            <a:extLst>
              <a:ext uri="{FF2B5EF4-FFF2-40B4-BE49-F238E27FC236}">
                <a16:creationId xmlns:a16="http://schemas.microsoft.com/office/drawing/2014/main" id="{B9E2C057-D576-037A-29B2-EB0E4670F036}"/>
              </a:ext>
              <a:ext uri="{C183D7F6-B498-43B3-948B-1728B52AA6E4}">
                <adec:decorative xmlns:adec="http://schemas.microsoft.com/office/drawing/2017/decorative" val="1"/>
              </a:ext>
            </a:extLst>
          </p:cNvPr>
          <p:cNvSpPr/>
          <p:nvPr/>
        </p:nvSpPr>
        <p:spPr>
          <a:xfrm>
            <a:off x="676657" y="1783080"/>
            <a:ext cx="5230368" cy="7315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F04F396-0EB2-29CD-841A-729B6BDCA85D}"/>
              </a:ext>
              <a:ext uri="{C183D7F6-B498-43B3-948B-1728B52AA6E4}">
                <adec:decorative xmlns:adec="http://schemas.microsoft.com/office/drawing/2017/decorative" val="1"/>
              </a:ext>
            </a:extLst>
          </p:cNvPr>
          <p:cNvSpPr/>
          <p:nvPr/>
        </p:nvSpPr>
        <p:spPr>
          <a:xfrm>
            <a:off x="6288023" y="1783080"/>
            <a:ext cx="5230368" cy="7315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DD19E3D-EA74-1092-165F-8CBA63CEF474}"/>
              </a:ext>
            </a:extLst>
          </p:cNvPr>
          <p:cNvSpPr txBox="1"/>
          <p:nvPr/>
        </p:nvSpPr>
        <p:spPr>
          <a:xfrm>
            <a:off x="673609" y="2296367"/>
            <a:ext cx="5230368" cy="369332"/>
          </a:xfrm>
          <a:prstGeom prst="rect">
            <a:avLst/>
          </a:prstGeom>
          <a:noFill/>
        </p:spPr>
        <p:txBody>
          <a:bodyPr wrap="square" rtlCol="0">
            <a:spAutoFit/>
          </a:bodyPr>
          <a:lstStyle/>
          <a:p>
            <a:r>
              <a:rPr lang="en-US" dirty="0">
                <a:solidFill>
                  <a:srgbClr val="6C757D"/>
                </a:solidFill>
              </a:rPr>
              <a:t>Concept A</a:t>
            </a:r>
          </a:p>
        </p:txBody>
      </p:sp>
      <p:sp>
        <p:nvSpPr>
          <p:cNvPr id="14" name="TextBox 13">
            <a:extLst>
              <a:ext uri="{FF2B5EF4-FFF2-40B4-BE49-F238E27FC236}">
                <a16:creationId xmlns:a16="http://schemas.microsoft.com/office/drawing/2014/main" id="{B7E8B2A9-BA19-63D5-2D98-7D689A75C834}"/>
              </a:ext>
            </a:extLst>
          </p:cNvPr>
          <p:cNvSpPr txBox="1"/>
          <p:nvPr/>
        </p:nvSpPr>
        <p:spPr>
          <a:xfrm>
            <a:off x="673609" y="3105834"/>
            <a:ext cx="5230368" cy="646331"/>
          </a:xfrm>
          <a:prstGeom prst="rect">
            <a:avLst/>
          </a:prstGeom>
          <a:noFill/>
        </p:spPr>
        <p:txBody>
          <a:bodyPr wrap="square" rtlCol="0">
            <a:spAutoFit/>
          </a:bodyPr>
          <a:lstStyle/>
          <a:p>
            <a:r>
              <a:rPr lang="en-US" dirty="0">
                <a:solidFill>
                  <a:srgbClr val="203044"/>
                </a:solidFill>
              </a:rPr>
              <a:t>Describe the first concept, approach, or option.</a:t>
            </a:r>
            <a:br>
              <a:rPr lang="en-US" dirty="0">
                <a:solidFill>
                  <a:srgbClr val="203044"/>
                </a:solidFill>
              </a:rPr>
            </a:br>
            <a:r>
              <a:rPr lang="en-US" dirty="0">
                <a:solidFill>
                  <a:srgbClr val="203044"/>
                </a:solidFill>
              </a:rPr>
              <a:t>Add a short implication, strength, or limitation.</a:t>
            </a:r>
          </a:p>
        </p:txBody>
      </p:sp>
      <p:sp>
        <p:nvSpPr>
          <p:cNvPr id="15" name="TextBox 14">
            <a:extLst>
              <a:ext uri="{FF2B5EF4-FFF2-40B4-BE49-F238E27FC236}">
                <a16:creationId xmlns:a16="http://schemas.microsoft.com/office/drawing/2014/main" id="{B948B59D-1D2E-CB77-1C63-7ABD68CB7158}"/>
              </a:ext>
            </a:extLst>
          </p:cNvPr>
          <p:cNvSpPr txBox="1"/>
          <p:nvPr/>
        </p:nvSpPr>
        <p:spPr>
          <a:xfrm>
            <a:off x="6284978" y="2296367"/>
            <a:ext cx="5230368" cy="369332"/>
          </a:xfrm>
          <a:prstGeom prst="rect">
            <a:avLst/>
          </a:prstGeom>
          <a:noFill/>
        </p:spPr>
        <p:txBody>
          <a:bodyPr wrap="square" rtlCol="0">
            <a:spAutoFit/>
          </a:bodyPr>
          <a:lstStyle/>
          <a:p>
            <a:r>
              <a:rPr lang="en-US" dirty="0">
                <a:solidFill>
                  <a:srgbClr val="6C757D"/>
                </a:solidFill>
              </a:rPr>
              <a:t>Concept B</a:t>
            </a:r>
          </a:p>
        </p:txBody>
      </p:sp>
      <p:sp>
        <p:nvSpPr>
          <p:cNvPr id="16" name="TextBox 15">
            <a:extLst>
              <a:ext uri="{FF2B5EF4-FFF2-40B4-BE49-F238E27FC236}">
                <a16:creationId xmlns:a16="http://schemas.microsoft.com/office/drawing/2014/main" id="{7CACCB42-57A1-B940-750A-44FF5E456FB0}"/>
              </a:ext>
            </a:extLst>
          </p:cNvPr>
          <p:cNvSpPr txBox="1"/>
          <p:nvPr/>
        </p:nvSpPr>
        <p:spPr>
          <a:xfrm>
            <a:off x="6284978" y="3105834"/>
            <a:ext cx="5230368" cy="646331"/>
          </a:xfrm>
          <a:prstGeom prst="rect">
            <a:avLst/>
          </a:prstGeom>
          <a:noFill/>
        </p:spPr>
        <p:txBody>
          <a:bodyPr wrap="square" rtlCol="0">
            <a:spAutoFit/>
          </a:bodyPr>
          <a:lstStyle/>
          <a:p>
            <a:r>
              <a:rPr lang="en-US" dirty="0">
                <a:solidFill>
                  <a:srgbClr val="203044"/>
                </a:solidFill>
              </a:rPr>
              <a:t>Describe the second concept, approach, or option.</a:t>
            </a:r>
            <a:br>
              <a:rPr lang="en-US" dirty="0">
                <a:solidFill>
                  <a:srgbClr val="203044"/>
                </a:solidFill>
              </a:rPr>
            </a:br>
            <a:r>
              <a:rPr lang="en-US" dirty="0">
                <a:solidFill>
                  <a:srgbClr val="203044"/>
                </a:solidFill>
              </a:rPr>
              <a:t>Add a short implication, strength, or limitation.</a:t>
            </a:r>
          </a:p>
        </p:txBody>
      </p:sp>
    </p:spTree>
    <p:extLst>
      <p:ext uri="{BB962C8B-B14F-4D97-AF65-F5344CB8AC3E}">
        <p14:creationId xmlns:p14="http://schemas.microsoft.com/office/powerpoint/2010/main" val="1393989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ACE26-C346-ACCF-F354-938C9259BD17}"/>
              </a:ext>
            </a:extLst>
          </p:cNvPr>
          <p:cNvSpPr>
            <a:spLocks noGrp="1"/>
          </p:cNvSpPr>
          <p:nvPr>
            <p:ph type="title"/>
          </p:nvPr>
        </p:nvSpPr>
        <p:spPr>
          <a:xfrm>
            <a:off x="838200" y="365126"/>
            <a:ext cx="6177224" cy="1094024"/>
          </a:xfrm>
        </p:spPr>
        <p:txBody>
          <a:bodyPr/>
          <a:lstStyle/>
          <a:p>
            <a:r>
              <a:rPr lang="en-US" dirty="0"/>
              <a:t>Example: Image-Supported Profile or Explanation</a:t>
            </a:r>
          </a:p>
        </p:txBody>
      </p:sp>
      <p:sp>
        <p:nvSpPr>
          <p:cNvPr id="3" name="Content Placeholder 2">
            <a:extLst>
              <a:ext uri="{FF2B5EF4-FFF2-40B4-BE49-F238E27FC236}">
                <a16:creationId xmlns:a16="http://schemas.microsoft.com/office/drawing/2014/main" id="{C14C883A-64C9-B1F4-B9C9-F030800C911A}"/>
              </a:ext>
            </a:extLst>
          </p:cNvPr>
          <p:cNvSpPr>
            <a:spLocks noGrp="1"/>
          </p:cNvSpPr>
          <p:nvPr>
            <p:ph idx="1"/>
          </p:nvPr>
        </p:nvSpPr>
        <p:spPr>
          <a:xfrm>
            <a:off x="685800" y="1643974"/>
            <a:ext cx="6177224" cy="4532989"/>
          </a:xfrm>
        </p:spPr>
        <p:txBody>
          <a:bodyPr/>
          <a:lstStyle/>
          <a:p>
            <a:r>
              <a:rPr lang="en-US" dirty="0"/>
              <a:t>Use this space for a concise profile, case description, or explanation. Keep the text focused on the information learners need to understand before or while viewing the image.</a:t>
            </a:r>
          </a:p>
        </p:txBody>
      </p:sp>
      <p:pic>
        <p:nvPicPr>
          <p:cNvPr id="5" name="Picture 4">
            <a:extLst>
              <a:ext uri="{FF2B5EF4-FFF2-40B4-BE49-F238E27FC236}">
                <a16:creationId xmlns:a16="http://schemas.microsoft.com/office/drawing/2014/main" id="{4AB17817-D23C-001F-28D1-FC45A6EC910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3193" y="0"/>
            <a:ext cx="4568807" cy="6858000"/>
          </a:xfrm>
          <a:prstGeom prst="rect">
            <a:avLst/>
          </a:prstGeom>
        </p:spPr>
      </p:pic>
      <p:sp>
        <p:nvSpPr>
          <p:cNvPr id="6" name="accent-rule">
            <a:extLst>
              <a:ext uri="{FF2B5EF4-FFF2-40B4-BE49-F238E27FC236}">
                <a16:creationId xmlns:a16="http://schemas.microsoft.com/office/drawing/2014/main" id="{AC124288-4704-B366-8F91-257189169573}"/>
              </a:ext>
              <a:ext uri="{C183D7F6-B498-43B3-948B-1728B52AA6E4}">
                <adec:decorative xmlns:adec="http://schemas.microsoft.com/office/drawing/2017/decorative" val="1"/>
              </a:ext>
            </a:extLst>
          </p:cNvPr>
          <p:cNvSpPr>
            <a:spLocks/>
          </p:cNvSpPr>
          <p:nvPr/>
        </p:nvSpPr>
        <p:spPr>
          <a:xfrm>
            <a:off x="685800" y="132677"/>
            <a:ext cx="876300" cy="47625"/>
          </a:xfrm>
          <a:prstGeom prst="rect">
            <a:avLst/>
          </a:prstGeom>
          <a:solidFill>
            <a:srgbClr val="FFD662"/>
          </a:solidFill>
          <a:ln w="0">
            <a:noFill/>
            <a:prstDash val="solid"/>
          </a:ln>
        </p:spPr>
        <p:txBody>
          <a:bodyPr/>
          <a:lstStyle/>
          <a:p>
            <a:endParaRPr/>
          </a:p>
        </p:txBody>
      </p:sp>
    </p:spTree>
    <p:extLst>
      <p:ext uri="{BB962C8B-B14F-4D97-AF65-F5344CB8AC3E}">
        <p14:creationId xmlns:p14="http://schemas.microsoft.com/office/powerpoint/2010/main" val="3904949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20E7F-69CA-2A3F-62D4-C077A61CF887}"/>
              </a:ext>
            </a:extLst>
          </p:cNvPr>
          <p:cNvSpPr>
            <a:spLocks noGrp="1"/>
          </p:cNvSpPr>
          <p:nvPr>
            <p:ph type="title"/>
          </p:nvPr>
        </p:nvSpPr>
        <p:spPr/>
        <p:txBody>
          <a:bodyPr/>
          <a:lstStyle/>
          <a:p>
            <a:r>
              <a:rPr lang="en-US" dirty="0"/>
              <a:t>Example: Graph Interpretation</a:t>
            </a:r>
          </a:p>
        </p:txBody>
      </p:sp>
      <p:graphicFrame>
        <p:nvGraphicFramePr>
          <p:cNvPr id="4" name="Content Placeholder 3" descr="Column chart showing the percent meeting the target increases from 38% in Group A to 54% in Group B and 72% in Group C.">
            <a:extLst>
              <a:ext uri="{FF2B5EF4-FFF2-40B4-BE49-F238E27FC236}">
                <a16:creationId xmlns:a16="http://schemas.microsoft.com/office/drawing/2014/main" id="{EEF5FC81-F75B-7A21-B838-9CC3F7878F0A}"/>
              </a:ext>
            </a:extLst>
          </p:cNvPr>
          <p:cNvGraphicFramePr>
            <a:graphicFrameLocks noGrp="1"/>
          </p:cNvGraphicFramePr>
          <p:nvPr>
            <p:ph idx="1"/>
            <p:extLst>
              <p:ext uri="{D42A27DB-BD31-4B8C-83A1-F6EECF244321}">
                <p14:modId xmlns:p14="http://schemas.microsoft.com/office/powerpoint/2010/main" val="814783184"/>
              </p:ext>
            </p:extLst>
          </p:nvPr>
        </p:nvGraphicFramePr>
        <p:xfrm>
          <a:off x="838200" y="1644650"/>
          <a:ext cx="10515600" cy="453231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19771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A36B5-698A-9CD5-ADBC-71FC81DFB11B}"/>
              </a:ext>
            </a:extLst>
          </p:cNvPr>
          <p:cNvSpPr>
            <a:spLocks noGrp="1"/>
          </p:cNvSpPr>
          <p:nvPr>
            <p:ph type="title"/>
          </p:nvPr>
        </p:nvSpPr>
        <p:spPr/>
        <p:txBody>
          <a:bodyPr/>
          <a:lstStyle/>
          <a:p>
            <a:r>
              <a:rPr lang="en-US" dirty="0"/>
              <a:t>Example: Table Interpretation</a:t>
            </a:r>
          </a:p>
        </p:txBody>
      </p:sp>
      <p:graphicFrame>
        <p:nvGraphicFramePr>
          <p:cNvPr id="4" name="Content Placeholder 3" descr="Table comparing participant counts, follow-up completion, and mean outcome scores between the program and comparison groups. The program group has 12 more participants completing follow-up and a 6-point higher mean outcome score.">
            <a:extLst>
              <a:ext uri="{FF2B5EF4-FFF2-40B4-BE49-F238E27FC236}">
                <a16:creationId xmlns:a16="http://schemas.microsoft.com/office/drawing/2014/main" id="{A3D5920D-916C-0D07-C81B-948A5F55CD4B}"/>
              </a:ext>
            </a:extLst>
          </p:cNvPr>
          <p:cNvGraphicFramePr>
            <a:graphicFrameLocks noGrp="1"/>
          </p:cNvGraphicFramePr>
          <p:nvPr>
            <p:ph idx="1"/>
            <p:extLst>
              <p:ext uri="{D42A27DB-BD31-4B8C-83A1-F6EECF244321}">
                <p14:modId xmlns:p14="http://schemas.microsoft.com/office/powerpoint/2010/main" val="3887091687"/>
              </p:ext>
            </p:extLst>
          </p:nvPr>
        </p:nvGraphicFramePr>
        <p:xfrm>
          <a:off x="838200" y="1644650"/>
          <a:ext cx="10515600" cy="148336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3658065077"/>
                    </a:ext>
                  </a:extLst>
                </a:gridCol>
                <a:gridCol w="2628900">
                  <a:extLst>
                    <a:ext uri="{9D8B030D-6E8A-4147-A177-3AD203B41FA5}">
                      <a16:colId xmlns:a16="http://schemas.microsoft.com/office/drawing/2014/main" val="1095328158"/>
                    </a:ext>
                  </a:extLst>
                </a:gridCol>
                <a:gridCol w="2628900">
                  <a:extLst>
                    <a:ext uri="{9D8B030D-6E8A-4147-A177-3AD203B41FA5}">
                      <a16:colId xmlns:a16="http://schemas.microsoft.com/office/drawing/2014/main" val="4072860848"/>
                    </a:ext>
                  </a:extLst>
                </a:gridCol>
                <a:gridCol w="2628900">
                  <a:extLst>
                    <a:ext uri="{9D8B030D-6E8A-4147-A177-3AD203B41FA5}">
                      <a16:colId xmlns:a16="http://schemas.microsoft.com/office/drawing/2014/main" val="3923663270"/>
                    </a:ext>
                  </a:extLst>
                </a:gridCol>
              </a:tblGrid>
              <a:tr h="370840">
                <a:tc>
                  <a:txBody>
                    <a:bodyPr/>
                    <a:lstStyle/>
                    <a:p>
                      <a:r>
                        <a:rPr lang="en-US" dirty="0"/>
                        <a:t>Measure</a:t>
                      </a:r>
                    </a:p>
                  </a:txBody>
                  <a:tcPr>
                    <a:solidFill>
                      <a:srgbClr val="4E5F71"/>
                    </a:solidFill>
                  </a:tcPr>
                </a:tc>
                <a:tc>
                  <a:txBody>
                    <a:bodyPr/>
                    <a:lstStyle/>
                    <a:p>
                      <a:pPr algn="ctr"/>
                      <a:r>
                        <a:rPr lang="en-US" dirty="0"/>
                        <a:t>Program Group</a:t>
                      </a:r>
                    </a:p>
                  </a:txBody>
                  <a:tcPr>
                    <a:solidFill>
                      <a:srgbClr val="4E5F71"/>
                    </a:solidFill>
                  </a:tcPr>
                </a:tc>
                <a:tc>
                  <a:txBody>
                    <a:bodyPr/>
                    <a:lstStyle/>
                    <a:p>
                      <a:pPr algn="ctr"/>
                      <a:r>
                        <a:rPr lang="en-US" dirty="0"/>
                        <a:t>Comparison Group</a:t>
                      </a:r>
                    </a:p>
                  </a:txBody>
                  <a:tcPr>
                    <a:solidFill>
                      <a:srgbClr val="4E5F71"/>
                    </a:solidFill>
                  </a:tcPr>
                </a:tc>
                <a:tc>
                  <a:txBody>
                    <a:bodyPr/>
                    <a:lstStyle/>
                    <a:p>
                      <a:pPr algn="ctr"/>
                      <a:r>
                        <a:rPr lang="en-US" dirty="0"/>
                        <a:t>Difference</a:t>
                      </a:r>
                    </a:p>
                  </a:txBody>
                  <a:tcPr>
                    <a:solidFill>
                      <a:srgbClr val="4E5F71"/>
                    </a:solidFill>
                  </a:tcPr>
                </a:tc>
                <a:extLst>
                  <a:ext uri="{0D108BD9-81ED-4DB2-BD59-A6C34878D82A}">
                    <a16:rowId xmlns:a16="http://schemas.microsoft.com/office/drawing/2014/main" val="1207099848"/>
                  </a:ext>
                </a:extLst>
              </a:tr>
              <a:tr h="370840">
                <a:tc>
                  <a:txBody>
                    <a:bodyPr/>
                    <a:lstStyle/>
                    <a:p>
                      <a:r>
                        <a:rPr lang="en-US" dirty="0"/>
                        <a:t>Participants</a:t>
                      </a:r>
                    </a:p>
                  </a:txBody>
                  <a:tcPr/>
                </a:tc>
                <a:tc>
                  <a:txBody>
                    <a:bodyPr/>
                    <a:lstStyle/>
                    <a:p>
                      <a:pPr algn="ctr"/>
                      <a:r>
                        <a:rPr lang="en-US" dirty="0"/>
                        <a:t>120</a:t>
                      </a:r>
                    </a:p>
                  </a:txBody>
                  <a:tcPr/>
                </a:tc>
                <a:tc>
                  <a:txBody>
                    <a:bodyPr/>
                    <a:lstStyle/>
                    <a:p>
                      <a:pPr algn="ctr"/>
                      <a:r>
                        <a:rPr lang="en-US" dirty="0"/>
                        <a:t>118</a:t>
                      </a:r>
                    </a:p>
                  </a:txBody>
                  <a:tcPr/>
                </a:tc>
                <a:tc>
                  <a:txBody>
                    <a:bodyPr/>
                    <a:lstStyle/>
                    <a:p>
                      <a:pPr algn="ctr"/>
                      <a:r>
                        <a:rPr lang="en-US" dirty="0"/>
                        <a:t>2</a:t>
                      </a:r>
                    </a:p>
                  </a:txBody>
                  <a:tcPr/>
                </a:tc>
                <a:extLst>
                  <a:ext uri="{0D108BD9-81ED-4DB2-BD59-A6C34878D82A}">
                    <a16:rowId xmlns:a16="http://schemas.microsoft.com/office/drawing/2014/main" val="3890811479"/>
                  </a:ext>
                </a:extLst>
              </a:tr>
              <a:tr h="370840">
                <a:tc>
                  <a:txBody>
                    <a:bodyPr/>
                    <a:lstStyle/>
                    <a:p>
                      <a:r>
                        <a:rPr lang="en-US" dirty="0"/>
                        <a:t>Completed Follow-Up</a:t>
                      </a:r>
                    </a:p>
                  </a:txBody>
                  <a:tcPr/>
                </a:tc>
                <a:tc>
                  <a:txBody>
                    <a:bodyPr/>
                    <a:lstStyle/>
                    <a:p>
                      <a:pPr algn="ctr"/>
                      <a:r>
                        <a:rPr lang="en-US" dirty="0"/>
                        <a:t>108</a:t>
                      </a:r>
                    </a:p>
                  </a:txBody>
                  <a:tcPr/>
                </a:tc>
                <a:tc>
                  <a:txBody>
                    <a:bodyPr/>
                    <a:lstStyle/>
                    <a:p>
                      <a:pPr algn="ctr"/>
                      <a:r>
                        <a:rPr lang="en-US" dirty="0"/>
                        <a:t>96</a:t>
                      </a:r>
                    </a:p>
                  </a:txBody>
                  <a:tcPr/>
                </a:tc>
                <a:tc>
                  <a:txBody>
                    <a:bodyPr/>
                    <a:lstStyle/>
                    <a:p>
                      <a:pPr algn="ctr"/>
                      <a:r>
                        <a:rPr lang="en-US" dirty="0"/>
                        <a:t>12</a:t>
                      </a:r>
                    </a:p>
                  </a:txBody>
                  <a:tcPr/>
                </a:tc>
                <a:extLst>
                  <a:ext uri="{0D108BD9-81ED-4DB2-BD59-A6C34878D82A}">
                    <a16:rowId xmlns:a16="http://schemas.microsoft.com/office/drawing/2014/main" val="1225101481"/>
                  </a:ext>
                </a:extLst>
              </a:tr>
              <a:tr h="370840">
                <a:tc>
                  <a:txBody>
                    <a:bodyPr/>
                    <a:lstStyle/>
                    <a:p>
                      <a:r>
                        <a:rPr lang="en-US" dirty="0"/>
                        <a:t>Mean Outcome Score</a:t>
                      </a:r>
                    </a:p>
                  </a:txBody>
                  <a:tcPr/>
                </a:tc>
                <a:tc>
                  <a:txBody>
                    <a:bodyPr/>
                    <a:lstStyle/>
                    <a:p>
                      <a:pPr algn="ctr"/>
                      <a:r>
                        <a:rPr lang="en-US" dirty="0"/>
                        <a:t>82</a:t>
                      </a:r>
                    </a:p>
                  </a:txBody>
                  <a:tcPr/>
                </a:tc>
                <a:tc>
                  <a:txBody>
                    <a:bodyPr/>
                    <a:lstStyle/>
                    <a:p>
                      <a:pPr algn="ctr"/>
                      <a:r>
                        <a:rPr lang="en-US" dirty="0"/>
                        <a:t>76</a:t>
                      </a:r>
                    </a:p>
                  </a:txBody>
                  <a:tcPr/>
                </a:tc>
                <a:tc>
                  <a:txBody>
                    <a:bodyPr/>
                    <a:lstStyle/>
                    <a:p>
                      <a:pPr algn="ctr"/>
                      <a:r>
                        <a:rPr lang="en-US" dirty="0"/>
                        <a:t>6</a:t>
                      </a:r>
                    </a:p>
                  </a:txBody>
                  <a:tcPr/>
                </a:tc>
                <a:extLst>
                  <a:ext uri="{0D108BD9-81ED-4DB2-BD59-A6C34878D82A}">
                    <a16:rowId xmlns:a16="http://schemas.microsoft.com/office/drawing/2014/main" val="2176561050"/>
                  </a:ext>
                </a:extLst>
              </a:tr>
            </a:tbl>
          </a:graphicData>
        </a:graphic>
      </p:graphicFrame>
    </p:spTree>
    <p:extLst>
      <p:ext uri="{BB962C8B-B14F-4D97-AF65-F5344CB8AC3E}">
        <p14:creationId xmlns:p14="http://schemas.microsoft.com/office/powerpoint/2010/main" val="3388917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20E49-7579-A2A3-14F2-227E94D8ABD6}"/>
              </a:ext>
            </a:extLst>
          </p:cNvPr>
          <p:cNvSpPr>
            <a:spLocks noGrp="1"/>
          </p:cNvSpPr>
          <p:nvPr>
            <p:ph type="title"/>
          </p:nvPr>
        </p:nvSpPr>
        <p:spPr/>
        <p:txBody>
          <a:bodyPr/>
          <a:lstStyle/>
          <a:p>
            <a:r>
              <a:rPr lang="en-US" dirty="0"/>
              <a:t>Example: Full Screen Image with Hidden Title</a:t>
            </a:r>
          </a:p>
        </p:txBody>
      </p:sp>
      <p:pic>
        <p:nvPicPr>
          <p:cNvPr id="3" name="Picture 2" descr="A picture of Brad posing for a picture with his great-grandmother.">
            <a:extLst>
              <a:ext uri="{FF2B5EF4-FFF2-40B4-BE49-F238E27FC236}">
                <a16:creationId xmlns:a16="http://schemas.microsoft.com/office/drawing/2014/main" id="{5B4893B3-E504-C606-360F-8882A4CBF975}"/>
              </a:ext>
            </a:extLst>
          </p:cNvPr>
          <p:cNvPicPr>
            <a:picLocks noChangeAspect="1"/>
          </p:cNvPicPr>
          <p:nvPr/>
        </p:nvPicPr>
        <p:blipFill rotWithShape="1">
          <a:blip r:embed="rId3">
            <a:extLst>
              <a:ext uri="{28A0092B-C50C-407E-A947-70E740481C1C}">
                <a14:useLocalDpi xmlns:a14="http://schemas.microsoft.com/office/drawing/2010/main" val="0"/>
              </a:ext>
            </a:extLst>
          </a:blip>
          <a:srcRect r="1" b="19709"/>
          <a:stretch/>
        </p:blipFill>
        <p:spPr>
          <a:xfrm>
            <a:off x="2462" y="65315"/>
            <a:ext cx="12187077" cy="6727371"/>
          </a:xfrm>
          <a:prstGeom prst="rect">
            <a:avLst/>
          </a:prstGeom>
        </p:spPr>
      </p:pic>
    </p:spTree>
    <p:extLst>
      <p:ext uri="{BB962C8B-B14F-4D97-AF65-F5344CB8AC3E}">
        <p14:creationId xmlns:p14="http://schemas.microsoft.com/office/powerpoint/2010/main" val="4218128263"/>
      </p:ext>
    </p:extLst>
  </p:cSld>
  <p:clrMapOvr>
    <a:masterClrMapping/>
  </p:clrMapOvr>
</p:sld>
</file>

<file path=ppt/theme/theme1.xml><?xml version="1.0" encoding="utf-8"?>
<a:theme xmlns:a="http://schemas.openxmlformats.org/drawingml/2006/main" name="Office Theme">
  <a:themeElements>
    <a:clrScheme name="EWB Accessible">
      <a:dk1>
        <a:srgbClr val="203044"/>
      </a:dk1>
      <a:lt1>
        <a:srgbClr val="FFFFFF"/>
      </a:lt1>
      <a:dk2>
        <a:srgbClr val="4E5F71"/>
      </a:dk2>
      <a:lt2>
        <a:srgbClr val="E8EDF3"/>
      </a:lt2>
      <a:accent1>
        <a:srgbClr val="4E5F71"/>
      </a:accent1>
      <a:accent2>
        <a:srgbClr val="FFD661"/>
      </a:accent2>
      <a:accent3>
        <a:srgbClr val="28A745"/>
      </a:accent3>
      <a:accent4>
        <a:srgbClr val="FD7E14"/>
      </a:accent4>
      <a:accent5>
        <a:srgbClr val="6C757D"/>
      </a:accent5>
      <a:accent6>
        <a:srgbClr val="203044"/>
      </a:accent6>
      <a:hlink>
        <a:srgbClr val="4E5F71"/>
      </a:hlink>
      <a:folHlink>
        <a:srgbClr val="6C75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PHS 20203 Accessible PowerPoint Template v2" id="{5CF6A728-C36B-764B-ADC1-3A2704BFA42F}" vid="{02507688-7771-5949-A1EB-960FDB8EF0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101</TotalTime>
  <Words>837</Words>
  <Application>Microsoft Macintosh PowerPoint</Application>
  <PresentationFormat>Widescreen</PresentationFormat>
  <Paragraphs>71</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Example: Objectives</vt:lpstr>
      <vt:lpstr>Example: Numbered Activity Instructions</vt:lpstr>
      <vt:lpstr>Example: Prompt and Outcome Callout</vt:lpstr>
      <vt:lpstr>Example: Two-Panel Comparison</vt:lpstr>
      <vt:lpstr>Example: Image-Supported Profile or Explanation</vt:lpstr>
      <vt:lpstr>Example: Graph Interpretation</vt:lpstr>
      <vt:lpstr>Example: Table Interpretation</vt:lpstr>
      <vt:lpstr>Example: Full Screen Image with Hidden Title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APHS 20203 Accessible PowerPoint Pattern Library</dc:title>
  <dc:subject/>
  <dc:creator>Brad Cannell</dc:creator>
  <cp:keywords/>
  <dc:description/>
  <cp:lastModifiedBy>Brad Cannell</cp:lastModifiedBy>
  <cp:revision>23</cp:revision>
  <dcterms:created xsi:type="dcterms:W3CDTF">2026-08-24T00:21:23Z</dcterms:created>
  <dcterms:modified xsi:type="dcterms:W3CDTF">2026-08-25T01:15:21Z</dcterms:modified>
  <cp:category/>
</cp:coreProperties>
</file>