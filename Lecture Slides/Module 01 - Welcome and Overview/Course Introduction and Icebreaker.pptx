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342" r:id="rId2"/>
    <p:sldId id="378" r:id="rId3"/>
    <p:sldId id="339" r:id="rId4"/>
    <p:sldId id="344" r:id="rId5"/>
    <p:sldId id="345" r:id="rId6"/>
    <p:sldId id="374" r:id="rId7"/>
    <p:sldId id="264" r:id="rId8"/>
    <p:sldId id="375" r:id="rId9"/>
    <p:sldId id="346" r:id="rId10"/>
    <p:sldId id="379" r:id="rId11"/>
    <p:sldId id="349" r:id="rId12"/>
    <p:sldId id="377" r:id="rId13"/>
    <p:sldId id="351" r:id="rId14"/>
    <p:sldId id="352" r:id="rId15"/>
    <p:sldId id="3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36BA16-5C28-7446-1E05-0582285FFEB6}" name="Brad Cannell" initials="" userId="S::contact@epi-workbench.com::2c64010c-28b6-4193-8c3d-a42da6da8a3e" providerId="AD"/>
  <p188:author id="{293EE552-5196-FD34-683B-689632CD9123}" name="Brad Cannell" initials="BC" userId="b7343f986dfe0b93"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19"/>
    <p:restoredTop sz="69795"/>
  </p:normalViewPr>
  <p:slideViewPr>
    <p:cSldViewPr snapToGrid="0">
      <p:cViewPr varScale="1">
        <p:scale>
          <a:sx n="86" d="100"/>
          <a:sy n="86" d="100"/>
        </p:scale>
        <p:origin x="60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Husband and girl dad x 3. </a:t>
            </a:r>
          </a:p>
          <a:p>
            <a:pPr marL="171450" indent="-171450">
              <a:buFontTx/>
              <a:buChar char="-"/>
            </a:pPr>
            <a:r>
              <a:rPr lang="en-US" dirty="0"/>
              <a:t>My wife, Tracy, is a TCU alumna.</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725022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7D103-7CDC-1ECC-6CD1-F0E41A174C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A30D2B-1F18-9267-4228-57DE240D2E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65E3E-07DB-2CA8-F284-AC38CB0AD4A8}"/>
              </a:ext>
            </a:extLst>
          </p:cNvPr>
          <p:cNvSpPr>
            <a:spLocks noGrp="1"/>
          </p:cNvSpPr>
          <p:nvPr>
            <p:ph type="body" idx="1"/>
          </p:nvPr>
        </p:nvSpPr>
        <p:spPr/>
        <p:txBody>
          <a:bodyPr/>
          <a:lstStyle/>
          <a:p>
            <a:pPr marL="171450" indent="-171450">
              <a:buFontTx/>
              <a:buChar char="-"/>
            </a:pPr>
            <a:r>
              <a:rPr lang="en-US" dirty="0"/>
              <a:t>But before that, I got my Bachelor’s degree in </a:t>
            </a:r>
            <a:r>
              <a:rPr lang="en-US" sz="1200" b="0" dirty="0">
                <a:solidFill>
                  <a:srgbClr val="203044"/>
                </a:solidFill>
                <a:latin typeface="Aptos"/>
                <a:ea typeface="Aptos"/>
                <a:cs typeface="Aptos"/>
              </a:rPr>
              <a:t>Political Science and Marketing from the University of North Texas. I wasn’t exactly sure what I wanted to do, but I though maybe be a lawyer.</a:t>
            </a:r>
          </a:p>
          <a:p>
            <a:pPr marL="171450" indent="-171450">
              <a:buFontTx/>
              <a:buChar char="-"/>
            </a:pPr>
            <a:r>
              <a:rPr lang="en-US" sz="1200" b="0" dirty="0">
                <a:solidFill>
                  <a:srgbClr val="203044"/>
                </a:solidFill>
                <a:latin typeface="Aptos"/>
              </a:rPr>
              <a:t>Then 9/11 happened.</a:t>
            </a:r>
            <a:endParaRPr dirty="0"/>
          </a:p>
        </p:txBody>
      </p:sp>
      <p:sp>
        <p:nvSpPr>
          <p:cNvPr id="4" name="Slide Number Placeholder 3">
            <a:extLst>
              <a:ext uri="{FF2B5EF4-FFF2-40B4-BE49-F238E27FC236}">
                <a16:creationId xmlns:a16="http://schemas.microsoft.com/office/drawing/2014/main" id="{EF3103F7-21F6-CD74-062E-428D3AC6B5F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790045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eaLnBrk="1" hangingPunct="1">
              <a:buFont typeface="Arial" panose="020B0604020202020204" pitchFamily="34" charset="0"/>
              <a:buChar char="•"/>
            </a:pPr>
            <a:r>
              <a:rPr lang="en-US" altLang="en-US" sz="1200" dirty="0">
                <a:latin typeface="Arial" panose="020B0604020202020204" pitchFamily="34" charset="0"/>
                <a:ea typeface="ＭＳ Ｐゴシック" panose="020B0600070205080204" pitchFamily="34" charset="-128"/>
                <a:cs typeface="Arial" panose="020B0604020202020204" pitchFamily="34" charset="0"/>
              </a:rPr>
              <a:t>While overseas, around the time this picture was taken, I get a message letting my know that my great grandmother died.</a:t>
            </a:r>
          </a:p>
        </p:txBody>
      </p:sp>
      <p:sp>
        <p:nvSpPr>
          <p:cNvPr id="4" name="Slide Number Placeholder 3"/>
          <p:cNvSpPr>
            <a:spLocks noGrp="1"/>
          </p:cNvSpPr>
          <p:nvPr>
            <p:ph type="sldNum" sz="quarter" idx="5"/>
          </p:nvPr>
        </p:nvSpPr>
        <p:spPr/>
        <p:txBody>
          <a:bodyPr/>
          <a:lstStyle/>
          <a:p>
            <a:fld id="{C73F3A91-986F-634A-9DB2-991C7030E4FA}" type="slidenum">
              <a:rPr lang="en-US" smtClean="0"/>
              <a:t>6</a:t>
            </a:fld>
            <a:endParaRPr lang="en-US"/>
          </a:p>
        </p:txBody>
      </p:sp>
    </p:spTree>
    <p:extLst>
      <p:ext uri="{BB962C8B-B14F-4D97-AF65-F5344CB8AC3E}">
        <p14:creationId xmlns:p14="http://schemas.microsoft.com/office/powerpoint/2010/main" val="25167240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sz="1200" b="1" dirty="0">
                <a:latin typeface="Arial" panose="020B0604020202020204" pitchFamily="34" charset="0"/>
                <a:ea typeface="ＭＳ Ｐゴシック" panose="020B0600070205080204" pitchFamily="34" charset="-128"/>
                <a:cs typeface="Arial" panose="020B0604020202020204" pitchFamily="34" charset="0"/>
              </a:rPr>
              <a:t>This is my great-grandmother, Regina Smith</a:t>
            </a:r>
            <a:r>
              <a:rPr lang="en-US" altLang="en-US" sz="1200" dirty="0">
                <a:latin typeface="Arial" panose="020B0604020202020204" pitchFamily="34" charset="0"/>
                <a:ea typeface="ＭＳ Ｐゴシック" panose="020B0600070205080204" pitchFamily="34" charset="-128"/>
                <a:cs typeface="Arial" panose="020B0604020202020204" pitchFamily="34" charset="0"/>
              </a:rPr>
              <a:t>. I spent a great deal of time with this remarkable woman while I was growing up, and we were very close.</a:t>
            </a:r>
            <a:endParaRPr lang="en-US" altLang="en-US" sz="12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sz="1200" b="1"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b="1" dirty="0">
                <a:latin typeface="Arial" panose="020B0604020202020204" pitchFamily="34" charset="0"/>
                <a:ea typeface="ＭＳ Ｐゴシック" panose="020B0600070205080204" pitchFamily="34" charset="-128"/>
                <a:cs typeface="Arial" panose="020B0604020202020204" pitchFamily="34" charset="0"/>
              </a:rPr>
              <a:t>Up until the age of 90, she took no medication except for an occasional over-the-counter pain reliever</a:t>
            </a:r>
            <a:r>
              <a:rPr lang="en-US" altLang="en-US" sz="1200" dirty="0">
                <a:latin typeface="Arial" panose="020B0604020202020204" pitchFamily="34" charset="0"/>
                <a:ea typeface="ＭＳ Ｐゴシック" panose="020B0600070205080204" pitchFamily="34" charset="-128"/>
                <a:cs typeface="Arial" panose="020B0604020202020204" pitchFamily="34" charset="0"/>
              </a:rPr>
              <a:t>. She did calisthenics every morning, gardened, and took regular walks. She volunteered at the local hospital, was a member of a local club that took bus tours, and was an avid St. Louis Cardinals fan.</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b="1" dirty="0">
                <a:latin typeface="Arial" panose="020B0604020202020204" pitchFamily="34" charset="0"/>
                <a:ea typeface="ＭＳ Ｐゴシック" panose="020B0600070205080204" pitchFamily="34" charset="-128"/>
                <a:cs typeface="Arial" panose="020B0604020202020204" pitchFamily="34" charset="0"/>
              </a:rPr>
              <a:t>Around age 89 or 90, she developed dementia, and things began to change;</a:t>
            </a:r>
            <a:r>
              <a:rPr lang="en-US" altLang="en-US" sz="1200" dirty="0">
                <a:latin typeface="Arial" panose="020B0604020202020204" pitchFamily="34" charset="0"/>
                <a:ea typeface="ＭＳ Ｐゴシック" panose="020B0600070205080204" pitchFamily="34" charset="-128"/>
                <a:cs typeface="Arial" panose="020B0604020202020204" pitchFamily="34" charset="0"/>
              </a:rPr>
              <a:t> once they changed, there was a very rapid decline. By the end of her life she was living in a nursing home and spent the last years of her life in exactly the way that most people do not want to spend the last years of their life – scared, confused, and seemingly alone.</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rPr>
              <a:t>I was not able to leave the country to attend her funeral, and I was devastated. </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rPr>
              <a:t>Additionally:</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rPr>
              <a:t>1. </a:t>
            </a:r>
            <a:r>
              <a:rPr lang="en-US" altLang="en-US" sz="1200" b="1" dirty="0">
                <a:latin typeface="Arial" panose="020B0604020202020204" pitchFamily="34" charset="0"/>
                <a:ea typeface="ＭＳ Ｐゴシック" panose="020B0600070205080204" pitchFamily="34" charset="-128"/>
                <a:cs typeface="Arial" panose="020B0604020202020204" pitchFamily="34" charset="0"/>
              </a:rPr>
              <a:t>Terrified me</a:t>
            </a:r>
            <a:r>
              <a:rPr lang="en-US" altLang="en-US" sz="1200" dirty="0">
                <a:latin typeface="Arial" panose="020B0604020202020204" pitchFamily="34" charset="0"/>
                <a:ea typeface="ＭＳ Ｐゴシック" panose="020B0600070205080204" pitchFamily="34" charset="-128"/>
                <a:cs typeface="Arial" panose="020B0604020202020204" pitchFamily="34" charset="0"/>
              </a:rPr>
              <a:t>. I never wanted to have to see anyone else go through this, or for anyone to see me go through this. </a:t>
            </a: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rPr>
              <a:t>2. </a:t>
            </a:r>
            <a:r>
              <a:rPr lang="en-US" altLang="en-US" sz="1200" b="1" dirty="0">
                <a:latin typeface="Arial" panose="020B0604020202020204" pitchFamily="34" charset="0"/>
                <a:ea typeface="ＭＳ Ｐゴシック" panose="020B0600070205080204" pitchFamily="34" charset="-128"/>
                <a:cs typeface="Arial" panose="020B0604020202020204" pitchFamily="34" charset="0"/>
              </a:rPr>
              <a:t>Confused me</a:t>
            </a:r>
            <a:r>
              <a:rPr lang="en-US" altLang="en-US" sz="1200" dirty="0">
                <a:latin typeface="Arial" panose="020B0604020202020204" pitchFamily="34" charset="0"/>
                <a:ea typeface="ＭＳ Ｐゴシック" panose="020B0600070205080204" pitchFamily="34" charset="-128"/>
                <a:cs typeface="Arial" panose="020B0604020202020204" pitchFamily="34" charset="0"/>
              </a:rPr>
              <a:t>. How could someone who had always been so healthy take such a drastic turn for the worse? She did the “right” things but managed to spend her final years of life, and die, in what I consider to be a worst-case scenario. </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rPr>
              <a:t>Why am I telling you all of this? I’m telling you because many, many people have similar stories about their grandparents, parents, spouses, siblings, and friends, and my hope is that hearing these stories will eventually serve as a catalyst for improved health and quality of life for people aging in the United States. I’m also telling you because of the profound impact this had on my current interest in gerontology and the epidemiology of aging. </a:t>
            </a:r>
          </a:p>
          <a:p>
            <a:pPr eaLnBrk="1" hangingPunct="1"/>
            <a:endParaRPr lang="en-US" altLang="en-US" sz="1200" dirty="0">
              <a:latin typeface="Arial" panose="020B0604020202020204" pitchFamily="34" charset="0"/>
              <a:ea typeface="ＭＳ Ｐゴシック" panose="020B0600070205080204" pitchFamily="34" charset="-128"/>
              <a:cs typeface="Arial" panose="020B0604020202020204" pitchFamily="34" charset="0"/>
              <a:sym typeface="Lucida Grande" panose="020B0600040502020204" pitchFamily="34" charset="0"/>
            </a:endParaRPr>
          </a:p>
          <a:p>
            <a:pPr eaLnBrk="1" hangingPunct="1"/>
            <a:r>
              <a:rPr lang="en-US" altLang="en-US" sz="1200" dirty="0">
                <a:latin typeface="Arial" panose="020B0604020202020204" pitchFamily="34" charset="0"/>
                <a:ea typeface="ＭＳ Ｐゴシック" panose="020B0600070205080204" pitchFamily="34" charset="-128"/>
                <a:cs typeface="Arial" panose="020B0604020202020204" pitchFamily="34" charset="0"/>
                <a:sym typeface="Lucida Grande" panose="020B0600040502020204" pitchFamily="34" charset="0"/>
              </a:rPr>
              <a:t>And this experience was really the inspiration for my entire career.</a:t>
            </a:r>
          </a:p>
        </p:txBody>
      </p:sp>
      <p:sp>
        <p:nvSpPr>
          <p:cNvPr id="4" name="Slide Number Placeholder 3"/>
          <p:cNvSpPr>
            <a:spLocks noGrp="1"/>
          </p:cNvSpPr>
          <p:nvPr>
            <p:ph type="sldNum" sz="quarter" idx="5"/>
          </p:nvPr>
        </p:nvSpPr>
        <p:spPr/>
        <p:txBody>
          <a:bodyPr/>
          <a:lstStyle/>
          <a:p>
            <a:fld id="{0E15D06C-7DBA-6C43-8CED-2225C28C0136}" type="slidenum">
              <a:rPr lang="en-US" smtClean="0"/>
              <a:t>7</a:t>
            </a:fld>
            <a:endParaRPr lang="en-US"/>
          </a:p>
        </p:txBody>
      </p:sp>
    </p:spTree>
    <p:extLst>
      <p:ext uri="{BB962C8B-B14F-4D97-AF65-F5344CB8AC3E}">
        <p14:creationId xmlns:p14="http://schemas.microsoft.com/office/powerpoint/2010/main" val="1110593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3BCE-A4BC-D189-278E-B54CFCB91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C305DF-FC9F-25E1-FB8F-392EDD28F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68C393-5BEE-144B-B304-A2E046C169E4}"/>
              </a:ext>
            </a:extLst>
          </p:cNvPr>
          <p:cNvSpPr>
            <a:spLocks noGrp="1"/>
          </p:cNvSpPr>
          <p:nvPr>
            <p:ph type="body" idx="1"/>
          </p:nvPr>
        </p:nvSpPr>
        <p:spPr/>
        <p:txBody>
          <a:bodyPr/>
          <a:lstStyle/>
          <a:p>
            <a:r>
              <a:rPr lang="en-US" dirty="0"/>
              <a:t>So, when I got back to the US, I went back to school.</a:t>
            </a:r>
            <a:endParaRPr dirty="0"/>
          </a:p>
        </p:txBody>
      </p:sp>
      <p:sp>
        <p:nvSpPr>
          <p:cNvPr id="4" name="Slide Number Placeholder 3">
            <a:extLst>
              <a:ext uri="{FF2B5EF4-FFF2-40B4-BE49-F238E27FC236}">
                <a16:creationId xmlns:a16="http://schemas.microsoft.com/office/drawing/2014/main" id="{AD2CE678-4E6B-9B82-3D02-DE7408720D9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006876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86D0D-A5DC-23B5-EB11-6A4C42CEE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AEB95-E312-DC06-3ECD-A7ABF89741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F9EEE-877A-8874-9C2C-3B678D13C2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74A397-9A32-9BE6-8AA5-CAD97F0AF42C}"/>
              </a:ext>
            </a:extLst>
          </p:cNvPr>
          <p:cNvSpPr>
            <a:spLocks noGrp="1"/>
          </p:cNvSpPr>
          <p:nvPr>
            <p:ph type="sldNum" sz="quarter" idx="10"/>
          </p:nvPr>
        </p:nvSpPr>
        <p:spPr/>
        <p:txBody>
          <a:bodyPr/>
          <a:lstStyle/>
          <a:p>
            <a:fld id="{8CDD9B00-B278-C446-B7BC-A44E2639A53B}" type="slidenum">
              <a:rPr lang="en-US" smtClean="0"/>
              <a:t>9</a:t>
            </a:fld>
            <a:endParaRPr lang="en-US"/>
          </a:p>
        </p:txBody>
      </p:sp>
    </p:spTree>
    <p:extLst>
      <p:ext uri="{BB962C8B-B14F-4D97-AF65-F5344CB8AC3E}">
        <p14:creationId xmlns:p14="http://schemas.microsoft.com/office/powerpoint/2010/main" val="1256669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finally done talking about myself. Now, I’d like to hear more about you!</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comes to mind when you hear epidemiology and biostatistics?</a:t>
            </a:r>
          </a:p>
          <a:p>
            <a:r>
              <a:rPr lang="en-US"/>
              <a:t>https://www.polleverywhere.com/free_text_polls/M3Ydwi4QAfyZMmc7sCsU8</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916306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41366E-E1CE-873B-AA8E-68A51B04FC87}"/>
              </a:ext>
            </a:extLst>
          </p:cNvPr>
          <p:cNvSpPr>
            <a:spLocks noGrp="1"/>
          </p:cNvSpPr>
          <p:nvPr>
            <p:ph type="dt" sz="half" idx="10"/>
          </p:nvPr>
        </p:nvSpPr>
        <p:spPr/>
        <p:txBody>
          <a:bodyPr/>
          <a:lstStyle/>
          <a:p>
            <a:fld id="{05C311A3-852F-134F-9EF3-22446730634A}" type="datetimeFigureOut">
              <a:rPr lang="en-US" smtClean="0"/>
              <a:t>8/21/26</a:t>
            </a:fld>
            <a:endParaRPr lang="en-US"/>
          </a:p>
        </p:txBody>
      </p:sp>
      <p:sp>
        <p:nvSpPr>
          <p:cNvPr id="3" name="Footer Placeholder 2">
            <a:extLst>
              <a:ext uri="{FF2B5EF4-FFF2-40B4-BE49-F238E27FC236}">
                <a16:creationId xmlns:a16="http://schemas.microsoft.com/office/drawing/2014/main" id="{696FDED5-F2F2-29C8-3680-01076BAF4D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CEEB7C-FD1D-C3D6-1A4F-535DB3F121E4}"/>
              </a:ext>
            </a:extLst>
          </p:cNvPr>
          <p:cNvSpPr>
            <a:spLocks noGrp="1"/>
          </p:cNvSpPr>
          <p:nvPr>
            <p:ph type="sldNum" sz="quarter" idx="12"/>
          </p:nvPr>
        </p:nvSpPr>
        <p:spPr/>
        <p:txBody>
          <a:bodyPr/>
          <a:lstStyle/>
          <a:p>
            <a:fld id="{8C47F3D0-FA50-0745-94EE-C944AA3BC817}" type="slidenum">
              <a:rPr lang="en-US" smtClean="0"/>
              <a:t>‹#›</a:t>
            </a:fld>
            <a:endParaRPr lang="en-US"/>
          </a:p>
        </p:txBody>
      </p:sp>
    </p:spTree>
    <p:extLst>
      <p:ext uri="{BB962C8B-B14F-4D97-AF65-F5344CB8AC3E}">
        <p14:creationId xmlns:p14="http://schemas.microsoft.com/office/powerpoint/2010/main" val="17905847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s://tcu.brightspace.com/d2l/lp/navbars/392096/customlinks/external/5112"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E5F72"/>
        </a:solidFill>
        <a:effectLst/>
      </p:bgPr>
    </p:bg>
    <p:spTree>
      <p:nvGrpSpPr>
        <p:cNvPr id="1" name=""/>
        <p:cNvGrpSpPr/>
        <p:nvPr/>
      </p:nvGrpSpPr>
      <p:grpSpPr>
        <a:xfrm>
          <a:off x="0" y="0"/>
          <a:ext cx="0" cy="0"/>
          <a:chOff x="0" y="0"/>
          <a:chExt cx="0" cy="0"/>
        </a:xfrm>
      </p:grpSpPr>
      <p:sp>
        <p:nvSpPr>
          <p:cNvPr id="6" name="title-accent">
            <a:extLst>
              <a:ext uri="{FF2B5EF4-FFF2-40B4-BE49-F238E27FC236}">
                <a16:creationId xmlns:a16="http://schemas.microsoft.com/office/drawing/2014/main" id="{674AF127-BC62-4EFF-8747-DF5B0C6B18F4}"/>
              </a:ext>
            </a:extLst>
          </p:cNvPr>
          <p:cNvSpPr>
            <a:spLocks/>
          </p:cNvSpPr>
          <p:nvPr/>
        </p:nvSpPr>
        <p:spPr>
          <a:xfrm>
            <a:off x="685800" y="1619250"/>
            <a:ext cx="1143000" cy="76200"/>
          </a:xfrm>
          <a:prstGeom prst="rect">
            <a:avLst/>
          </a:prstGeom>
          <a:solidFill>
            <a:srgbClr val="FFD662"/>
          </a:solidFill>
          <a:ln w="0">
            <a:noFill/>
            <a:prstDash val="solid"/>
          </a:ln>
        </p:spPr>
        <p:txBody>
          <a:bodyPr/>
          <a:lstStyle/>
          <a:p>
            <a:endParaRPr/>
          </a:p>
        </p:txBody>
      </p:sp>
      <p:sp>
        <p:nvSpPr>
          <p:cNvPr id="3" name="title">
            <a:extLst>
              <a:ext uri="{FF2B5EF4-FFF2-40B4-BE49-F238E27FC236}">
                <a16:creationId xmlns:a16="http://schemas.microsoft.com/office/drawing/2014/main" id="{43A84CA3-0FF4-40E5-B490-B92A8B3D00A2}"/>
              </a:ext>
            </a:extLst>
          </p:cNvPr>
          <p:cNvSpPr>
            <a:spLocks/>
          </p:cNvSpPr>
          <p:nvPr/>
        </p:nvSpPr>
        <p:spPr>
          <a:xfrm>
            <a:off x="685800" y="2095500"/>
            <a:ext cx="6858000" cy="1619250"/>
          </a:xfrm>
          <a:prstGeom prst="rect">
            <a:avLst/>
          </a:prstGeom>
          <a:noFill/>
          <a:ln w="0">
            <a:noFill/>
            <a:prstDash val="solid"/>
          </a:ln>
        </p:spPr>
        <p:txBody>
          <a:bodyPr/>
          <a:lstStyle/>
          <a:p>
            <a:pPr>
              <a:buNone/>
              <a:defRPr sz="4200" b="1">
                <a:solidFill>
                  <a:srgbClr val="FFFFFF"/>
                </a:solidFill>
                <a:latin typeface="Aptos"/>
                <a:ea typeface="Aptos"/>
                <a:cs typeface="Aptos"/>
              </a:defRPr>
            </a:pPr>
            <a:r>
              <a:rPr sz="4200" b="1">
                <a:solidFill>
                  <a:srgbClr val="FFFFFF"/>
                </a:solidFill>
                <a:latin typeface="Aptos"/>
                <a:ea typeface="Aptos"/>
                <a:cs typeface="Aptos"/>
              </a:rPr>
              <a:t>APHS 20203</a:t>
            </a:r>
          </a:p>
          <a:p>
            <a:pPr>
              <a:buNone/>
              <a:defRPr sz="4200" b="1">
                <a:solidFill>
                  <a:srgbClr val="FFFFFF"/>
                </a:solidFill>
                <a:latin typeface="Aptos"/>
                <a:ea typeface="Aptos"/>
                <a:cs typeface="Aptos"/>
              </a:defRPr>
            </a:pPr>
            <a:r>
              <a:rPr sz="4200" b="1">
                <a:solidFill>
                  <a:srgbClr val="FFFFFF"/>
                </a:solidFill>
                <a:latin typeface="Aptos"/>
                <a:ea typeface="Aptos"/>
                <a:cs typeface="Aptos"/>
              </a:rPr>
              <a:t>Epidemiology &amp; Biostatistics</a:t>
            </a:r>
          </a:p>
        </p:txBody>
      </p:sp>
      <p:sp>
        <p:nvSpPr>
          <p:cNvPr id="4" name="subtitle">
            <a:extLst>
              <a:ext uri="{FF2B5EF4-FFF2-40B4-BE49-F238E27FC236}">
                <a16:creationId xmlns:a16="http://schemas.microsoft.com/office/drawing/2014/main" id="{73518634-7531-4943-85FA-C06F283228BD}"/>
              </a:ext>
            </a:extLst>
          </p:cNvPr>
          <p:cNvSpPr>
            <a:spLocks/>
          </p:cNvSpPr>
          <p:nvPr/>
        </p:nvSpPr>
        <p:spPr>
          <a:xfrm>
            <a:off x="685800" y="4000500"/>
            <a:ext cx="6191250" cy="647700"/>
          </a:xfrm>
          <a:prstGeom prst="rect">
            <a:avLst/>
          </a:prstGeom>
          <a:noFill/>
          <a:ln w="0">
            <a:noFill/>
            <a:prstDash val="solid"/>
          </a:ln>
        </p:spPr>
        <p:txBody>
          <a:bodyPr/>
          <a:lstStyle/>
          <a:p>
            <a:pPr>
              <a:buNone/>
              <a:defRPr sz="1800">
                <a:solidFill>
                  <a:srgbClr val="E8EDF3"/>
                </a:solidFill>
                <a:latin typeface="Aptos"/>
                <a:ea typeface="Aptos"/>
                <a:cs typeface="Aptos"/>
              </a:defRPr>
            </a:pPr>
            <a:r>
              <a:rPr sz="1800">
                <a:solidFill>
                  <a:srgbClr val="E8EDF3"/>
                </a:solidFill>
                <a:latin typeface="Aptos"/>
                <a:ea typeface="Aptos"/>
                <a:cs typeface="Aptos"/>
              </a:rPr>
              <a:t>Course Introduction and Icebreaker</a:t>
            </a:r>
          </a:p>
        </p:txBody>
      </p:sp>
    </p:spTree>
    <p:extLst>
      <p:ext uri="{BB962C8B-B14F-4D97-AF65-F5344CB8AC3E}">
        <p14:creationId xmlns:p14="http://schemas.microsoft.com/office/powerpoint/2010/main" val="330582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B0F49812-1D84-4BEA-94D8-7AD16DD94250}"/>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E7873D90-5C99-46CB-BCEA-736AA6BC72E0}"/>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19B1F5D-F247-4BFF-9D35-45243C820C69}"/>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BF353E76-3067-4574-B2CE-2D69330A941E}"/>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OBJECTIVES</a:t>
            </a:r>
          </a:p>
        </p:txBody>
      </p:sp>
      <p:sp>
        <p:nvSpPr>
          <p:cNvPr id="5" name="slide-number">
            <a:extLst>
              <a:ext uri="{FF2B5EF4-FFF2-40B4-BE49-F238E27FC236}">
                <a16:creationId xmlns:a16="http://schemas.microsoft.com/office/drawing/2014/main" id="{2512490C-E1E2-45A2-A4FB-8EEFE4F292FD}"/>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3</a:t>
            </a:r>
          </a:p>
        </p:txBody>
      </p:sp>
      <p:sp>
        <p:nvSpPr>
          <p:cNvPr id="6" name="title">
            <a:extLst>
              <a:ext uri="{FF2B5EF4-FFF2-40B4-BE49-F238E27FC236}">
                <a16:creationId xmlns:a16="http://schemas.microsoft.com/office/drawing/2014/main" id="{C665E3B9-48BB-4C32-A804-143F93F582BD}"/>
              </a:ext>
            </a:extLst>
          </p:cNvPr>
          <p:cNvSpPr>
            <a:spLocks/>
          </p:cNvSpPr>
          <p:nvPr/>
        </p:nvSpPr>
        <p:spPr>
          <a:xfrm>
            <a:off x="685800" y="1162050"/>
            <a:ext cx="9334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Objectives</a:t>
            </a:r>
          </a:p>
        </p:txBody>
      </p:sp>
      <p:sp>
        <p:nvSpPr>
          <p:cNvPr id="7" name="intro">
            <a:extLst>
              <a:ext uri="{FF2B5EF4-FFF2-40B4-BE49-F238E27FC236}">
                <a16:creationId xmlns:a16="http://schemas.microsoft.com/office/drawing/2014/main" id="{E356BA7F-7682-4F9D-92B3-4F1FF06936AE}"/>
              </a:ext>
            </a:extLst>
          </p:cNvPr>
          <p:cNvSpPr>
            <a:spLocks/>
          </p:cNvSpPr>
          <p:nvPr/>
        </p:nvSpPr>
        <p:spPr>
          <a:xfrm>
            <a:off x="685800" y="1809750"/>
            <a:ext cx="7620000" cy="419100"/>
          </a:xfrm>
          <a:prstGeom prst="rect">
            <a:avLst/>
          </a:prstGeom>
          <a:noFill/>
          <a:ln w="0">
            <a:noFill/>
            <a:prstDash val="solid"/>
          </a:ln>
        </p:spPr>
        <p:txBody>
          <a:bodyPr/>
          <a:lstStyle/>
          <a:p>
            <a:pPr>
              <a:buNone/>
              <a:defRPr sz="1500">
                <a:solidFill>
                  <a:srgbClr val="6C757D"/>
                </a:solidFill>
                <a:latin typeface="Aptos"/>
                <a:ea typeface="Aptos"/>
                <a:cs typeface="Aptos"/>
              </a:defRPr>
            </a:pPr>
            <a:endParaRPr sz="1500"/>
          </a:p>
        </p:txBody>
      </p:sp>
      <p:sp>
        <p:nvSpPr>
          <p:cNvPr id="8" name="objective-dot-0">
            <a:extLst>
              <a:ext uri="{FF2B5EF4-FFF2-40B4-BE49-F238E27FC236}">
                <a16:creationId xmlns:a16="http://schemas.microsoft.com/office/drawing/2014/main" id="{D05A112C-D50E-4971-9AE1-59B550A62870}"/>
              </a:ext>
            </a:extLst>
          </p:cNvPr>
          <p:cNvSpPr>
            <a:spLocks/>
          </p:cNvSpPr>
          <p:nvPr/>
        </p:nvSpPr>
        <p:spPr>
          <a:xfrm>
            <a:off x="685800" y="2800350"/>
            <a:ext cx="323850" cy="323850"/>
          </a:xfrm>
          <a:prstGeom prst="ellipse">
            <a:avLst/>
          </a:prstGeom>
          <a:solidFill>
            <a:srgbClr val="FFD662"/>
          </a:solidFill>
          <a:ln w="9525">
            <a:solidFill>
              <a:srgbClr val="FFD662"/>
            </a:solidFill>
            <a:prstDash val="solid"/>
          </a:ln>
        </p:spPr>
        <p:txBody>
          <a:bodyPr anchor="ctr"/>
          <a:lstStyle/>
          <a:p>
            <a:pPr algn="ctr">
              <a:buNone/>
            </a:pPr>
            <a:r>
              <a:t>1</a:t>
            </a:r>
          </a:p>
        </p:txBody>
      </p:sp>
      <p:sp>
        <p:nvSpPr>
          <p:cNvPr id="10" name="objective-0">
            <a:extLst>
              <a:ext uri="{FF2B5EF4-FFF2-40B4-BE49-F238E27FC236}">
                <a16:creationId xmlns:a16="http://schemas.microsoft.com/office/drawing/2014/main" id="{F919A703-D612-4AE4-AF57-587222812877}"/>
              </a:ext>
            </a:extLst>
          </p:cNvPr>
          <p:cNvSpPr>
            <a:spLocks/>
          </p:cNvSpPr>
          <p:nvPr/>
        </p:nvSpPr>
        <p:spPr>
          <a:xfrm>
            <a:off x="1219200" y="2743200"/>
            <a:ext cx="8382000" cy="361950"/>
          </a:xfrm>
          <a:prstGeom prst="rect">
            <a:avLst/>
          </a:prstGeom>
          <a:noFill/>
          <a:ln w="0">
            <a:noFill/>
            <a:prstDash val="solid"/>
          </a:ln>
        </p:spPr>
        <p:txBody>
          <a:bodyPr/>
          <a:lstStyle/>
          <a:p>
            <a:pPr>
              <a:buNone/>
              <a:defRPr sz="1950" b="1">
                <a:solidFill>
                  <a:srgbClr val="203044"/>
                </a:solidFill>
                <a:latin typeface="Aptos"/>
                <a:ea typeface="Aptos"/>
                <a:cs typeface="Aptos"/>
              </a:defRPr>
            </a:pPr>
            <a:r>
              <a:rPr sz="1950" b="1">
                <a:solidFill>
                  <a:srgbClr val="203044"/>
                </a:solidFill>
                <a:latin typeface="Aptos"/>
                <a:ea typeface="Aptos"/>
                <a:cs typeface="Aptos"/>
              </a:rPr>
              <a:t>Get aquatinted with each other</a:t>
            </a:r>
          </a:p>
        </p:txBody>
      </p:sp>
      <p:sp>
        <p:nvSpPr>
          <p:cNvPr id="13" name="objective-1">
            <a:extLst>
              <a:ext uri="{FF2B5EF4-FFF2-40B4-BE49-F238E27FC236}">
                <a16:creationId xmlns:a16="http://schemas.microsoft.com/office/drawing/2014/main" id="{8A152A0B-1B94-406C-A52D-FD4E628F5C50}"/>
              </a:ext>
            </a:extLst>
          </p:cNvPr>
          <p:cNvSpPr>
            <a:spLocks/>
          </p:cNvSpPr>
          <p:nvPr/>
        </p:nvSpPr>
        <p:spPr>
          <a:xfrm>
            <a:off x="1219200" y="3390900"/>
            <a:ext cx="8382000" cy="933450"/>
          </a:xfrm>
          <a:prstGeom prst="rect">
            <a:avLst/>
          </a:prstGeom>
          <a:noFill/>
          <a:ln w="0">
            <a:noFill/>
            <a:prstDash val="solid"/>
          </a:ln>
        </p:spPr>
        <p:txBody>
          <a:bodyPr/>
          <a:lstStyle/>
          <a:p>
            <a:pPr>
              <a:buNone/>
              <a:defRPr sz="1950" b="1">
                <a:solidFill>
                  <a:srgbClr val="203044"/>
                </a:solidFill>
                <a:latin typeface="Aptos"/>
                <a:ea typeface="Aptos"/>
                <a:cs typeface="Aptos"/>
              </a:defRPr>
            </a:pPr>
            <a:r>
              <a:rPr sz="1950" b="1">
                <a:solidFill>
                  <a:srgbClr val="203044"/>
                </a:solidFill>
                <a:latin typeface="Aptos"/>
                <a:ea typeface="Aptos"/>
                <a:cs typeface="Aptos"/>
              </a:rPr>
              <a:t>Become familiar with the syllabus</a:t>
            </a:r>
          </a:p>
          <a:p>
            <a:pPr>
              <a:buNone/>
              <a:defRPr sz="1950" b="1">
                <a:solidFill>
                  <a:srgbClr val="203044"/>
                </a:solidFill>
                <a:latin typeface="Aptos"/>
                <a:ea typeface="Aptos"/>
                <a:cs typeface="Aptos"/>
              </a:defRPr>
            </a:pPr>
            <a:r>
              <a:rPr sz="1950" b="1">
                <a:solidFill>
                  <a:srgbClr val="203044"/>
                </a:solidFill>
                <a:latin typeface="Aptos"/>
                <a:ea typeface="Aptos"/>
                <a:cs typeface="Aptos"/>
              </a:rPr>
              <a:t>Mark important dates</a:t>
            </a:r>
          </a:p>
          <a:p>
            <a:pPr>
              <a:buNone/>
              <a:defRPr sz="1950" b="1">
                <a:solidFill>
                  <a:srgbClr val="203044"/>
                </a:solidFill>
                <a:latin typeface="Aptos"/>
                <a:ea typeface="Aptos"/>
                <a:cs typeface="Aptos"/>
              </a:defRPr>
            </a:pPr>
            <a:r>
              <a:rPr sz="1950" b="1">
                <a:solidFill>
                  <a:srgbClr val="203044"/>
                </a:solidFill>
                <a:latin typeface="Aptos"/>
                <a:ea typeface="Aptos"/>
                <a:cs typeface="Aptos"/>
              </a:rPr>
              <a:t>Understand the assignments</a:t>
            </a:r>
          </a:p>
        </p:txBody>
      </p:sp>
      <p:sp>
        <p:nvSpPr>
          <p:cNvPr id="16" name="objective-2">
            <a:extLst>
              <a:ext uri="{FF2B5EF4-FFF2-40B4-BE49-F238E27FC236}">
                <a16:creationId xmlns:a16="http://schemas.microsoft.com/office/drawing/2014/main" id="{6728F28F-950B-4DDC-98B4-25569BF2F58D}"/>
              </a:ext>
            </a:extLst>
          </p:cNvPr>
          <p:cNvSpPr>
            <a:spLocks/>
          </p:cNvSpPr>
          <p:nvPr/>
        </p:nvSpPr>
        <p:spPr>
          <a:xfrm>
            <a:off x="1219200" y="4667250"/>
            <a:ext cx="8382000" cy="685800"/>
          </a:xfrm>
          <a:prstGeom prst="rect">
            <a:avLst/>
          </a:prstGeom>
          <a:noFill/>
          <a:ln w="0">
            <a:noFill/>
            <a:prstDash val="solid"/>
          </a:ln>
        </p:spPr>
        <p:txBody>
          <a:bodyPr/>
          <a:lstStyle/>
          <a:p>
            <a:pPr>
              <a:buNone/>
              <a:defRPr sz="1950" b="1">
                <a:solidFill>
                  <a:srgbClr val="203044"/>
                </a:solidFill>
                <a:latin typeface="Aptos"/>
                <a:ea typeface="Aptos"/>
                <a:cs typeface="Aptos"/>
              </a:defRPr>
            </a:pPr>
            <a:r>
              <a:rPr sz="1950" b="1">
                <a:solidFill>
                  <a:srgbClr val="203044"/>
                </a:solidFill>
                <a:latin typeface="Aptos"/>
                <a:ea typeface="Aptos"/>
                <a:cs typeface="Aptos"/>
              </a:rPr>
              <a:t>Explain the use of statistics and epidemiology in health sciences</a:t>
            </a:r>
          </a:p>
        </p:txBody>
      </p:sp>
      <p:sp>
        <p:nvSpPr>
          <p:cNvPr id="18" name="objective-dot-0">
            <a:extLst>
              <a:ext uri="{FF2B5EF4-FFF2-40B4-BE49-F238E27FC236}">
                <a16:creationId xmlns:a16="http://schemas.microsoft.com/office/drawing/2014/main" id="{F7BD333F-C20F-6695-E43D-5939A73761D6}"/>
              </a:ext>
            </a:extLst>
          </p:cNvPr>
          <p:cNvSpPr>
            <a:spLocks/>
          </p:cNvSpPr>
          <p:nvPr/>
        </p:nvSpPr>
        <p:spPr>
          <a:xfrm>
            <a:off x="685800" y="3695700"/>
            <a:ext cx="323850" cy="323850"/>
          </a:xfrm>
          <a:prstGeom prst="ellipse">
            <a:avLst/>
          </a:prstGeom>
          <a:solidFill>
            <a:srgbClr val="FFD662"/>
          </a:solidFill>
          <a:ln w="9525">
            <a:solidFill>
              <a:srgbClr val="FFD662"/>
            </a:solidFill>
            <a:prstDash val="solid"/>
          </a:ln>
        </p:spPr>
        <p:txBody>
          <a:bodyPr anchor="ctr"/>
          <a:lstStyle/>
          <a:p>
            <a:pPr algn="ctr">
              <a:buNone/>
            </a:pPr>
            <a:r>
              <a:t>2</a:t>
            </a:r>
          </a:p>
        </p:txBody>
      </p:sp>
      <p:sp>
        <p:nvSpPr>
          <p:cNvPr id="20" name="objective-dot-0">
            <a:extLst>
              <a:ext uri="{FF2B5EF4-FFF2-40B4-BE49-F238E27FC236}">
                <a16:creationId xmlns:a16="http://schemas.microsoft.com/office/drawing/2014/main" id="{8FFD7BCA-FA27-CE86-1B1C-6A3973C9B8A5}"/>
              </a:ext>
            </a:extLst>
          </p:cNvPr>
          <p:cNvSpPr>
            <a:spLocks/>
          </p:cNvSpPr>
          <p:nvPr/>
        </p:nvSpPr>
        <p:spPr>
          <a:xfrm>
            <a:off x="685800" y="4667250"/>
            <a:ext cx="323850" cy="323850"/>
          </a:xfrm>
          <a:prstGeom prst="ellipse">
            <a:avLst/>
          </a:prstGeom>
          <a:solidFill>
            <a:srgbClr val="FFD662"/>
          </a:solidFill>
          <a:ln w="9525">
            <a:solidFill>
              <a:srgbClr val="FFD662"/>
            </a:solidFill>
            <a:prstDash val="solid"/>
          </a:ln>
        </p:spPr>
        <p:txBody>
          <a:bodyPr anchor="ctr"/>
          <a:lstStyle/>
          <a:p>
            <a:pPr algn="ctr">
              <a:buNone/>
            </a:pPr>
            <a:r>
              <a:t>3</a:t>
            </a:r>
          </a:p>
        </p:txBody>
      </p:sp>
    </p:spTree>
    <p:extLst>
      <p:ext uri="{BB962C8B-B14F-4D97-AF65-F5344CB8AC3E}">
        <p14:creationId xmlns:p14="http://schemas.microsoft.com/office/powerpoint/2010/main" val="3157215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CCC355-6A92-2FF5-A202-A808DFFA33FF}"/>
              </a:ext>
            </a:extLst>
          </p:cNvPr>
          <p:cNvPicPr>
            <a:picLocks noChangeAspect="1"/>
          </p:cNvPicPr>
          <p:nvPr/>
        </p:nvPicPr>
        <p:blipFill>
          <a:blip r:embed="rId3">
            <a:extLst>
              <a:ext uri="{28A0092B-C50C-407E-A947-70E740481C1C}">
                <a14:useLocalDpi xmlns:a14="http://schemas.microsoft.com/office/drawing/2010/main" val="0"/>
              </a:ext>
            </a:extLst>
          </a:blip>
          <a:srcRect l="24889" r="14074"/>
          <a:stretch>
            <a:fillRect/>
          </a:stretch>
        </p:blipFill>
        <p:spPr>
          <a:xfrm rot="5400000">
            <a:off x="2664579" y="-784979"/>
            <a:ext cx="6862842" cy="8432800"/>
          </a:xfrm>
          <a:prstGeom prst="rect">
            <a:avLst/>
          </a:prstGeom>
        </p:spPr>
      </p:pic>
    </p:spTree>
    <p:extLst>
      <p:ext uri="{BB962C8B-B14F-4D97-AF65-F5344CB8AC3E}">
        <p14:creationId xmlns:p14="http://schemas.microsoft.com/office/powerpoint/2010/main" val="2041100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CBB093EB-7C58-4256-813B-3BCED3ED2637}"/>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ABOUT ME</a:t>
            </a:r>
          </a:p>
        </p:txBody>
      </p:sp>
      <p:sp>
        <p:nvSpPr>
          <p:cNvPr id="5" name="slide-number">
            <a:extLst>
              <a:ext uri="{FF2B5EF4-FFF2-40B4-BE49-F238E27FC236}">
                <a16:creationId xmlns:a16="http://schemas.microsoft.com/office/drawing/2014/main" id="{162DE736-C6D4-4D25-8311-EE34F939D48D}"/>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4</a:t>
            </a:r>
          </a:p>
        </p:txBody>
      </p:sp>
      <p:sp>
        <p:nvSpPr>
          <p:cNvPr id="6" name="title">
            <a:extLst>
              <a:ext uri="{FF2B5EF4-FFF2-40B4-BE49-F238E27FC236}">
                <a16:creationId xmlns:a16="http://schemas.microsoft.com/office/drawing/2014/main" id="{C659B037-8B3B-4C95-BB63-4A8E1AA20107}"/>
              </a:ext>
            </a:extLst>
          </p:cNvPr>
          <p:cNvSpPr>
            <a:spLocks/>
          </p:cNvSpPr>
          <p:nvPr/>
        </p:nvSpPr>
        <p:spPr>
          <a:xfrm>
            <a:off x="685800" y="1162050"/>
            <a:ext cx="8572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About Me</a:t>
            </a:r>
          </a:p>
        </p:txBody>
      </p:sp>
      <p:sp>
        <p:nvSpPr>
          <p:cNvPr id="9" name="step-0">
            <a:extLst>
              <a:ext uri="{FF2B5EF4-FFF2-40B4-BE49-F238E27FC236}">
                <a16:creationId xmlns:a16="http://schemas.microsoft.com/office/drawing/2014/main" id="{2A9CC6D4-0C75-4B57-803D-C3704901ABA7}"/>
              </a:ext>
            </a:extLst>
          </p:cNvPr>
          <p:cNvSpPr>
            <a:spLocks/>
          </p:cNvSpPr>
          <p:nvPr/>
        </p:nvSpPr>
        <p:spPr>
          <a:xfrm>
            <a:off x="685800" y="2190750"/>
            <a:ext cx="5948680" cy="2117090"/>
          </a:xfrm>
          <a:prstGeom prst="rect">
            <a:avLst/>
          </a:prstGeom>
          <a:noFill/>
          <a:ln w="0">
            <a:noFill/>
            <a:prstDash val="solid"/>
          </a:ln>
        </p:spPr>
        <p:txBody>
          <a:bodyPr/>
          <a:lstStyle/>
          <a:p>
            <a:pPr>
              <a:buNone/>
              <a:defRPr sz="1500" b="0">
                <a:solidFill>
                  <a:srgbClr val="203044"/>
                </a:solidFill>
                <a:latin typeface="Aptos"/>
                <a:ea typeface="Aptos"/>
                <a:cs typeface="Aptos"/>
              </a:defRPr>
            </a:pPr>
            <a:r>
              <a:rPr sz="2000" b="1" dirty="0">
                <a:solidFill>
                  <a:srgbClr val="203044"/>
                </a:solidFill>
                <a:latin typeface="Aptos"/>
                <a:ea typeface="Aptos"/>
                <a:cs typeface="Aptos"/>
              </a:rPr>
              <a:t>Brad Cannell, PhD, MPH</a:t>
            </a:r>
          </a:p>
          <a:p>
            <a:pPr>
              <a:buNone/>
              <a:defRPr sz="1500" b="0">
                <a:solidFill>
                  <a:srgbClr val="203044"/>
                </a:solidFill>
                <a:latin typeface="Aptos"/>
                <a:ea typeface="Aptos"/>
                <a:cs typeface="Aptos"/>
              </a:defRPr>
            </a:pPr>
            <a:r>
              <a:rPr lang="en-US" sz="2000" dirty="0">
                <a:solidFill>
                  <a:srgbClr val="203044"/>
                </a:solidFill>
                <a:latin typeface="Aptos"/>
                <a:ea typeface="Aptos"/>
                <a:cs typeface="Aptos"/>
              </a:rPr>
              <a:t>Professor</a:t>
            </a:r>
          </a:p>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Associate Dean for Research</a:t>
            </a:r>
          </a:p>
          <a:p>
            <a:pPr>
              <a:buNone/>
              <a:defRPr sz="1500" b="0">
                <a:solidFill>
                  <a:srgbClr val="203044"/>
                </a:solidFill>
                <a:latin typeface="Aptos"/>
                <a:ea typeface="Aptos"/>
                <a:cs typeface="Aptos"/>
              </a:defRPr>
            </a:pPr>
            <a:r>
              <a:rPr lang="en-US" sz="2000" dirty="0">
                <a:solidFill>
                  <a:srgbClr val="203044"/>
                </a:solidFill>
                <a:latin typeface="Aptos"/>
                <a:ea typeface="Aptos"/>
                <a:cs typeface="Aptos"/>
              </a:rPr>
              <a:t>Co-Director, Center for Neurodegenerative Disease</a:t>
            </a:r>
            <a:endParaRPr sz="2000" b="0" dirty="0">
              <a:solidFill>
                <a:srgbClr val="203044"/>
              </a:solidFill>
              <a:latin typeface="Aptos"/>
              <a:ea typeface="Aptos"/>
              <a:cs typeface="Aptos"/>
            </a:endParaRPr>
          </a:p>
        </p:txBody>
      </p:sp>
      <p:pic>
        <p:nvPicPr>
          <p:cNvPr id="11" name="Picture 10">
            <a:extLst>
              <a:ext uri="{FF2B5EF4-FFF2-40B4-BE49-F238E27FC236}">
                <a16:creationId xmlns:a16="http://schemas.microsoft.com/office/drawing/2014/main" id="{54F48619-29E6-DBEF-818B-9FC1DCE72A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3193" y="0"/>
            <a:ext cx="4568807" cy="6858000"/>
          </a:xfrm>
          <a:prstGeom prst="rect">
            <a:avLst/>
          </a:prstGeom>
        </p:spPr>
      </p:pic>
    </p:spTree>
    <p:extLst>
      <p:ext uri="{BB962C8B-B14F-4D97-AF65-F5344CB8AC3E}">
        <p14:creationId xmlns:p14="http://schemas.microsoft.com/office/powerpoint/2010/main" val="239802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5C5EB90-0FBA-BEA0-4472-BB15864C47CF}"/>
            </a:ext>
          </a:extLst>
        </p:cNvPr>
        <p:cNvGrpSpPr/>
        <p:nvPr/>
      </p:nvGrpSpPr>
      <p:grpSpPr>
        <a:xfrm>
          <a:off x="0" y="0"/>
          <a:ext cx="0" cy="0"/>
          <a:chOff x="0" y="0"/>
          <a:chExt cx="0" cy="0"/>
        </a:xfrm>
      </p:grpSpPr>
      <p:sp>
        <p:nvSpPr>
          <p:cNvPr id="19" name="template-label">
            <a:extLst>
              <a:ext uri="{FF2B5EF4-FFF2-40B4-BE49-F238E27FC236}">
                <a16:creationId xmlns:a16="http://schemas.microsoft.com/office/drawing/2014/main" id="{A96F35AA-A39D-77C3-5D51-223DB64FAD9B}"/>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9B070CD2-A073-3BE3-C687-AD55DEB9A865}"/>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6BD57A6C-A965-9022-1314-438792E9BE20}"/>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B8F14666-451C-9A15-9567-27CEA05A4FAA}"/>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ABOUT ME</a:t>
            </a:r>
          </a:p>
        </p:txBody>
      </p:sp>
      <p:sp>
        <p:nvSpPr>
          <p:cNvPr id="5" name="slide-number">
            <a:extLst>
              <a:ext uri="{FF2B5EF4-FFF2-40B4-BE49-F238E27FC236}">
                <a16:creationId xmlns:a16="http://schemas.microsoft.com/office/drawing/2014/main" id="{9E34DD5E-054F-3178-2BD3-09019FF95AF5}"/>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4</a:t>
            </a:r>
          </a:p>
        </p:txBody>
      </p:sp>
      <p:sp>
        <p:nvSpPr>
          <p:cNvPr id="6" name="title">
            <a:extLst>
              <a:ext uri="{FF2B5EF4-FFF2-40B4-BE49-F238E27FC236}">
                <a16:creationId xmlns:a16="http://schemas.microsoft.com/office/drawing/2014/main" id="{68B63FDD-4BA4-87D8-A3AD-DDD0192A6AE3}"/>
              </a:ext>
            </a:extLst>
          </p:cNvPr>
          <p:cNvSpPr>
            <a:spLocks/>
          </p:cNvSpPr>
          <p:nvPr/>
        </p:nvSpPr>
        <p:spPr>
          <a:xfrm>
            <a:off x="685800" y="1162050"/>
            <a:ext cx="8572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lang="en-US" sz="2625" b="1" dirty="0">
                <a:solidFill>
                  <a:srgbClr val="203044"/>
                </a:solidFill>
                <a:latin typeface="Aptos"/>
                <a:ea typeface="Aptos"/>
                <a:cs typeface="Aptos"/>
              </a:rPr>
              <a:t>Education</a:t>
            </a:r>
            <a:endParaRPr sz="2625" b="1" dirty="0">
              <a:solidFill>
                <a:srgbClr val="203044"/>
              </a:solidFill>
              <a:latin typeface="Aptos"/>
              <a:ea typeface="Aptos"/>
              <a:cs typeface="Aptos"/>
            </a:endParaRPr>
          </a:p>
        </p:txBody>
      </p:sp>
      <p:grpSp>
        <p:nvGrpSpPr>
          <p:cNvPr id="8" name="Group 7">
            <a:extLst>
              <a:ext uri="{FF2B5EF4-FFF2-40B4-BE49-F238E27FC236}">
                <a16:creationId xmlns:a16="http://schemas.microsoft.com/office/drawing/2014/main" id="{3E3AA190-1012-6FD0-8B91-E7ADC9AC0AC4}"/>
              </a:ext>
            </a:extLst>
          </p:cNvPr>
          <p:cNvGrpSpPr/>
          <p:nvPr/>
        </p:nvGrpSpPr>
        <p:grpSpPr>
          <a:xfrm>
            <a:off x="685800" y="2376487"/>
            <a:ext cx="7486650" cy="400050"/>
            <a:chOff x="685800" y="2376487"/>
            <a:chExt cx="7486650" cy="400050"/>
          </a:xfrm>
        </p:grpSpPr>
        <p:sp>
          <p:nvSpPr>
            <p:cNvPr id="7" name="step-num-bg-0">
              <a:extLst>
                <a:ext uri="{FF2B5EF4-FFF2-40B4-BE49-F238E27FC236}">
                  <a16:creationId xmlns:a16="http://schemas.microsoft.com/office/drawing/2014/main" id="{2F91D1C6-A744-D13B-A5D1-DCB74D7C084C}"/>
                </a:ext>
              </a:extLst>
            </p:cNvPr>
            <p:cNvSpPr>
              <a:spLocks/>
            </p:cNvSpPr>
            <p:nvPr/>
          </p:nvSpPr>
          <p:spPr>
            <a:xfrm>
              <a:off x="685800" y="2376487"/>
              <a:ext cx="400050" cy="400050"/>
            </a:xfrm>
            <a:prstGeom prst="ellipse">
              <a:avLst/>
            </a:prstGeom>
            <a:solidFill>
              <a:srgbClr val="4E5F72"/>
            </a:solidFill>
            <a:ln w="9525">
              <a:solidFill>
                <a:srgbClr val="4E5F72"/>
              </a:solidFill>
              <a:prstDash val="solid"/>
            </a:ln>
          </p:spPr>
          <p:txBody>
            <a:bodyPr anchor="ctr"/>
            <a:lstStyle/>
            <a:p>
              <a:pPr algn="ctr">
                <a:buNone/>
              </a:pPr>
              <a:r>
                <a:rPr>
                  <a:solidFill>
                    <a:schemeClr val="bg1"/>
                  </a:solidFill>
                </a:rPr>
                <a:t>1</a:t>
              </a:r>
            </a:p>
          </p:txBody>
        </p:sp>
        <p:sp>
          <p:nvSpPr>
            <p:cNvPr id="9" name="step-0">
              <a:extLst>
                <a:ext uri="{FF2B5EF4-FFF2-40B4-BE49-F238E27FC236}">
                  <a16:creationId xmlns:a16="http://schemas.microsoft.com/office/drawing/2014/main" id="{B914BCF3-E146-760C-CBC2-3C7984416D3F}"/>
                </a:ext>
              </a:extLst>
            </p:cNvPr>
            <p:cNvSpPr>
              <a:spLocks/>
            </p:cNvSpPr>
            <p:nvPr/>
          </p:nvSpPr>
          <p:spPr>
            <a:xfrm>
              <a:off x="1314450" y="2393632"/>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BA, Political Science and Marketing, University of North Texas</a:t>
              </a:r>
              <a:endParaRPr sz="2000" b="0" dirty="0">
                <a:solidFill>
                  <a:srgbClr val="203044"/>
                </a:solidFill>
                <a:latin typeface="Aptos"/>
                <a:ea typeface="Aptos"/>
                <a:cs typeface="Aptos"/>
              </a:endParaRPr>
            </a:p>
          </p:txBody>
        </p:sp>
      </p:grpSp>
    </p:spTree>
    <p:extLst>
      <p:ext uri="{BB962C8B-B14F-4D97-AF65-F5344CB8AC3E}">
        <p14:creationId xmlns:p14="http://schemas.microsoft.com/office/powerpoint/2010/main" val="1459986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668594-4C2A-1172-DA07-0D9DF8580C82}"/>
              </a:ext>
            </a:extLst>
          </p:cNvPr>
          <p:cNvSpPr/>
          <p:nvPr/>
        </p:nvSpPr>
        <p:spPr>
          <a:xfrm>
            <a:off x="-10602" y="-7951"/>
            <a:ext cx="12207902" cy="6885830"/>
          </a:xfrm>
          <a:custGeom>
            <a:avLst/>
            <a:gdLst>
              <a:gd name="connsiteX0" fmla="*/ 0 w 7267903"/>
              <a:gd name="connsiteY0" fmla="*/ 0 h 6857999"/>
              <a:gd name="connsiteX1" fmla="*/ 7267903 w 7267903"/>
              <a:gd name="connsiteY1" fmla="*/ 0 h 6857999"/>
              <a:gd name="connsiteX2" fmla="*/ 7267903 w 7267903"/>
              <a:gd name="connsiteY2" fmla="*/ 6857999 h 6857999"/>
              <a:gd name="connsiteX3" fmla="*/ 0 w 7267903"/>
              <a:gd name="connsiteY3" fmla="*/ 6857999 h 6857999"/>
              <a:gd name="connsiteX4" fmla="*/ 0 w 7267903"/>
              <a:gd name="connsiteY4" fmla="*/ 0 h 6857999"/>
              <a:gd name="connsiteX0" fmla="*/ 0 w 7267903"/>
              <a:gd name="connsiteY0" fmla="*/ 0 h 6857999"/>
              <a:gd name="connsiteX1" fmla="*/ 7267903 w 7267903"/>
              <a:gd name="connsiteY1" fmla="*/ 0 h 6857999"/>
              <a:gd name="connsiteX2" fmla="*/ 1057934 w 7267903"/>
              <a:gd name="connsiteY2" fmla="*/ 6857999 h 6857999"/>
              <a:gd name="connsiteX3" fmla="*/ 0 w 7267903"/>
              <a:gd name="connsiteY3" fmla="*/ 6857999 h 6857999"/>
              <a:gd name="connsiteX4" fmla="*/ 0 w 7267903"/>
              <a:gd name="connsiteY4" fmla="*/ 0 h 6857999"/>
              <a:gd name="connsiteX0" fmla="*/ 0 w 9780515"/>
              <a:gd name="connsiteY0" fmla="*/ 0 h 6865950"/>
              <a:gd name="connsiteX1" fmla="*/ 9780515 w 9780515"/>
              <a:gd name="connsiteY1" fmla="*/ 7951 h 6865950"/>
              <a:gd name="connsiteX2" fmla="*/ 3570546 w 9780515"/>
              <a:gd name="connsiteY2" fmla="*/ 6865950 h 6865950"/>
              <a:gd name="connsiteX3" fmla="*/ 2512612 w 9780515"/>
              <a:gd name="connsiteY3" fmla="*/ 6865950 h 6865950"/>
              <a:gd name="connsiteX4" fmla="*/ 0 w 9780515"/>
              <a:gd name="connsiteY4" fmla="*/ 0 h 6865950"/>
              <a:gd name="connsiteX0" fmla="*/ 0 w 9780515"/>
              <a:gd name="connsiteY0" fmla="*/ 0 h 6865950"/>
              <a:gd name="connsiteX1" fmla="*/ 9780515 w 9780515"/>
              <a:gd name="connsiteY1" fmla="*/ 7951 h 6865950"/>
              <a:gd name="connsiteX2" fmla="*/ 3570546 w 9780515"/>
              <a:gd name="connsiteY2" fmla="*/ 6865950 h 6865950"/>
              <a:gd name="connsiteX3" fmla="*/ 7952 w 9780515"/>
              <a:gd name="connsiteY3" fmla="*/ 6865950 h 6865950"/>
              <a:gd name="connsiteX4" fmla="*/ 0 w 9780515"/>
              <a:gd name="connsiteY4"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6209968 w 15990483"/>
              <a:gd name="connsiteY4" fmla="*/ 0 h 6865950"/>
              <a:gd name="connsiteX0" fmla="*/ 6209968 w 15990483"/>
              <a:gd name="connsiteY0" fmla="*/ 0 h 6865964"/>
              <a:gd name="connsiteX1" fmla="*/ 15990483 w 15990483"/>
              <a:gd name="connsiteY1" fmla="*/ 7951 h 6865964"/>
              <a:gd name="connsiteX2" fmla="*/ 9780514 w 15990483"/>
              <a:gd name="connsiteY2" fmla="*/ 6865950 h 6865964"/>
              <a:gd name="connsiteX3" fmla="*/ 0 w 15990483"/>
              <a:gd name="connsiteY3" fmla="*/ 6865950 h 6865964"/>
              <a:gd name="connsiteX4" fmla="*/ 6209968 w 15990483"/>
              <a:gd name="connsiteY4" fmla="*/ 0 h 6865964"/>
              <a:gd name="connsiteX0" fmla="*/ 6209968 w 15990483"/>
              <a:gd name="connsiteY0" fmla="*/ 0 h 6865959"/>
              <a:gd name="connsiteX1" fmla="*/ 15990483 w 15990483"/>
              <a:gd name="connsiteY1" fmla="*/ 7951 h 6865959"/>
              <a:gd name="connsiteX2" fmla="*/ 9780514 w 15990483"/>
              <a:gd name="connsiteY2" fmla="*/ 6865950 h 6865959"/>
              <a:gd name="connsiteX3" fmla="*/ 0 w 15990483"/>
              <a:gd name="connsiteY3" fmla="*/ 6865950 h 6865959"/>
              <a:gd name="connsiteX4" fmla="*/ 6209968 w 15990483"/>
              <a:gd name="connsiteY4" fmla="*/ 0 h 6865959"/>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6209968 w 15990483"/>
              <a:gd name="connsiteY4"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2271833 w 15990483"/>
              <a:gd name="connsiteY4" fmla="*/ 4338491 h 6865950"/>
              <a:gd name="connsiteX5" fmla="*/ 6209968 w 15990483"/>
              <a:gd name="connsiteY5"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2255912 w 15990483"/>
              <a:gd name="connsiteY3" fmla="*/ 6861979 h 6865950"/>
              <a:gd name="connsiteX4" fmla="*/ 0 w 15990483"/>
              <a:gd name="connsiteY4" fmla="*/ 6865950 h 6865950"/>
              <a:gd name="connsiteX5" fmla="*/ 2271833 w 15990483"/>
              <a:gd name="connsiteY5" fmla="*/ 4338491 h 6865950"/>
              <a:gd name="connsiteX6" fmla="*/ 6209968 w 15990483"/>
              <a:gd name="connsiteY6" fmla="*/ 0 h 6865950"/>
              <a:gd name="connsiteX0" fmla="*/ 3954056 w 13734571"/>
              <a:gd name="connsiteY0" fmla="*/ 0 h 6865950"/>
              <a:gd name="connsiteX1" fmla="*/ 13734571 w 13734571"/>
              <a:gd name="connsiteY1" fmla="*/ 7951 h 6865950"/>
              <a:gd name="connsiteX2" fmla="*/ 7524602 w 13734571"/>
              <a:gd name="connsiteY2" fmla="*/ 6865950 h 6865950"/>
              <a:gd name="connsiteX3" fmla="*/ 0 w 13734571"/>
              <a:gd name="connsiteY3" fmla="*/ 6861979 h 6865950"/>
              <a:gd name="connsiteX4" fmla="*/ 15921 w 13734571"/>
              <a:gd name="connsiteY4" fmla="*/ 4338491 h 6865950"/>
              <a:gd name="connsiteX5" fmla="*/ 3954056 w 13734571"/>
              <a:gd name="connsiteY5" fmla="*/ 0 h 6865950"/>
              <a:gd name="connsiteX0" fmla="*/ 3954056 w 13734571"/>
              <a:gd name="connsiteY0" fmla="*/ 0 h 6865950"/>
              <a:gd name="connsiteX1" fmla="*/ 13734571 w 13734571"/>
              <a:gd name="connsiteY1" fmla="*/ 7951 h 6865950"/>
              <a:gd name="connsiteX2" fmla="*/ 12219416 w 13734571"/>
              <a:gd name="connsiteY2" fmla="*/ 1663753 h 6865950"/>
              <a:gd name="connsiteX3" fmla="*/ 7524602 w 13734571"/>
              <a:gd name="connsiteY3" fmla="*/ 6865950 h 6865950"/>
              <a:gd name="connsiteX4" fmla="*/ 0 w 13734571"/>
              <a:gd name="connsiteY4" fmla="*/ 6861979 h 6865950"/>
              <a:gd name="connsiteX5" fmla="*/ 15921 w 13734571"/>
              <a:gd name="connsiteY5" fmla="*/ 4338491 h 6865950"/>
              <a:gd name="connsiteX6" fmla="*/ 3954056 w 13734571"/>
              <a:gd name="connsiteY6" fmla="*/ 0 h 6865950"/>
              <a:gd name="connsiteX0" fmla="*/ 3954056 w 13734571"/>
              <a:gd name="connsiteY0" fmla="*/ 0 h 6865950"/>
              <a:gd name="connsiteX1" fmla="*/ 13734571 w 13734571"/>
              <a:gd name="connsiteY1" fmla="*/ 7951 h 6865950"/>
              <a:gd name="connsiteX2" fmla="*/ 12219416 w 13734571"/>
              <a:gd name="connsiteY2" fmla="*/ 1663753 h 6865950"/>
              <a:gd name="connsiteX3" fmla="*/ 7524602 w 13734571"/>
              <a:gd name="connsiteY3" fmla="*/ 6865950 h 6865950"/>
              <a:gd name="connsiteX4" fmla="*/ 0 w 13734571"/>
              <a:gd name="connsiteY4" fmla="*/ 6861979 h 6865950"/>
              <a:gd name="connsiteX5" fmla="*/ 15921 w 13734571"/>
              <a:gd name="connsiteY5" fmla="*/ 4338491 h 6865950"/>
              <a:gd name="connsiteX6" fmla="*/ 3954056 w 13734571"/>
              <a:gd name="connsiteY6" fmla="*/ 0 h 6865950"/>
              <a:gd name="connsiteX0" fmla="*/ 3954056 w 13734571"/>
              <a:gd name="connsiteY0" fmla="*/ 0 h 6865950"/>
              <a:gd name="connsiteX1" fmla="*/ 12155732 w 13734571"/>
              <a:gd name="connsiteY1" fmla="*/ 1 h 6865950"/>
              <a:gd name="connsiteX2" fmla="*/ 13734571 w 13734571"/>
              <a:gd name="connsiteY2" fmla="*/ 7951 h 6865950"/>
              <a:gd name="connsiteX3" fmla="*/ 12219416 w 13734571"/>
              <a:gd name="connsiteY3" fmla="*/ 1663753 h 6865950"/>
              <a:gd name="connsiteX4" fmla="*/ 7524602 w 13734571"/>
              <a:gd name="connsiteY4" fmla="*/ 6865950 h 6865950"/>
              <a:gd name="connsiteX5" fmla="*/ 0 w 13734571"/>
              <a:gd name="connsiteY5" fmla="*/ 6861979 h 6865950"/>
              <a:gd name="connsiteX6" fmla="*/ 15921 w 13734571"/>
              <a:gd name="connsiteY6" fmla="*/ 4338491 h 6865950"/>
              <a:gd name="connsiteX7" fmla="*/ 3954056 w 13734571"/>
              <a:gd name="connsiteY7" fmla="*/ 0 h 6865950"/>
              <a:gd name="connsiteX0" fmla="*/ 3954056 w 12219416"/>
              <a:gd name="connsiteY0" fmla="*/ 0 h 6865950"/>
              <a:gd name="connsiteX1" fmla="*/ 12155732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 name="connsiteX0" fmla="*/ 3954056 w 12219416"/>
              <a:gd name="connsiteY0" fmla="*/ 321369 h 7187319"/>
              <a:gd name="connsiteX1" fmla="*/ 12219416 w 12219416"/>
              <a:gd name="connsiteY1" fmla="*/ 321370 h 7187319"/>
              <a:gd name="connsiteX2" fmla="*/ 12219416 w 12219416"/>
              <a:gd name="connsiteY2" fmla="*/ 1985122 h 7187319"/>
              <a:gd name="connsiteX3" fmla="*/ 7524602 w 12219416"/>
              <a:gd name="connsiteY3" fmla="*/ 7187319 h 7187319"/>
              <a:gd name="connsiteX4" fmla="*/ 0 w 12219416"/>
              <a:gd name="connsiteY4" fmla="*/ 7183348 h 7187319"/>
              <a:gd name="connsiteX5" fmla="*/ 15921 w 12219416"/>
              <a:gd name="connsiteY5" fmla="*/ 4659860 h 7187319"/>
              <a:gd name="connsiteX6" fmla="*/ 3954056 w 12219416"/>
              <a:gd name="connsiteY6" fmla="*/ 321369 h 7187319"/>
              <a:gd name="connsiteX0" fmla="*/ 3954056 w 12219416"/>
              <a:gd name="connsiteY0" fmla="*/ 0 h 6865950"/>
              <a:gd name="connsiteX1" fmla="*/ 12219416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 name="connsiteX0" fmla="*/ 3954056 w 12219416"/>
              <a:gd name="connsiteY0" fmla="*/ 0 h 6865950"/>
              <a:gd name="connsiteX1" fmla="*/ 12219416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 name="connsiteX0" fmla="*/ 3954056 w 12219416"/>
              <a:gd name="connsiteY0" fmla="*/ 0 h 6865950"/>
              <a:gd name="connsiteX1" fmla="*/ 12219416 w 12219416"/>
              <a:gd name="connsiteY1" fmla="*/ 1 h 6865950"/>
              <a:gd name="connsiteX2" fmla="*/ 12219416 w 12219416"/>
              <a:gd name="connsiteY2" fmla="*/ 1663753 h 6865950"/>
              <a:gd name="connsiteX3" fmla="*/ 10964307 w 12219416"/>
              <a:gd name="connsiteY3" fmla="*/ 3040924 h 6865950"/>
              <a:gd name="connsiteX4" fmla="*/ 7524602 w 12219416"/>
              <a:gd name="connsiteY4" fmla="*/ 6865950 h 6865950"/>
              <a:gd name="connsiteX5" fmla="*/ 0 w 12219416"/>
              <a:gd name="connsiteY5" fmla="*/ 6861979 h 6865950"/>
              <a:gd name="connsiteX6" fmla="*/ 15921 w 12219416"/>
              <a:gd name="connsiteY6" fmla="*/ 4338491 h 6865950"/>
              <a:gd name="connsiteX7" fmla="*/ 3954056 w 12219416"/>
              <a:gd name="connsiteY7" fmla="*/ 0 h 6865950"/>
              <a:gd name="connsiteX0" fmla="*/ 3954056 w 12219416"/>
              <a:gd name="connsiteY0" fmla="*/ 7959 h 6873909"/>
              <a:gd name="connsiteX1" fmla="*/ 10980229 w 12219416"/>
              <a:gd name="connsiteY1" fmla="*/ 0 h 6873909"/>
              <a:gd name="connsiteX2" fmla="*/ 12219416 w 12219416"/>
              <a:gd name="connsiteY2" fmla="*/ 7960 h 6873909"/>
              <a:gd name="connsiteX3" fmla="*/ 12219416 w 12219416"/>
              <a:gd name="connsiteY3" fmla="*/ 1671712 h 6873909"/>
              <a:gd name="connsiteX4" fmla="*/ 10964307 w 12219416"/>
              <a:gd name="connsiteY4" fmla="*/ 3048883 h 6873909"/>
              <a:gd name="connsiteX5" fmla="*/ 7524602 w 12219416"/>
              <a:gd name="connsiteY5" fmla="*/ 6873909 h 6873909"/>
              <a:gd name="connsiteX6" fmla="*/ 0 w 12219416"/>
              <a:gd name="connsiteY6" fmla="*/ 6869938 h 6873909"/>
              <a:gd name="connsiteX7" fmla="*/ 15921 w 12219416"/>
              <a:gd name="connsiteY7" fmla="*/ 4346450 h 6873909"/>
              <a:gd name="connsiteX8" fmla="*/ 3954056 w 12219416"/>
              <a:gd name="connsiteY8" fmla="*/ 7959 h 6873909"/>
              <a:gd name="connsiteX0" fmla="*/ 5187937 w 13453297"/>
              <a:gd name="connsiteY0" fmla="*/ 324030 h 7189980"/>
              <a:gd name="connsiteX1" fmla="*/ 12214110 w 13453297"/>
              <a:gd name="connsiteY1" fmla="*/ 316071 h 7189980"/>
              <a:gd name="connsiteX2" fmla="*/ 13453297 w 13453297"/>
              <a:gd name="connsiteY2" fmla="*/ 324031 h 7189980"/>
              <a:gd name="connsiteX3" fmla="*/ 13453297 w 13453297"/>
              <a:gd name="connsiteY3" fmla="*/ 1987783 h 7189980"/>
              <a:gd name="connsiteX4" fmla="*/ 12198188 w 13453297"/>
              <a:gd name="connsiteY4" fmla="*/ 3364954 h 7189980"/>
              <a:gd name="connsiteX5" fmla="*/ 8758483 w 13453297"/>
              <a:gd name="connsiteY5" fmla="*/ 7189980 h 7189980"/>
              <a:gd name="connsiteX6" fmla="*/ 1233881 w 13453297"/>
              <a:gd name="connsiteY6" fmla="*/ 7186009 h 7189980"/>
              <a:gd name="connsiteX7" fmla="*/ 0 w 13453297"/>
              <a:gd name="connsiteY7" fmla="*/ 4670481 h 7189980"/>
              <a:gd name="connsiteX8" fmla="*/ 5187937 w 13453297"/>
              <a:gd name="connsiteY8" fmla="*/ 324030 h 7189980"/>
              <a:gd name="connsiteX0" fmla="*/ 3930173 w 13453297"/>
              <a:gd name="connsiteY0" fmla="*/ 326127 h 7184116"/>
              <a:gd name="connsiteX1" fmla="*/ 12214110 w 13453297"/>
              <a:gd name="connsiteY1" fmla="*/ 310207 h 7184116"/>
              <a:gd name="connsiteX2" fmla="*/ 13453297 w 13453297"/>
              <a:gd name="connsiteY2" fmla="*/ 318167 h 7184116"/>
              <a:gd name="connsiteX3" fmla="*/ 13453297 w 13453297"/>
              <a:gd name="connsiteY3" fmla="*/ 1981919 h 7184116"/>
              <a:gd name="connsiteX4" fmla="*/ 12198188 w 13453297"/>
              <a:gd name="connsiteY4" fmla="*/ 3359090 h 7184116"/>
              <a:gd name="connsiteX5" fmla="*/ 8758483 w 13453297"/>
              <a:gd name="connsiteY5" fmla="*/ 7184116 h 7184116"/>
              <a:gd name="connsiteX6" fmla="*/ 1233881 w 13453297"/>
              <a:gd name="connsiteY6" fmla="*/ 7180145 h 7184116"/>
              <a:gd name="connsiteX7" fmla="*/ 0 w 13453297"/>
              <a:gd name="connsiteY7" fmla="*/ 4664617 h 7184116"/>
              <a:gd name="connsiteX8" fmla="*/ 3930173 w 13453297"/>
              <a:gd name="connsiteY8" fmla="*/ 326127 h 7184116"/>
              <a:gd name="connsiteX0" fmla="*/ 3930173 w 13453297"/>
              <a:gd name="connsiteY0" fmla="*/ 326127 h 7204027"/>
              <a:gd name="connsiteX1" fmla="*/ 12214110 w 13453297"/>
              <a:gd name="connsiteY1" fmla="*/ 310207 h 7204027"/>
              <a:gd name="connsiteX2" fmla="*/ 13453297 w 13453297"/>
              <a:gd name="connsiteY2" fmla="*/ 318167 h 7204027"/>
              <a:gd name="connsiteX3" fmla="*/ 13453297 w 13453297"/>
              <a:gd name="connsiteY3" fmla="*/ 1981919 h 7204027"/>
              <a:gd name="connsiteX4" fmla="*/ 12198188 w 13453297"/>
              <a:gd name="connsiteY4" fmla="*/ 3359090 h 7204027"/>
              <a:gd name="connsiteX5" fmla="*/ 8758483 w 13453297"/>
              <a:gd name="connsiteY5" fmla="*/ 7184116 h 7204027"/>
              <a:gd name="connsiteX6" fmla="*/ 7959 w 13453297"/>
              <a:gd name="connsiteY6" fmla="*/ 7204027 h 7204027"/>
              <a:gd name="connsiteX7" fmla="*/ 0 w 13453297"/>
              <a:gd name="connsiteY7" fmla="*/ 4664617 h 7204027"/>
              <a:gd name="connsiteX8" fmla="*/ 3930173 w 13453297"/>
              <a:gd name="connsiteY8" fmla="*/ 326127 h 7204027"/>
              <a:gd name="connsiteX0" fmla="*/ 3930173 w 13453297"/>
              <a:gd name="connsiteY0" fmla="*/ 326127 h 7204027"/>
              <a:gd name="connsiteX1" fmla="*/ 12214110 w 13453297"/>
              <a:gd name="connsiteY1" fmla="*/ 310207 h 7204027"/>
              <a:gd name="connsiteX2" fmla="*/ 13453297 w 13453297"/>
              <a:gd name="connsiteY2" fmla="*/ 318167 h 7204027"/>
              <a:gd name="connsiteX3" fmla="*/ 13453297 w 13453297"/>
              <a:gd name="connsiteY3" fmla="*/ 1981919 h 7204027"/>
              <a:gd name="connsiteX4" fmla="*/ 12198188 w 13453297"/>
              <a:gd name="connsiteY4" fmla="*/ 3359090 h 7204027"/>
              <a:gd name="connsiteX5" fmla="*/ 8758483 w 13453297"/>
              <a:gd name="connsiteY5" fmla="*/ 7184116 h 7204027"/>
              <a:gd name="connsiteX6" fmla="*/ 7959 w 13453297"/>
              <a:gd name="connsiteY6" fmla="*/ 7204027 h 7204027"/>
              <a:gd name="connsiteX7" fmla="*/ 0 w 13453297"/>
              <a:gd name="connsiteY7" fmla="*/ 4664617 h 7204027"/>
              <a:gd name="connsiteX8" fmla="*/ 3930173 w 13453297"/>
              <a:gd name="connsiteY8" fmla="*/ 326127 h 7204027"/>
              <a:gd name="connsiteX0" fmla="*/ 3930173 w 13453297"/>
              <a:gd name="connsiteY0" fmla="*/ 15920 h 6893820"/>
              <a:gd name="connsiteX1" fmla="*/ 12214110 w 13453297"/>
              <a:gd name="connsiteY1" fmla="*/ 0 h 6893820"/>
              <a:gd name="connsiteX2" fmla="*/ 13453297 w 13453297"/>
              <a:gd name="connsiteY2" fmla="*/ 7960 h 6893820"/>
              <a:gd name="connsiteX3" fmla="*/ 13453297 w 13453297"/>
              <a:gd name="connsiteY3" fmla="*/ 1671712 h 6893820"/>
              <a:gd name="connsiteX4" fmla="*/ 12198188 w 13453297"/>
              <a:gd name="connsiteY4" fmla="*/ 3048883 h 6893820"/>
              <a:gd name="connsiteX5" fmla="*/ 8758483 w 13453297"/>
              <a:gd name="connsiteY5" fmla="*/ 6873909 h 6893820"/>
              <a:gd name="connsiteX6" fmla="*/ 7959 w 13453297"/>
              <a:gd name="connsiteY6" fmla="*/ 6893820 h 6893820"/>
              <a:gd name="connsiteX7" fmla="*/ 0 w 13453297"/>
              <a:gd name="connsiteY7" fmla="*/ 4354410 h 6893820"/>
              <a:gd name="connsiteX8" fmla="*/ 3930173 w 13453297"/>
              <a:gd name="connsiteY8" fmla="*/ 15920 h 6893820"/>
              <a:gd name="connsiteX0" fmla="*/ 3930173 w 13453297"/>
              <a:gd name="connsiteY0" fmla="*/ 15920 h 6893820"/>
              <a:gd name="connsiteX1" fmla="*/ 12214110 w 13453297"/>
              <a:gd name="connsiteY1" fmla="*/ 0 h 6893820"/>
              <a:gd name="connsiteX2" fmla="*/ 13453297 w 13453297"/>
              <a:gd name="connsiteY2" fmla="*/ 1671712 h 6893820"/>
              <a:gd name="connsiteX3" fmla="*/ 12198188 w 13453297"/>
              <a:gd name="connsiteY3" fmla="*/ 3048883 h 6893820"/>
              <a:gd name="connsiteX4" fmla="*/ 8758483 w 13453297"/>
              <a:gd name="connsiteY4" fmla="*/ 6873909 h 6893820"/>
              <a:gd name="connsiteX5" fmla="*/ 7959 w 13453297"/>
              <a:gd name="connsiteY5" fmla="*/ 6893820 h 6893820"/>
              <a:gd name="connsiteX6" fmla="*/ 0 w 13453297"/>
              <a:gd name="connsiteY6" fmla="*/ 4354410 h 6893820"/>
              <a:gd name="connsiteX7" fmla="*/ 3930173 w 13453297"/>
              <a:gd name="connsiteY7" fmla="*/ 15920 h 6893820"/>
              <a:gd name="connsiteX0" fmla="*/ 3930173 w 12214110"/>
              <a:gd name="connsiteY0" fmla="*/ 15920 h 6893820"/>
              <a:gd name="connsiteX1" fmla="*/ 12214110 w 12214110"/>
              <a:gd name="connsiteY1" fmla="*/ 0 h 6893820"/>
              <a:gd name="connsiteX2" fmla="*/ 12198188 w 12214110"/>
              <a:gd name="connsiteY2" fmla="*/ 3048883 h 6893820"/>
              <a:gd name="connsiteX3" fmla="*/ 8758483 w 12214110"/>
              <a:gd name="connsiteY3" fmla="*/ 6873909 h 6893820"/>
              <a:gd name="connsiteX4" fmla="*/ 7959 w 12214110"/>
              <a:gd name="connsiteY4" fmla="*/ 6893820 h 6893820"/>
              <a:gd name="connsiteX5" fmla="*/ 0 w 12214110"/>
              <a:gd name="connsiteY5" fmla="*/ 4354410 h 6893820"/>
              <a:gd name="connsiteX6" fmla="*/ 3930173 w 12214110"/>
              <a:gd name="connsiteY6" fmla="*/ 15920 h 6893820"/>
              <a:gd name="connsiteX0" fmla="*/ 1900238 w 12214110"/>
              <a:gd name="connsiteY0" fmla="*/ 15920 h 6893820"/>
              <a:gd name="connsiteX1" fmla="*/ 12214110 w 12214110"/>
              <a:gd name="connsiteY1" fmla="*/ 0 h 6893820"/>
              <a:gd name="connsiteX2" fmla="*/ 12198188 w 12214110"/>
              <a:gd name="connsiteY2" fmla="*/ 3048883 h 6893820"/>
              <a:gd name="connsiteX3" fmla="*/ 8758483 w 12214110"/>
              <a:gd name="connsiteY3" fmla="*/ 6873909 h 6893820"/>
              <a:gd name="connsiteX4" fmla="*/ 7959 w 12214110"/>
              <a:gd name="connsiteY4" fmla="*/ 6893820 h 6893820"/>
              <a:gd name="connsiteX5" fmla="*/ 0 w 12214110"/>
              <a:gd name="connsiteY5" fmla="*/ 4354410 h 6893820"/>
              <a:gd name="connsiteX6" fmla="*/ 1900238 w 12214110"/>
              <a:gd name="connsiteY6" fmla="*/ 15920 h 6893820"/>
              <a:gd name="connsiteX0" fmla="*/ 1908198 w 12222070"/>
              <a:gd name="connsiteY0" fmla="*/ 168702 h 7046602"/>
              <a:gd name="connsiteX1" fmla="*/ 12222070 w 12222070"/>
              <a:gd name="connsiteY1" fmla="*/ 152782 h 7046602"/>
              <a:gd name="connsiteX2" fmla="*/ 12206148 w 12222070"/>
              <a:gd name="connsiteY2" fmla="*/ 3201665 h 7046602"/>
              <a:gd name="connsiteX3" fmla="*/ 8766443 w 12222070"/>
              <a:gd name="connsiteY3" fmla="*/ 7026691 h 7046602"/>
              <a:gd name="connsiteX4" fmla="*/ 15919 w 12222070"/>
              <a:gd name="connsiteY4" fmla="*/ 7046602 h 7046602"/>
              <a:gd name="connsiteX5" fmla="*/ 0 w 12222070"/>
              <a:gd name="connsiteY5" fmla="*/ 2389691 h 7046602"/>
              <a:gd name="connsiteX6" fmla="*/ 1908198 w 12222070"/>
              <a:gd name="connsiteY6" fmla="*/ 168702 h 7046602"/>
              <a:gd name="connsiteX0" fmla="*/ 1908198 w 12222070"/>
              <a:gd name="connsiteY0" fmla="*/ 168702 h 7046602"/>
              <a:gd name="connsiteX1" fmla="*/ 12222070 w 12222070"/>
              <a:gd name="connsiteY1" fmla="*/ 152782 h 7046602"/>
              <a:gd name="connsiteX2" fmla="*/ 12206148 w 12222070"/>
              <a:gd name="connsiteY2" fmla="*/ 3201665 h 7046602"/>
              <a:gd name="connsiteX3" fmla="*/ 8766443 w 12222070"/>
              <a:gd name="connsiteY3" fmla="*/ 7026691 h 7046602"/>
              <a:gd name="connsiteX4" fmla="*/ 15919 w 12222070"/>
              <a:gd name="connsiteY4" fmla="*/ 7046602 h 7046602"/>
              <a:gd name="connsiteX5" fmla="*/ 0 w 12222070"/>
              <a:gd name="connsiteY5" fmla="*/ 2389691 h 7046602"/>
              <a:gd name="connsiteX6" fmla="*/ 1908198 w 12222070"/>
              <a:gd name="connsiteY6" fmla="*/ 168702 h 7046602"/>
              <a:gd name="connsiteX0" fmla="*/ 1908198 w 12222070"/>
              <a:gd name="connsiteY0" fmla="*/ 15920 h 6893820"/>
              <a:gd name="connsiteX1" fmla="*/ 12222070 w 12222070"/>
              <a:gd name="connsiteY1" fmla="*/ 0 h 6893820"/>
              <a:gd name="connsiteX2" fmla="*/ 12206148 w 12222070"/>
              <a:gd name="connsiteY2" fmla="*/ 3048883 h 6893820"/>
              <a:gd name="connsiteX3" fmla="*/ 8766443 w 12222070"/>
              <a:gd name="connsiteY3" fmla="*/ 6873909 h 6893820"/>
              <a:gd name="connsiteX4" fmla="*/ 15919 w 12222070"/>
              <a:gd name="connsiteY4" fmla="*/ 6893820 h 6893820"/>
              <a:gd name="connsiteX5" fmla="*/ 0 w 12222070"/>
              <a:gd name="connsiteY5" fmla="*/ 2236909 h 6893820"/>
              <a:gd name="connsiteX6" fmla="*/ 1908198 w 12222070"/>
              <a:gd name="connsiteY6" fmla="*/ 15920 h 6893820"/>
              <a:gd name="connsiteX0" fmla="*/ 1963923 w 12222070"/>
              <a:gd name="connsiteY0" fmla="*/ 7960 h 6893820"/>
              <a:gd name="connsiteX1" fmla="*/ 12222070 w 12222070"/>
              <a:gd name="connsiteY1" fmla="*/ 0 h 6893820"/>
              <a:gd name="connsiteX2" fmla="*/ 12206148 w 12222070"/>
              <a:gd name="connsiteY2" fmla="*/ 3048883 h 6893820"/>
              <a:gd name="connsiteX3" fmla="*/ 8766443 w 12222070"/>
              <a:gd name="connsiteY3" fmla="*/ 6873909 h 6893820"/>
              <a:gd name="connsiteX4" fmla="*/ 15919 w 12222070"/>
              <a:gd name="connsiteY4" fmla="*/ 6893820 h 6893820"/>
              <a:gd name="connsiteX5" fmla="*/ 0 w 12222070"/>
              <a:gd name="connsiteY5" fmla="*/ 2236909 h 6893820"/>
              <a:gd name="connsiteX6" fmla="*/ 1963923 w 12222070"/>
              <a:gd name="connsiteY6" fmla="*/ 7960 h 6893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22070" h="6893820">
                <a:moveTo>
                  <a:pt x="1963923" y="7960"/>
                </a:moveTo>
                <a:lnTo>
                  <a:pt x="12222070" y="0"/>
                </a:lnTo>
                <a:cubicBezTo>
                  <a:pt x="12216763" y="1016294"/>
                  <a:pt x="12211455" y="2032589"/>
                  <a:pt x="12206148" y="3048883"/>
                </a:cubicBezTo>
                <a:lnTo>
                  <a:pt x="8766443" y="6873909"/>
                </a:lnTo>
                <a:lnTo>
                  <a:pt x="15919" y="6893820"/>
                </a:lnTo>
                <a:cubicBezTo>
                  <a:pt x="10613" y="5341516"/>
                  <a:pt x="5306" y="3789213"/>
                  <a:pt x="0" y="2236909"/>
                </a:cubicBezTo>
                <a:lnTo>
                  <a:pt x="1963923" y="7960"/>
                </a:lnTo>
                <a:close/>
              </a:path>
            </a:pathLst>
          </a:custGeom>
          <a:solidFill>
            <a:schemeClr val="bg1"/>
          </a:solidFill>
          <a:ln>
            <a:noFill/>
          </a:ln>
          <a:effectLst>
            <a:outerShdw blurRad="923565" dir="2700000" algn="tl" rotWithShape="0">
              <a:prstClr val="black">
                <a:alpha val="3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6">
            <a:extLst>
              <a:ext uri="{FF2B5EF4-FFF2-40B4-BE49-F238E27FC236}">
                <a16:creationId xmlns:a16="http://schemas.microsoft.com/office/drawing/2014/main" id="{3FA2167C-2096-CE30-168A-F70288C07145}"/>
              </a:ext>
            </a:extLst>
          </p:cNvPr>
          <p:cNvSpPr/>
          <p:nvPr/>
        </p:nvSpPr>
        <p:spPr>
          <a:xfrm>
            <a:off x="-6625" y="5"/>
            <a:ext cx="12205251" cy="6857991"/>
          </a:xfrm>
          <a:custGeom>
            <a:avLst/>
            <a:gdLst>
              <a:gd name="connsiteX0" fmla="*/ 0 w 7267903"/>
              <a:gd name="connsiteY0" fmla="*/ 0 h 6857999"/>
              <a:gd name="connsiteX1" fmla="*/ 7267903 w 7267903"/>
              <a:gd name="connsiteY1" fmla="*/ 0 h 6857999"/>
              <a:gd name="connsiteX2" fmla="*/ 7267903 w 7267903"/>
              <a:gd name="connsiteY2" fmla="*/ 6857999 h 6857999"/>
              <a:gd name="connsiteX3" fmla="*/ 0 w 7267903"/>
              <a:gd name="connsiteY3" fmla="*/ 6857999 h 6857999"/>
              <a:gd name="connsiteX4" fmla="*/ 0 w 7267903"/>
              <a:gd name="connsiteY4" fmla="*/ 0 h 6857999"/>
              <a:gd name="connsiteX0" fmla="*/ 0 w 7267903"/>
              <a:gd name="connsiteY0" fmla="*/ 0 h 6857999"/>
              <a:gd name="connsiteX1" fmla="*/ 7267903 w 7267903"/>
              <a:gd name="connsiteY1" fmla="*/ 0 h 6857999"/>
              <a:gd name="connsiteX2" fmla="*/ 1057934 w 7267903"/>
              <a:gd name="connsiteY2" fmla="*/ 6857999 h 6857999"/>
              <a:gd name="connsiteX3" fmla="*/ 0 w 7267903"/>
              <a:gd name="connsiteY3" fmla="*/ 6857999 h 6857999"/>
              <a:gd name="connsiteX4" fmla="*/ 0 w 7267903"/>
              <a:gd name="connsiteY4" fmla="*/ 0 h 6857999"/>
              <a:gd name="connsiteX0" fmla="*/ 0 w 9780515"/>
              <a:gd name="connsiteY0" fmla="*/ 0 h 6865950"/>
              <a:gd name="connsiteX1" fmla="*/ 9780515 w 9780515"/>
              <a:gd name="connsiteY1" fmla="*/ 7951 h 6865950"/>
              <a:gd name="connsiteX2" fmla="*/ 3570546 w 9780515"/>
              <a:gd name="connsiteY2" fmla="*/ 6865950 h 6865950"/>
              <a:gd name="connsiteX3" fmla="*/ 2512612 w 9780515"/>
              <a:gd name="connsiteY3" fmla="*/ 6865950 h 6865950"/>
              <a:gd name="connsiteX4" fmla="*/ 0 w 9780515"/>
              <a:gd name="connsiteY4" fmla="*/ 0 h 6865950"/>
              <a:gd name="connsiteX0" fmla="*/ 0 w 9780515"/>
              <a:gd name="connsiteY0" fmla="*/ 0 h 6865950"/>
              <a:gd name="connsiteX1" fmla="*/ 9780515 w 9780515"/>
              <a:gd name="connsiteY1" fmla="*/ 7951 h 6865950"/>
              <a:gd name="connsiteX2" fmla="*/ 3570546 w 9780515"/>
              <a:gd name="connsiteY2" fmla="*/ 6865950 h 6865950"/>
              <a:gd name="connsiteX3" fmla="*/ 7952 w 9780515"/>
              <a:gd name="connsiteY3" fmla="*/ 6865950 h 6865950"/>
              <a:gd name="connsiteX4" fmla="*/ 0 w 9780515"/>
              <a:gd name="connsiteY4"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6209968 w 15990483"/>
              <a:gd name="connsiteY4" fmla="*/ 0 h 6865950"/>
              <a:gd name="connsiteX0" fmla="*/ 6209968 w 15990483"/>
              <a:gd name="connsiteY0" fmla="*/ 0 h 6865964"/>
              <a:gd name="connsiteX1" fmla="*/ 15990483 w 15990483"/>
              <a:gd name="connsiteY1" fmla="*/ 7951 h 6865964"/>
              <a:gd name="connsiteX2" fmla="*/ 9780514 w 15990483"/>
              <a:gd name="connsiteY2" fmla="*/ 6865950 h 6865964"/>
              <a:gd name="connsiteX3" fmla="*/ 0 w 15990483"/>
              <a:gd name="connsiteY3" fmla="*/ 6865950 h 6865964"/>
              <a:gd name="connsiteX4" fmla="*/ 6209968 w 15990483"/>
              <a:gd name="connsiteY4" fmla="*/ 0 h 6865964"/>
              <a:gd name="connsiteX0" fmla="*/ 6209968 w 15990483"/>
              <a:gd name="connsiteY0" fmla="*/ 0 h 6865959"/>
              <a:gd name="connsiteX1" fmla="*/ 15990483 w 15990483"/>
              <a:gd name="connsiteY1" fmla="*/ 7951 h 6865959"/>
              <a:gd name="connsiteX2" fmla="*/ 9780514 w 15990483"/>
              <a:gd name="connsiteY2" fmla="*/ 6865950 h 6865959"/>
              <a:gd name="connsiteX3" fmla="*/ 0 w 15990483"/>
              <a:gd name="connsiteY3" fmla="*/ 6865950 h 6865959"/>
              <a:gd name="connsiteX4" fmla="*/ 6209968 w 15990483"/>
              <a:gd name="connsiteY4" fmla="*/ 0 h 6865959"/>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6209968 w 15990483"/>
              <a:gd name="connsiteY4"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0 w 15990483"/>
              <a:gd name="connsiteY3" fmla="*/ 6865950 h 6865950"/>
              <a:gd name="connsiteX4" fmla="*/ 2271833 w 15990483"/>
              <a:gd name="connsiteY4" fmla="*/ 4338491 h 6865950"/>
              <a:gd name="connsiteX5" fmla="*/ 6209968 w 15990483"/>
              <a:gd name="connsiteY5" fmla="*/ 0 h 6865950"/>
              <a:gd name="connsiteX0" fmla="*/ 6209968 w 15990483"/>
              <a:gd name="connsiteY0" fmla="*/ 0 h 6865950"/>
              <a:gd name="connsiteX1" fmla="*/ 15990483 w 15990483"/>
              <a:gd name="connsiteY1" fmla="*/ 7951 h 6865950"/>
              <a:gd name="connsiteX2" fmla="*/ 9780514 w 15990483"/>
              <a:gd name="connsiteY2" fmla="*/ 6865950 h 6865950"/>
              <a:gd name="connsiteX3" fmla="*/ 2255912 w 15990483"/>
              <a:gd name="connsiteY3" fmla="*/ 6861979 h 6865950"/>
              <a:gd name="connsiteX4" fmla="*/ 0 w 15990483"/>
              <a:gd name="connsiteY4" fmla="*/ 6865950 h 6865950"/>
              <a:gd name="connsiteX5" fmla="*/ 2271833 w 15990483"/>
              <a:gd name="connsiteY5" fmla="*/ 4338491 h 6865950"/>
              <a:gd name="connsiteX6" fmla="*/ 6209968 w 15990483"/>
              <a:gd name="connsiteY6" fmla="*/ 0 h 6865950"/>
              <a:gd name="connsiteX0" fmla="*/ 3954056 w 13734571"/>
              <a:gd name="connsiteY0" fmla="*/ 0 h 6865950"/>
              <a:gd name="connsiteX1" fmla="*/ 13734571 w 13734571"/>
              <a:gd name="connsiteY1" fmla="*/ 7951 h 6865950"/>
              <a:gd name="connsiteX2" fmla="*/ 7524602 w 13734571"/>
              <a:gd name="connsiteY2" fmla="*/ 6865950 h 6865950"/>
              <a:gd name="connsiteX3" fmla="*/ 0 w 13734571"/>
              <a:gd name="connsiteY3" fmla="*/ 6861979 h 6865950"/>
              <a:gd name="connsiteX4" fmla="*/ 15921 w 13734571"/>
              <a:gd name="connsiteY4" fmla="*/ 4338491 h 6865950"/>
              <a:gd name="connsiteX5" fmla="*/ 3954056 w 13734571"/>
              <a:gd name="connsiteY5" fmla="*/ 0 h 6865950"/>
              <a:gd name="connsiteX0" fmla="*/ 3954056 w 13734571"/>
              <a:gd name="connsiteY0" fmla="*/ 0 h 6865950"/>
              <a:gd name="connsiteX1" fmla="*/ 13734571 w 13734571"/>
              <a:gd name="connsiteY1" fmla="*/ 7951 h 6865950"/>
              <a:gd name="connsiteX2" fmla="*/ 12219416 w 13734571"/>
              <a:gd name="connsiteY2" fmla="*/ 1663753 h 6865950"/>
              <a:gd name="connsiteX3" fmla="*/ 7524602 w 13734571"/>
              <a:gd name="connsiteY3" fmla="*/ 6865950 h 6865950"/>
              <a:gd name="connsiteX4" fmla="*/ 0 w 13734571"/>
              <a:gd name="connsiteY4" fmla="*/ 6861979 h 6865950"/>
              <a:gd name="connsiteX5" fmla="*/ 15921 w 13734571"/>
              <a:gd name="connsiteY5" fmla="*/ 4338491 h 6865950"/>
              <a:gd name="connsiteX6" fmla="*/ 3954056 w 13734571"/>
              <a:gd name="connsiteY6" fmla="*/ 0 h 6865950"/>
              <a:gd name="connsiteX0" fmla="*/ 3954056 w 13734571"/>
              <a:gd name="connsiteY0" fmla="*/ 0 h 6865950"/>
              <a:gd name="connsiteX1" fmla="*/ 13734571 w 13734571"/>
              <a:gd name="connsiteY1" fmla="*/ 7951 h 6865950"/>
              <a:gd name="connsiteX2" fmla="*/ 12219416 w 13734571"/>
              <a:gd name="connsiteY2" fmla="*/ 1663753 h 6865950"/>
              <a:gd name="connsiteX3" fmla="*/ 7524602 w 13734571"/>
              <a:gd name="connsiteY3" fmla="*/ 6865950 h 6865950"/>
              <a:gd name="connsiteX4" fmla="*/ 0 w 13734571"/>
              <a:gd name="connsiteY4" fmla="*/ 6861979 h 6865950"/>
              <a:gd name="connsiteX5" fmla="*/ 15921 w 13734571"/>
              <a:gd name="connsiteY5" fmla="*/ 4338491 h 6865950"/>
              <a:gd name="connsiteX6" fmla="*/ 3954056 w 13734571"/>
              <a:gd name="connsiteY6" fmla="*/ 0 h 6865950"/>
              <a:gd name="connsiteX0" fmla="*/ 3954056 w 13734571"/>
              <a:gd name="connsiteY0" fmla="*/ 0 h 6865950"/>
              <a:gd name="connsiteX1" fmla="*/ 12155732 w 13734571"/>
              <a:gd name="connsiteY1" fmla="*/ 1 h 6865950"/>
              <a:gd name="connsiteX2" fmla="*/ 13734571 w 13734571"/>
              <a:gd name="connsiteY2" fmla="*/ 7951 h 6865950"/>
              <a:gd name="connsiteX3" fmla="*/ 12219416 w 13734571"/>
              <a:gd name="connsiteY3" fmla="*/ 1663753 h 6865950"/>
              <a:gd name="connsiteX4" fmla="*/ 7524602 w 13734571"/>
              <a:gd name="connsiteY4" fmla="*/ 6865950 h 6865950"/>
              <a:gd name="connsiteX5" fmla="*/ 0 w 13734571"/>
              <a:gd name="connsiteY5" fmla="*/ 6861979 h 6865950"/>
              <a:gd name="connsiteX6" fmla="*/ 15921 w 13734571"/>
              <a:gd name="connsiteY6" fmla="*/ 4338491 h 6865950"/>
              <a:gd name="connsiteX7" fmla="*/ 3954056 w 13734571"/>
              <a:gd name="connsiteY7" fmla="*/ 0 h 6865950"/>
              <a:gd name="connsiteX0" fmla="*/ 3954056 w 12219416"/>
              <a:gd name="connsiteY0" fmla="*/ 0 h 6865950"/>
              <a:gd name="connsiteX1" fmla="*/ 12155732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 name="connsiteX0" fmla="*/ 3954056 w 12219416"/>
              <a:gd name="connsiteY0" fmla="*/ 321369 h 7187319"/>
              <a:gd name="connsiteX1" fmla="*/ 12219416 w 12219416"/>
              <a:gd name="connsiteY1" fmla="*/ 321370 h 7187319"/>
              <a:gd name="connsiteX2" fmla="*/ 12219416 w 12219416"/>
              <a:gd name="connsiteY2" fmla="*/ 1985122 h 7187319"/>
              <a:gd name="connsiteX3" fmla="*/ 7524602 w 12219416"/>
              <a:gd name="connsiteY3" fmla="*/ 7187319 h 7187319"/>
              <a:gd name="connsiteX4" fmla="*/ 0 w 12219416"/>
              <a:gd name="connsiteY4" fmla="*/ 7183348 h 7187319"/>
              <a:gd name="connsiteX5" fmla="*/ 15921 w 12219416"/>
              <a:gd name="connsiteY5" fmla="*/ 4659860 h 7187319"/>
              <a:gd name="connsiteX6" fmla="*/ 3954056 w 12219416"/>
              <a:gd name="connsiteY6" fmla="*/ 321369 h 7187319"/>
              <a:gd name="connsiteX0" fmla="*/ 3954056 w 12219416"/>
              <a:gd name="connsiteY0" fmla="*/ 0 h 6865950"/>
              <a:gd name="connsiteX1" fmla="*/ 12219416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 name="connsiteX0" fmla="*/ 3954056 w 12219416"/>
              <a:gd name="connsiteY0" fmla="*/ 0 h 6865950"/>
              <a:gd name="connsiteX1" fmla="*/ 12219416 w 12219416"/>
              <a:gd name="connsiteY1" fmla="*/ 1 h 6865950"/>
              <a:gd name="connsiteX2" fmla="*/ 12219416 w 12219416"/>
              <a:gd name="connsiteY2" fmla="*/ 1663753 h 6865950"/>
              <a:gd name="connsiteX3" fmla="*/ 7524602 w 12219416"/>
              <a:gd name="connsiteY3" fmla="*/ 6865950 h 6865950"/>
              <a:gd name="connsiteX4" fmla="*/ 0 w 12219416"/>
              <a:gd name="connsiteY4" fmla="*/ 6861979 h 6865950"/>
              <a:gd name="connsiteX5" fmla="*/ 15921 w 12219416"/>
              <a:gd name="connsiteY5" fmla="*/ 4338491 h 6865950"/>
              <a:gd name="connsiteX6" fmla="*/ 3954056 w 12219416"/>
              <a:gd name="connsiteY6" fmla="*/ 0 h 686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9416" h="6865950">
                <a:moveTo>
                  <a:pt x="3954056" y="0"/>
                </a:moveTo>
                <a:lnTo>
                  <a:pt x="12219416" y="1"/>
                </a:lnTo>
                <a:lnTo>
                  <a:pt x="12219416" y="1663753"/>
                </a:lnTo>
                <a:lnTo>
                  <a:pt x="7524602" y="6865950"/>
                </a:lnTo>
                <a:lnTo>
                  <a:pt x="0" y="6861979"/>
                </a:lnTo>
                <a:lnTo>
                  <a:pt x="15921" y="4338491"/>
                </a:lnTo>
                <a:lnTo>
                  <a:pt x="3954056" y="0"/>
                </a:lnTo>
                <a:close/>
              </a:path>
            </a:pathLst>
          </a:custGeom>
          <a:solidFill>
            <a:schemeClr val="bg1"/>
          </a:solidFill>
          <a:ln>
            <a:noFill/>
          </a:ln>
          <a:effectLst>
            <a:outerShdw blurRad="923565" dir="2700000" algn="tl"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group of soldiers posing for a photo&#10;&#10;Description automatically generated">
            <a:extLst>
              <a:ext uri="{FF2B5EF4-FFF2-40B4-BE49-F238E27FC236}">
                <a16:creationId xmlns:a16="http://schemas.microsoft.com/office/drawing/2014/main" id="{8553BB32-CD06-C9D8-5649-7D07D0C67E8D}"/>
              </a:ext>
            </a:extLst>
          </p:cNvPr>
          <p:cNvPicPr>
            <a:picLocks noChangeAspect="1"/>
          </p:cNvPicPr>
          <p:nvPr/>
        </p:nvPicPr>
        <p:blipFill>
          <a:blip r:embed="rId3"/>
          <a:srcRect b="15290"/>
          <a:stretch/>
        </p:blipFill>
        <p:spPr>
          <a:xfrm>
            <a:off x="2297192" y="1018855"/>
            <a:ext cx="7592314" cy="4820289"/>
          </a:xfrm>
          <a:prstGeom prst="rect">
            <a:avLst/>
          </a:prstGeom>
        </p:spPr>
      </p:pic>
    </p:spTree>
    <p:extLst>
      <p:ext uri="{BB962C8B-B14F-4D97-AF65-F5344CB8AC3E}">
        <p14:creationId xmlns:p14="http://schemas.microsoft.com/office/powerpoint/2010/main" val="191910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and person posing for a picture&#10;&#10;Description automatically generated">
            <a:extLst>
              <a:ext uri="{FF2B5EF4-FFF2-40B4-BE49-F238E27FC236}">
                <a16:creationId xmlns:a16="http://schemas.microsoft.com/office/drawing/2014/main" id="{37A9C187-0317-D65C-39BB-EE639DD04680}"/>
              </a:ext>
            </a:extLst>
          </p:cNvPr>
          <p:cNvPicPr>
            <a:picLocks noChangeAspect="1"/>
          </p:cNvPicPr>
          <p:nvPr/>
        </p:nvPicPr>
        <p:blipFill rotWithShape="1">
          <a:blip r:embed="rId3">
            <a:extLst>
              <a:ext uri="{28A0092B-C50C-407E-A947-70E740481C1C}">
                <a14:useLocalDpi xmlns:a14="http://schemas.microsoft.com/office/drawing/2010/main" val="0"/>
              </a:ext>
            </a:extLst>
          </a:blip>
          <a:srcRect r="1" b="19709"/>
          <a:stretch/>
        </p:blipFill>
        <p:spPr>
          <a:xfrm>
            <a:off x="196850" y="173518"/>
            <a:ext cx="11798300" cy="6512763"/>
          </a:xfrm>
          <a:prstGeom prst="rect">
            <a:avLst/>
          </a:prstGeom>
        </p:spPr>
      </p:pic>
    </p:spTree>
    <p:extLst>
      <p:ext uri="{BB962C8B-B14F-4D97-AF65-F5344CB8AC3E}">
        <p14:creationId xmlns:p14="http://schemas.microsoft.com/office/powerpoint/2010/main" val="59677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A5C0282-B8A1-5C15-48F3-2AEF4C7B3270}"/>
            </a:ext>
          </a:extLst>
        </p:cNvPr>
        <p:cNvGrpSpPr/>
        <p:nvPr/>
      </p:nvGrpSpPr>
      <p:grpSpPr>
        <a:xfrm>
          <a:off x="0" y="0"/>
          <a:ext cx="0" cy="0"/>
          <a:chOff x="0" y="0"/>
          <a:chExt cx="0" cy="0"/>
        </a:xfrm>
      </p:grpSpPr>
      <p:sp>
        <p:nvSpPr>
          <p:cNvPr id="19" name="template-label">
            <a:extLst>
              <a:ext uri="{FF2B5EF4-FFF2-40B4-BE49-F238E27FC236}">
                <a16:creationId xmlns:a16="http://schemas.microsoft.com/office/drawing/2014/main" id="{48F228A5-3E7A-6262-36B0-CC1B93722954}"/>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DD8B449E-91AA-9EBE-74A5-0EDFD75851F5}"/>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0EE21AF8-B931-12DA-85A8-5E6808DCA335}"/>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66FE8BFF-DDBD-5787-59B8-E44F7A9C558C}"/>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ABOUT ME</a:t>
            </a:r>
          </a:p>
        </p:txBody>
      </p:sp>
      <p:sp>
        <p:nvSpPr>
          <p:cNvPr id="5" name="slide-number">
            <a:extLst>
              <a:ext uri="{FF2B5EF4-FFF2-40B4-BE49-F238E27FC236}">
                <a16:creationId xmlns:a16="http://schemas.microsoft.com/office/drawing/2014/main" id="{FCB31F05-E946-E84C-B1D4-A4855F7F243D}"/>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4</a:t>
            </a:r>
          </a:p>
        </p:txBody>
      </p:sp>
      <p:sp>
        <p:nvSpPr>
          <p:cNvPr id="6" name="title">
            <a:extLst>
              <a:ext uri="{FF2B5EF4-FFF2-40B4-BE49-F238E27FC236}">
                <a16:creationId xmlns:a16="http://schemas.microsoft.com/office/drawing/2014/main" id="{38DD33C4-E79A-CF79-F4F8-05D32124EDD2}"/>
              </a:ext>
            </a:extLst>
          </p:cNvPr>
          <p:cNvSpPr>
            <a:spLocks/>
          </p:cNvSpPr>
          <p:nvPr/>
        </p:nvSpPr>
        <p:spPr>
          <a:xfrm>
            <a:off x="685800" y="1162050"/>
            <a:ext cx="857250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lang="en-US" sz="2625" b="1" dirty="0">
                <a:solidFill>
                  <a:srgbClr val="203044"/>
                </a:solidFill>
                <a:latin typeface="Aptos"/>
                <a:ea typeface="Aptos"/>
                <a:cs typeface="Aptos"/>
              </a:rPr>
              <a:t>Education</a:t>
            </a:r>
            <a:endParaRPr sz="2625" b="1" dirty="0">
              <a:solidFill>
                <a:srgbClr val="203044"/>
              </a:solidFill>
              <a:latin typeface="Aptos"/>
              <a:ea typeface="Aptos"/>
              <a:cs typeface="Aptos"/>
            </a:endParaRPr>
          </a:p>
        </p:txBody>
      </p:sp>
      <p:grpSp>
        <p:nvGrpSpPr>
          <p:cNvPr id="8" name="Group 7">
            <a:extLst>
              <a:ext uri="{FF2B5EF4-FFF2-40B4-BE49-F238E27FC236}">
                <a16:creationId xmlns:a16="http://schemas.microsoft.com/office/drawing/2014/main" id="{F88959A8-0656-5BBA-0FFB-6A65DF89DCC6}"/>
              </a:ext>
            </a:extLst>
          </p:cNvPr>
          <p:cNvGrpSpPr/>
          <p:nvPr/>
        </p:nvGrpSpPr>
        <p:grpSpPr>
          <a:xfrm>
            <a:off x="685800" y="2376487"/>
            <a:ext cx="7486650" cy="400050"/>
            <a:chOff x="685800" y="2376487"/>
            <a:chExt cx="7486650" cy="400050"/>
          </a:xfrm>
        </p:grpSpPr>
        <p:sp>
          <p:nvSpPr>
            <p:cNvPr id="7" name="step-num-bg-0">
              <a:extLst>
                <a:ext uri="{FF2B5EF4-FFF2-40B4-BE49-F238E27FC236}">
                  <a16:creationId xmlns:a16="http://schemas.microsoft.com/office/drawing/2014/main" id="{5E60F8EC-0E3E-2A35-E4A8-454AEE950E83}"/>
                </a:ext>
              </a:extLst>
            </p:cNvPr>
            <p:cNvSpPr>
              <a:spLocks/>
            </p:cNvSpPr>
            <p:nvPr/>
          </p:nvSpPr>
          <p:spPr>
            <a:xfrm>
              <a:off x="685800" y="2376487"/>
              <a:ext cx="400050" cy="400050"/>
            </a:xfrm>
            <a:prstGeom prst="ellipse">
              <a:avLst/>
            </a:prstGeom>
            <a:solidFill>
              <a:srgbClr val="4E5F72"/>
            </a:solidFill>
            <a:ln w="9525">
              <a:solidFill>
                <a:srgbClr val="4E5F72"/>
              </a:solidFill>
              <a:prstDash val="solid"/>
            </a:ln>
          </p:spPr>
          <p:txBody>
            <a:bodyPr anchor="ctr"/>
            <a:lstStyle/>
            <a:p>
              <a:pPr algn="ctr">
                <a:buNone/>
              </a:pPr>
              <a:r>
                <a:rPr>
                  <a:solidFill>
                    <a:schemeClr val="bg1"/>
                  </a:solidFill>
                </a:rPr>
                <a:t>1</a:t>
              </a:r>
            </a:p>
          </p:txBody>
        </p:sp>
        <p:sp>
          <p:nvSpPr>
            <p:cNvPr id="9" name="step-0">
              <a:extLst>
                <a:ext uri="{FF2B5EF4-FFF2-40B4-BE49-F238E27FC236}">
                  <a16:creationId xmlns:a16="http://schemas.microsoft.com/office/drawing/2014/main" id="{035AA220-098B-2581-D675-0DF3E7520542}"/>
                </a:ext>
              </a:extLst>
            </p:cNvPr>
            <p:cNvSpPr>
              <a:spLocks/>
            </p:cNvSpPr>
            <p:nvPr/>
          </p:nvSpPr>
          <p:spPr>
            <a:xfrm>
              <a:off x="1314450" y="2393632"/>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BA, Political Science and Marketing, University of North Texas</a:t>
              </a:r>
              <a:endParaRPr sz="2000" b="0" dirty="0">
                <a:solidFill>
                  <a:srgbClr val="203044"/>
                </a:solidFill>
                <a:latin typeface="Aptos"/>
                <a:ea typeface="Aptos"/>
                <a:cs typeface="Aptos"/>
              </a:endParaRPr>
            </a:p>
          </p:txBody>
        </p:sp>
      </p:grpSp>
      <p:grpSp>
        <p:nvGrpSpPr>
          <p:cNvPr id="12" name="Group 11">
            <a:extLst>
              <a:ext uri="{FF2B5EF4-FFF2-40B4-BE49-F238E27FC236}">
                <a16:creationId xmlns:a16="http://schemas.microsoft.com/office/drawing/2014/main" id="{006169EB-9172-BC77-7686-6F6C32B15F05}"/>
              </a:ext>
            </a:extLst>
          </p:cNvPr>
          <p:cNvGrpSpPr/>
          <p:nvPr/>
        </p:nvGrpSpPr>
        <p:grpSpPr>
          <a:xfrm>
            <a:off x="685800" y="3153568"/>
            <a:ext cx="7486650" cy="400050"/>
            <a:chOff x="685800" y="3033106"/>
            <a:chExt cx="7486650" cy="400050"/>
          </a:xfrm>
        </p:grpSpPr>
        <p:sp>
          <p:nvSpPr>
            <p:cNvPr id="10" name="step-num-bg-1">
              <a:extLst>
                <a:ext uri="{FF2B5EF4-FFF2-40B4-BE49-F238E27FC236}">
                  <a16:creationId xmlns:a16="http://schemas.microsoft.com/office/drawing/2014/main" id="{4E7AD841-895D-EFA6-E6F7-7B0B08CCFE42}"/>
                </a:ext>
              </a:extLst>
            </p:cNvPr>
            <p:cNvSpPr>
              <a:spLocks/>
            </p:cNvSpPr>
            <p:nvPr/>
          </p:nvSpPr>
          <p:spPr>
            <a:xfrm>
              <a:off x="685800" y="3033106"/>
              <a:ext cx="400050" cy="400050"/>
            </a:xfrm>
            <a:prstGeom prst="ellipse">
              <a:avLst/>
            </a:prstGeom>
            <a:solidFill>
              <a:srgbClr val="4E5F72"/>
            </a:solidFill>
            <a:ln w="9525">
              <a:solidFill>
                <a:srgbClr val="4E5F72"/>
              </a:solidFill>
              <a:prstDash val="solid"/>
            </a:ln>
          </p:spPr>
          <p:txBody>
            <a:bodyPr anchor="ctr"/>
            <a:lstStyle/>
            <a:p>
              <a:pPr algn="ctr">
                <a:buNone/>
              </a:pPr>
              <a:r>
                <a:rPr>
                  <a:solidFill>
                    <a:schemeClr val="bg1"/>
                  </a:solidFill>
                </a:rPr>
                <a:t>2</a:t>
              </a:r>
            </a:p>
          </p:txBody>
        </p:sp>
        <p:sp>
          <p:nvSpPr>
            <p:cNvPr id="11" name="step-0">
              <a:extLst>
                <a:ext uri="{FF2B5EF4-FFF2-40B4-BE49-F238E27FC236}">
                  <a16:creationId xmlns:a16="http://schemas.microsoft.com/office/drawing/2014/main" id="{52972618-5CA8-55ED-8E6D-85EBC20FE760}"/>
                </a:ext>
              </a:extLst>
            </p:cNvPr>
            <p:cNvSpPr>
              <a:spLocks/>
            </p:cNvSpPr>
            <p:nvPr/>
          </p:nvSpPr>
          <p:spPr>
            <a:xfrm>
              <a:off x="1314450" y="3052055"/>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MPH, Epidemiology, University of Louisville</a:t>
              </a:r>
              <a:endParaRPr sz="2000" b="0" dirty="0">
                <a:solidFill>
                  <a:srgbClr val="203044"/>
                </a:solidFill>
                <a:latin typeface="Aptos"/>
                <a:ea typeface="Aptos"/>
                <a:cs typeface="Aptos"/>
              </a:endParaRPr>
            </a:p>
          </p:txBody>
        </p:sp>
      </p:grpSp>
      <p:grpSp>
        <p:nvGrpSpPr>
          <p:cNvPr id="15" name="Group 14">
            <a:extLst>
              <a:ext uri="{FF2B5EF4-FFF2-40B4-BE49-F238E27FC236}">
                <a16:creationId xmlns:a16="http://schemas.microsoft.com/office/drawing/2014/main" id="{6EC99FD7-81D8-9C9C-79C7-8987D0855A7D}"/>
              </a:ext>
            </a:extLst>
          </p:cNvPr>
          <p:cNvGrpSpPr/>
          <p:nvPr/>
        </p:nvGrpSpPr>
        <p:grpSpPr>
          <a:xfrm>
            <a:off x="685800" y="3930649"/>
            <a:ext cx="7486650" cy="400050"/>
            <a:chOff x="685800" y="3745720"/>
            <a:chExt cx="7486650" cy="400050"/>
          </a:xfrm>
        </p:grpSpPr>
        <p:sp>
          <p:nvSpPr>
            <p:cNvPr id="13" name="step-num-bg-2">
              <a:extLst>
                <a:ext uri="{FF2B5EF4-FFF2-40B4-BE49-F238E27FC236}">
                  <a16:creationId xmlns:a16="http://schemas.microsoft.com/office/drawing/2014/main" id="{B20E3598-3042-FC11-6D64-8700944F9C0A}"/>
                </a:ext>
              </a:extLst>
            </p:cNvPr>
            <p:cNvSpPr>
              <a:spLocks/>
            </p:cNvSpPr>
            <p:nvPr/>
          </p:nvSpPr>
          <p:spPr>
            <a:xfrm>
              <a:off x="685800" y="3745720"/>
              <a:ext cx="400050" cy="400050"/>
            </a:xfrm>
            <a:prstGeom prst="ellipse">
              <a:avLst/>
            </a:prstGeom>
            <a:solidFill>
              <a:srgbClr val="4E5F72"/>
            </a:solidFill>
            <a:ln w="9525">
              <a:solidFill>
                <a:srgbClr val="4E5F72"/>
              </a:solidFill>
              <a:prstDash val="solid"/>
            </a:ln>
          </p:spPr>
          <p:txBody>
            <a:bodyPr anchor="ctr"/>
            <a:lstStyle/>
            <a:p>
              <a:pPr algn="ctr">
                <a:buNone/>
              </a:pPr>
              <a:r>
                <a:rPr>
                  <a:solidFill>
                    <a:schemeClr val="bg1"/>
                  </a:solidFill>
                </a:rPr>
                <a:t>3</a:t>
              </a:r>
            </a:p>
          </p:txBody>
        </p:sp>
        <p:sp>
          <p:nvSpPr>
            <p:cNvPr id="14" name="step-0">
              <a:extLst>
                <a:ext uri="{FF2B5EF4-FFF2-40B4-BE49-F238E27FC236}">
                  <a16:creationId xmlns:a16="http://schemas.microsoft.com/office/drawing/2014/main" id="{679E9E62-45A3-3120-6117-4B5A5CA95AE0}"/>
                </a:ext>
              </a:extLst>
            </p:cNvPr>
            <p:cNvSpPr>
              <a:spLocks/>
            </p:cNvSpPr>
            <p:nvPr/>
          </p:nvSpPr>
          <p:spPr>
            <a:xfrm>
              <a:off x="1314450" y="3758810"/>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PhD, Epidemiology, University of Florida</a:t>
              </a:r>
              <a:endParaRPr sz="2000" b="0" dirty="0">
                <a:solidFill>
                  <a:srgbClr val="203044"/>
                </a:solidFill>
                <a:latin typeface="Aptos"/>
                <a:ea typeface="Aptos"/>
                <a:cs typeface="Aptos"/>
              </a:endParaRPr>
            </a:p>
          </p:txBody>
        </p:sp>
      </p:grpSp>
      <p:grpSp>
        <p:nvGrpSpPr>
          <p:cNvPr id="21" name="Group 20">
            <a:extLst>
              <a:ext uri="{FF2B5EF4-FFF2-40B4-BE49-F238E27FC236}">
                <a16:creationId xmlns:a16="http://schemas.microsoft.com/office/drawing/2014/main" id="{6A224C0A-ACCF-1B36-66C6-397F6367D055}"/>
              </a:ext>
            </a:extLst>
          </p:cNvPr>
          <p:cNvGrpSpPr/>
          <p:nvPr/>
        </p:nvGrpSpPr>
        <p:grpSpPr>
          <a:xfrm>
            <a:off x="685800" y="4707730"/>
            <a:ext cx="7486650" cy="400050"/>
            <a:chOff x="685800" y="4355003"/>
            <a:chExt cx="7486650" cy="400050"/>
          </a:xfrm>
        </p:grpSpPr>
        <p:sp>
          <p:nvSpPr>
            <p:cNvPr id="16" name="step-num-bg-2">
              <a:extLst>
                <a:ext uri="{FF2B5EF4-FFF2-40B4-BE49-F238E27FC236}">
                  <a16:creationId xmlns:a16="http://schemas.microsoft.com/office/drawing/2014/main" id="{2CDF2342-0E1C-5436-EBB4-55DF0C5D954B}"/>
                </a:ext>
              </a:extLst>
            </p:cNvPr>
            <p:cNvSpPr>
              <a:spLocks/>
            </p:cNvSpPr>
            <p:nvPr/>
          </p:nvSpPr>
          <p:spPr>
            <a:xfrm>
              <a:off x="685800" y="4355003"/>
              <a:ext cx="400050" cy="400050"/>
            </a:xfrm>
            <a:prstGeom prst="ellipse">
              <a:avLst/>
            </a:prstGeom>
            <a:solidFill>
              <a:srgbClr val="4E5F72"/>
            </a:solidFill>
            <a:ln w="9525">
              <a:solidFill>
                <a:srgbClr val="4E5F72"/>
              </a:solidFill>
              <a:prstDash val="solid"/>
            </a:ln>
          </p:spPr>
          <p:txBody>
            <a:bodyPr anchor="ctr"/>
            <a:lstStyle/>
            <a:p>
              <a:pPr algn="ctr">
                <a:buNone/>
              </a:pPr>
              <a:r>
                <a:rPr lang="en-US" dirty="0">
                  <a:solidFill>
                    <a:schemeClr val="bg1"/>
                  </a:solidFill>
                </a:rPr>
                <a:t>4</a:t>
              </a:r>
              <a:endParaRPr dirty="0">
                <a:solidFill>
                  <a:schemeClr val="bg1"/>
                </a:solidFill>
              </a:endParaRPr>
            </a:p>
          </p:txBody>
        </p:sp>
        <p:sp>
          <p:nvSpPr>
            <p:cNvPr id="17" name="step-0">
              <a:extLst>
                <a:ext uri="{FF2B5EF4-FFF2-40B4-BE49-F238E27FC236}">
                  <a16:creationId xmlns:a16="http://schemas.microsoft.com/office/drawing/2014/main" id="{01B58E1E-5C4B-93FD-6FDD-09C847BA9E77}"/>
                </a:ext>
              </a:extLst>
            </p:cNvPr>
            <p:cNvSpPr>
              <a:spLocks/>
            </p:cNvSpPr>
            <p:nvPr/>
          </p:nvSpPr>
          <p:spPr>
            <a:xfrm>
              <a:off x="1314450" y="4372148"/>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Grad Cert, Predictive Analytics, University of Maryland</a:t>
              </a:r>
              <a:endParaRPr sz="2000" b="0" dirty="0">
                <a:solidFill>
                  <a:srgbClr val="203044"/>
                </a:solidFill>
                <a:latin typeface="Aptos"/>
                <a:ea typeface="Aptos"/>
                <a:cs typeface="Aptos"/>
              </a:endParaRPr>
            </a:p>
          </p:txBody>
        </p:sp>
      </p:grpSp>
      <p:grpSp>
        <p:nvGrpSpPr>
          <p:cNvPr id="22" name="Group 21">
            <a:extLst>
              <a:ext uri="{FF2B5EF4-FFF2-40B4-BE49-F238E27FC236}">
                <a16:creationId xmlns:a16="http://schemas.microsoft.com/office/drawing/2014/main" id="{73404FFD-A11D-4D88-0EA7-F4681E4710C1}"/>
              </a:ext>
            </a:extLst>
          </p:cNvPr>
          <p:cNvGrpSpPr/>
          <p:nvPr/>
        </p:nvGrpSpPr>
        <p:grpSpPr>
          <a:xfrm>
            <a:off x="685800" y="5484812"/>
            <a:ext cx="7486650" cy="400050"/>
            <a:chOff x="685800" y="4938713"/>
            <a:chExt cx="7486650" cy="400050"/>
          </a:xfrm>
        </p:grpSpPr>
        <p:sp>
          <p:nvSpPr>
            <p:cNvPr id="18" name="step-num-bg-2">
              <a:extLst>
                <a:ext uri="{FF2B5EF4-FFF2-40B4-BE49-F238E27FC236}">
                  <a16:creationId xmlns:a16="http://schemas.microsoft.com/office/drawing/2014/main" id="{516C96FC-4490-4A0C-B717-64D7F908F22C}"/>
                </a:ext>
              </a:extLst>
            </p:cNvPr>
            <p:cNvSpPr>
              <a:spLocks/>
            </p:cNvSpPr>
            <p:nvPr/>
          </p:nvSpPr>
          <p:spPr>
            <a:xfrm>
              <a:off x="685800" y="4938713"/>
              <a:ext cx="400050" cy="400050"/>
            </a:xfrm>
            <a:prstGeom prst="ellipse">
              <a:avLst/>
            </a:prstGeom>
            <a:solidFill>
              <a:srgbClr val="4E5F72"/>
            </a:solidFill>
            <a:ln w="9525">
              <a:solidFill>
                <a:srgbClr val="4E5F72"/>
              </a:solidFill>
              <a:prstDash val="solid"/>
            </a:ln>
          </p:spPr>
          <p:txBody>
            <a:bodyPr anchor="ctr"/>
            <a:lstStyle/>
            <a:p>
              <a:pPr algn="ctr">
                <a:buNone/>
              </a:pPr>
              <a:r>
                <a:rPr lang="en-US" dirty="0">
                  <a:solidFill>
                    <a:schemeClr val="bg1"/>
                  </a:solidFill>
                </a:rPr>
                <a:t>5</a:t>
              </a:r>
              <a:endParaRPr dirty="0">
                <a:solidFill>
                  <a:schemeClr val="bg1"/>
                </a:solidFill>
              </a:endParaRPr>
            </a:p>
          </p:txBody>
        </p:sp>
        <p:sp>
          <p:nvSpPr>
            <p:cNvPr id="20" name="step-0">
              <a:extLst>
                <a:ext uri="{FF2B5EF4-FFF2-40B4-BE49-F238E27FC236}">
                  <a16:creationId xmlns:a16="http://schemas.microsoft.com/office/drawing/2014/main" id="{1BB7B39E-1D03-9FD2-BAEC-A70718AD102B}"/>
                </a:ext>
              </a:extLst>
            </p:cNvPr>
            <p:cNvSpPr>
              <a:spLocks/>
            </p:cNvSpPr>
            <p:nvPr/>
          </p:nvSpPr>
          <p:spPr>
            <a:xfrm>
              <a:off x="1314450" y="4955858"/>
              <a:ext cx="6858000" cy="365760"/>
            </a:xfrm>
            <a:prstGeom prst="rect">
              <a:avLst/>
            </a:prstGeom>
            <a:noFill/>
            <a:ln w="0">
              <a:noFill/>
              <a:prstDash val="solid"/>
            </a:ln>
          </p:spPr>
          <p:txBody>
            <a:bodyPr/>
            <a:lstStyle/>
            <a:p>
              <a:pPr>
                <a:buNone/>
                <a:defRPr sz="1500" b="0">
                  <a:solidFill>
                    <a:srgbClr val="203044"/>
                  </a:solidFill>
                  <a:latin typeface="Aptos"/>
                  <a:ea typeface="Aptos"/>
                  <a:cs typeface="Aptos"/>
                </a:defRPr>
              </a:pPr>
              <a:r>
                <a:rPr lang="en-US" sz="2000" b="0" dirty="0">
                  <a:solidFill>
                    <a:srgbClr val="203044"/>
                  </a:solidFill>
                  <a:latin typeface="Aptos"/>
                  <a:ea typeface="Aptos"/>
                  <a:cs typeface="Aptos"/>
                </a:rPr>
                <a:t>Grad Cert, Big Data and Social Analytics, MIT</a:t>
              </a:r>
              <a:endParaRPr sz="2000" b="0" dirty="0">
                <a:solidFill>
                  <a:srgbClr val="203044"/>
                </a:solidFill>
                <a:latin typeface="Aptos"/>
                <a:ea typeface="Aptos"/>
                <a:cs typeface="Aptos"/>
              </a:endParaRPr>
            </a:p>
          </p:txBody>
        </p:sp>
      </p:grpSp>
    </p:spTree>
    <p:extLst>
      <p:ext uri="{BB962C8B-B14F-4D97-AF65-F5344CB8AC3E}">
        <p14:creationId xmlns:p14="http://schemas.microsoft.com/office/powerpoint/2010/main" val="1914697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24B9B-7DD5-C770-43DB-6C026D17F879}"/>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B9AB791-15DB-1C33-4952-39B72AFC1482}"/>
              </a:ext>
            </a:extLst>
          </p:cNvPr>
          <p:cNvGraphicFramePr>
            <a:graphicFrameLocks/>
          </p:cNvGraphicFramePr>
          <p:nvPr>
            <p:extLst>
              <p:ext uri="{D42A27DB-BD31-4B8C-83A1-F6EECF244321}">
                <p14:modId xmlns:p14="http://schemas.microsoft.com/office/powerpoint/2010/main" val="3296236644"/>
              </p:ext>
            </p:extLst>
          </p:nvPr>
        </p:nvGraphicFramePr>
        <p:xfrm>
          <a:off x="9099551" y="3887608"/>
          <a:ext cx="3092448" cy="1995032"/>
        </p:xfrm>
        <a:graphic>
          <a:graphicData uri="http://schemas.openxmlformats.org/drawingml/2006/table">
            <a:tbl>
              <a:tblPr firstRow="1" bandRow="1">
                <a:tableStyleId>{5C22544A-7EE6-4342-B048-85BDC9FD1C3A}</a:tableStyleId>
              </a:tblPr>
              <a:tblGrid>
                <a:gridCol w="3092448">
                  <a:extLst>
                    <a:ext uri="{9D8B030D-6E8A-4147-A177-3AD203B41FA5}">
                      <a16:colId xmlns:a16="http://schemas.microsoft.com/office/drawing/2014/main" val="20000"/>
                    </a:ext>
                  </a:extLst>
                </a:gridCol>
              </a:tblGrid>
              <a:tr h="684392">
                <a:tc>
                  <a:txBody>
                    <a:bodyPr/>
                    <a:lstStyle/>
                    <a:p>
                      <a:pPr algn="l"/>
                      <a:r>
                        <a:rPr lang="en-US" sz="2400" b="0" dirty="0">
                          <a:solidFill>
                            <a:schemeClr val="tx1"/>
                          </a:solidFill>
                        </a:rPr>
                        <a:t>          TCU</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342900" marR="0" indent="-342900" algn="l" defTabSz="914400" rtl="0" eaLnBrk="1" fontAlgn="auto" latinLnBrk="0" hangingPunct="1">
                        <a:lnSpc>
                          <a:spcPct val="100000"/>
                        </a:lnSpc>
                        <a:spcBef>
                          <a:spcPts val="0"/>
                        </a:spcBef>
                        <a:spcAft>
                          <a:spcPts val="0"/>
                        </a:spcAft>
                        <a:buClrTx/>
                        <a:buSzTx/>
                        <a:buFont typeface="Arial" charset="0"/>
                        <a:buChar char="•"/>
                        <a:tabLst/>
                        <a:defRPr/>
                      </a:pPr>
                      <a:r>
                        <a:rPr lang="en-US" sz="1600" b="0" dirty="0">
                          <a:solidFill>
                            <a:schemeClr val="tx1">
                              <a:lumMod val="65000"/>
                              <a:lumOff val="35000"/>
                            </a:schemeClr>
                          </a:solidFill>
                        </a:rPr>
                        <a:t>HCHS 80313: Introduction to R Programming and Data Management</a:t>
                      </a:r>
                    </a:p>
                    <a:p>
                      <a:pPr marL="342900" marR="0" indent="-342900" algn="l" defTabSz="914400" rtl="0" eaLnBrk="1" fontAlgn="auto" latinLnBrk="0" hangingPunct="1">
                        <a:lnSpc>
                          <a:spcPct val="100000"/>
                        </a:lnSpc>
                        <a:spcBef>
                          <a:spcPts val="0"/>
                        </a:spcBef>
                        <a:spcAft>
                          <a:spcPts val="0"/>
                        </a:spcAft>
                        <a:buClrTx/>
                        <a:buSzTx/>
                        <a:buFont typeface="Arial" charset="0"/>
                        <a:buChar char="•"/>
                        <a:tabLst/>
                        <a:defRPr/>
                      </a:pPr>
                      <a:r>
                        <a:rPr lang="en-US" sz="1600" b="0" dirty="0">
                          <a:solidFill>
                            <a:schemeClr val="tx1">
                              <a:lumMod val="65000"/>
                              <a:lumOff val="35000"/>
                            </a:schemeClr>
                          </a:solidFill>
                        </a:rPr>
                        <a:t>APHS 20203: Epidemiology &amp; Biostatistics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9" name="Table 18">
            <a:extLst>
              <a:ext uri="{FF2B5EF4-FFF2-40B4-BE49-F238E27FC236}">
                <a16:creationId xmlns:a16="http://schemas.microsoft.com/office/drawing/2014/main" id="{F5583BA1-CACA-854C-FA8C-6379A0297B8E}"/>
              </a:ext>
            </a:extLst>
          </p:cNvPr>
          <p:cNvGraphicFramePr>
            <a:graphicFrameLocks/>
          </p:cNvGraphicFramePr>
          <p:nvPr/>
        </p:nvGraphicFramePr>
        <p:xfrm>
          <a:off x="6477000" y="3870707"/>
          <a:ext cx="2632131" cy="2255520"/>
        </p:xfrm>
        <a:graphic>
          <a:graphicData uri="http://schemas.openxmlformats.org/drawingml/2006/table">
            <a:tbl>
              <a:tblPr firstRow="1" bandRow="1">
                <a:tableStyleId>{5C22544A-7EE6-4342-B048-85BDC9FD1C3A}</a:tableStyleId>
              </a:tblPr>
              <a:tblGrid>
                <a:gridCol w="2632131">
                  <a:extLst>
                    <a:ext uri="{9D8B030D-6E8A-4147-A177-3AD203B41FA5}">
                      <a16:colId xmlns:a16="http://schemas.microsoft.com/office/drawing/2014/main" val="20000"/>
                    </a:ext>
                  </a:extLst>
                </a:gridCol>
              </a:tblGrid>
              <a:tr h="1184470">
                <a:tc>
                  <a:txBody>
                    <a:bodyPr/>
                    <a:lstStyle/>
                    <a:p>
                      <a:pPr algn="ctr"/>
                      <a:r>
                        <a:rPr lang="en-US" sz="2400" b="0" dirty="0">
                          <a:solidFill>
                            <a:schemeClr val="tx1"/>
                          </a:solidFill>
                        </a:rPr>
                        <a:t>Associate Professor</a:t>
                      </a:r>
                    </a:p>
                    <a:p>
                      <a:pPr algn="ctr"/>
                      <a:r>
                        <a:rPr lang="en-US" sz="2400" b="0" dirty="0">
                          <a:solidFill>
                            <a:schemeClr val="tx1"/>
                          </a:solidFill>
                        </a:rPr>
                        <a:t>EHGES</a:t>
                      </a:r>
                    </a:p>
                    <a:p>
                      <a:pPr algn="ctr"/>
                      <a:r>
                        <a:rPr lang="en-US" sz="2400" b="0" dirty="0">
                          <a:solidFill>
                            <a:schemeClr val="tx1"/>
                          </a:solidFill>
                        </a:rPr>
                        <a:t>UTHealth-Houston</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342900" marR="0" indent="-342900" algn="l" defTabSz="914400" rtl="0" eaLnBrk="1" fontAlgn="auto" latinLnBrk="0" hangingPunct="1">
                        <a:lnSpc>
                          <a:spcPct val="100000"/>
                        </a:lnSpc>
                        <a:spcBef>
                          <a:spcPts val="0"/>
                        </a:spcBef>
                        <a:spcAft>
                          <a:spcPts val="0"/>
                        </a:spcAft>
                        <a:buClrTx/>
                        <a:buSzTx/>
                        <a:buFont typeface="Arial" charset="0"/>
                        <a:buChar char="•"/>
                        <a:tabLst/>
                        <a:defRPr/>
                      </a:pPr>
                      <a:r>
                        <a:rPr lang="en-US" sz="1600" b="0" dirty="0">
                          <a:solidFill>
                            <a:schemeClr val="tx1">
                              <a:lumMod val="65000"/>
                              <a:lumOff val="35000"/>
                            </a:schemeClr>
                          </a:solidFill>
                        </a:rPr>
                        <a:t>Introduction to R Programming and Data Management</a:t>
                      </a:r>
                    </a:p>
                    <a:p>
                      <a:pPr marL="342900" marR="0" indent="-342900" algn="l" defTabSz="914400" rtl="0" eaLnBrk="1" fontAlgn="auto" latinLnBrk="0" hangingPunct="1">
                        <a:lnSpc>
                          <a:spcPct val="100000"/>
                        </a:lnSpc>
                        <a:spcBef>
                          <a:spcPts val="0"/>
                        </a:spcBef>
                        <a:spcAft>
                          <a:spcPts val="0"/>
                        </a:spcAft>
                        <a:buClrTx/>
                        <a:buSzTx/>
                        <a:buFont typeface="Arial" charset="0"/>
                        <a:buChar char="•"/>
                        <a:tabLst/>
                        <a:defRPr/>
                      </a:pPr>
                      <a:r>
                        <a:rPr lang="en-US" sz="1600" b="0" dirty="0">
                          <a:solidFill>
                            <a:schemeClr val="tx1">
                              <a:lumMod val="65000"/>
                              <a:lumOff val="35000"/>
                            </a:schemeClr>
                          </a:solidFill>
                        </a:rPr>
                        <a:t>Epidemiology III</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6" name="Table 15">
            <a:extLst>
              <a:ext uri="{FF2B5EF4-FFF2-40B4-BE49-F238E27FC236}">
                <a16:creationId xmlns:a16="http://schemas.microsoft.com/office/drawing/2014/main" id="{E567C734-F84C-1640-D597-14499CF4CDDA}"/>
              </a:ext>
            </a:extLst>
          </p:cNvPr>
          <p:cNvGraphicFramePr>
            <a:graphicFrameLocks/>
          </p:cNvGraphicFramePr>
          <p:nvPr/>
        </p:nvGraphicFramePr>
        <p:xfrm>
          <a:off x="1079138" y="3849657"/>
          <a:ext cx="2651760" cy="3008343"/>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tblGrid>
              <a:tr h="1466218">
                <a:tc>
                  <a:txBody>
                    <a:bodyPr/>
                    <a:lstStyle/>
                    <a:p>
                      <a:pPr algn="ctr"/>
                      <a:r>
                        <a:rPr lang="en-US" sz="2400" b="0" dirty="0">
                          <a:solidFill>
                            <a:schemeClr val="tx1"/>
                          </a:solidFill>
                        </a:rPr>
                        <a:t>Instructor</a:t>
                      </a:r>
                      <a:endParaRPr lang="en-US" sz="2400" b="0" baseline="0" dirty="0">
                        <a:solidFill>
                          <a:schemeClr val="tx1"/>
                        </a:solidFill>
                      </a:endParaRPr>
                    </a:p>
                    <a:p>
                      <a:pPr algn="ctr"/>
                      <a:r>
                        <a:rPr lang="en-US" sz="2400" b="0" baseline="0" dirty="0">
                          <a:solidFill>
                            <a:schemeClr val="tx1"/>
                          </a:solidFill>
                        </a:rPr>
                        <a:t>Community Health</a:t>
                      </a:r>
                    </a:p>
                    <a:p>
                      <a:pPr algn="ctr"/>
                      <a:r>
                        <a:rPr lang="en-US" sz="2400" b="0" baseline="0" dirty="0">
                          <a:solidFill>
                            <a:schemeClr val="tx1"/>
                          </a:solidFill>
                        </a:rPr>
                        <a:t>UNTHSC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1542125">
                <a:tc>
                  <a:txBody>
                    <a:bodyPr/>
                    <a:lstStyle/>
                    <a:p>
                      <a:pPr marL="285750" indent="-285750" algn="l">
                        <a:buFont typeface="Arial" charset="0"/>
                        <a:buChar char="•"/>
                      </a:pPr>
                      <a:r>
                        <a:rPr lang="en-US" sz="1600" b="0" baseline="0" dirty="0">
                          <a:solidFill>
                            <a:schemeClr val="tx1">
                              <a:lumMod val="65000"/>
                              <a:lumOff val="35000"/>
                            </a:schemeClr>
                          </a:solidFill>
                        </a:rPr>
                        <a:t>Theoretical Foundations</a:t>
                      </a:r>
                    </a:p>
                    <a:p>
                      <a:pPr marL="285750" indent="-285750" algn="l">
                        <a:buFont typeface="Arial" charset="0"/>
                        <a:buChar char="•"/>
                      </a:pPr>
                      <a:r>
                        <a:rPr lang="en-US" sz="1600" b="0" baseline="0" dirty="0">
                          <a:solidFill>
                            <a:schemeClr val="tx1">
                              <a:lumMod val="65000"/>
                              <a:lumOff val="35000"/>
                            </a:schemeClr>
                          </a:solidFill>
                        </a:rPr>
                        <a:t>Injury and violence prevention</a:t>
                      </a:r>
                    </a:p>
                    <a:p>
                      <a:pPr marL="285750" indent="-285750" algn="l">
                        <a:buFont typeface="Arial" charset="0"/>
                        <a:buChar char="•"/>
                      </a:pPr>
                      <a:r>
                        <a:rPr lang="en-US" sz="1600" b="0" baseline="0" dirty="0">
                          <a:solidFill>
                            <a:schemeClr val="tx1">
                              <a:lumMod val="65000"/>
                              <a:lumOff val="35000"/>
                            </a:schemeClr>
                          </a:solidFill>
                        </a:rPr>
                        <a:t>Epi of Aging</a:t>
                      </a:r>
                    </a:p>
                    <a:p>
                      <a:pPr marL="285750" indent="-285750" algn="l">
                        <a:buFont typeface="Arial" charset="0"/>
                        <a:buChar char="•"/>
                      </a:pPr>
                      <a:r>
                        <a:rPr lang="en-US" sz="1600" b="0" baseline="0" dirty="0">
                          <a:solidFill>
                            <a:schemeClr val="tx1">
                              <a:lumMod val="65000"/>
                              <a:lumOff val="35000"/>
                            </a:schemeClr>
                          </a:solidFill>
                        </a:rPr>
                        <a:t>Advanced Epi methods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7" name="Table 16">
            <a:extLst>
              <a:ext uri="{FF2B5EF4-FFF2-40B4-BE49-F238E27FC236}">
                <a16:creationId xmlns:a16="http://schemas.microsoft.com/office/drawing/2014/main" id="{AA50102B-0478-6801-420F-A6AB60344308}"/>
              </a:ext>
            </a:extLst>
          </p:cNvPr>
          <p:cNvGraphicFramePr>
            <a:graphicFrameLocks/>
          </p:cNvGraphicFramePr>
          <p:nvPr/>
        </p:nvGraphicFramePr>
        <p:xfrm>
          <a:off x="3689498" y="3849657"/>
          <a:ext cx="2787502" cy="2133600"/>
        </p:xfrm>
        <a:graphic>
          <a:graphicData uri="http://schemas.openxmlformats.org/drawingml/2006/table">
            <a:tbl>
              <a:tblPr firstRow="1" bandRow="1">
                <a:tableStyleId>{5C22544A-7EE6-4342-B048-85BDC9FD1C3A}</a:tableStyleId>
              </a:tblPr>
              <a:tblGrid>
                <a:gridCol w="2787502">
                  <a:extLst>
                    <a:ext uri="{9D8B030D-6E8A-4147-A177-3AD203B41FA5}">
                      <a16:colId xmlns:a16="http://schemas.microsoft.com/office/drawing/2014/main" val="20000"/>
                    </a:ext>
                  </a:extLst>
                </a:gridCol>
              </a:tblGrid>
              <a:tr h="370840">
                <a:tc>
                  <a:txBody>
                    <a:bodyPr/>
                    <a:lstStyle/>
                    <a:p>
                      <a:pPr algn="ctr"/>
                      <a:r>
                        <a:rPr lang="en-US" sz="2400" b="0" dirty="0">
                          <a:solidFill>
                            <a:schemeClr val="tx1"/>
                          </a:solidFill>
                        </a:rPr>
                        <a:t>Assistant Professor</a:t>
                      </a:r>
                      <a:endParaRPr lang="en-US" sz="2400" b="0" baseline="0" dirty="0">
                        <a:solidFill>
                          <a:schemeClr val="tx1"/>
                        </a:solidFill>
                      </a:endParaRPr>
                    </a:p>
                    <a:p>
                      <a:pPr algn="ctr"/>
                      <a:r>
                        <a:rPr lang="en-US" sz="2400" b="0" baseline="0" dirty="0">
                          <a:solidFill>
                            <a:schemeClr val="tx1"/>
                          </a:solidFill>
                        </a:rPr>
                        <a:t>Biostatistics &amp; Epidemiology</a:t>
                      </a:r>
                    </a:p>
                    <a:p>
                      <a:pPr algn="ctr"/>
                      <a:r>
                        <a:rPr lang="en-US" sz="2400" b="0" baseline="0" dirty="0">
                          <a:solidFill>
                            <a:schemeClr val="tx1"/>
                          </a:solidFill>
                        </a:rPr>
                        <a:t>UNTHSC</a:t>
                      </a:r>
                      <a:endParaRPr lang="en-US" sz="2400"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pPr marL="342900" indent="-342900" algn="l">
                        <a:buFont typeface="Arial" charset="0"/>
                        <a:buChar char="•"/>
                      </a:pPr>
                      <a:r>
                        <a:rPr lang="en-US" sz="1600" b="0" dirty="0">
                          <a:solidFill>
                            <a:schemeClr val="tx1">
                              <a:lumMod val="65000"/>
                              <a:lumOff val="35000"/>
                            </a:schemeClr>
                          </a:solidFill>
                        </a:rPr>
                        <a:t>Intro to Data</a:t>
                      </a:r>
                      <a:r>
                        <a:rPr lang="en-US" sz="1600" b="0" baseline="0" dirty="0">
                          <a:solidFill>
                            <a:schemeClr val="tx1">
                              <a:lumMod val="65000"/>
                              <a:lumOff val="35000"/>
                            </a:schemeClr>
                          </a:solidFill>
                        </a:rPr>
                        <a:t> Management and Statistical Computing</a:t>
                      </a:r>
                      <a:endParaRPr lang="en-US" sz="1600" b="0" dirty="0">
                        <a:solidFill>
                          <a:schemeClr val="tx1">
                            <a:lumMod val="65000"/>
                            <a:lumOff val="35000"/>
                          </a:schemeClr>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13" name="Table 12">
            <a:extLst>
              <a:ext uri="{FF2B5EF4-FFF2-40B4-BE49-F238E27FC236}">
                <a16:creationId xmlns:a16="http://schemas.microsoft.com/office/drawing/2014/main" id="{9F2C4657-1D3A-0B88-E06A-DBC5DB15DFB0}"/>
              </a:ext>
            </a:extLst>
          </p:cNvPr>
          <p:cNvGraphicFramePr>
            <a:graphicFrameLocks/>
          </p:cNvGraphicFramePr>
          <p:nvPr>
            <p:extLst>
              <p:ext uri="{D42A27DB-BD31-4B8C-83A1-F6EECF244321}">
                <p14:modId xmlns:p14="http://schemas.microsoft.com/office/powerpoint/2010/main" val="872490724"/>
              </p:ext>
            </p:extLst>
          </p:nvPr>
        </p:nvGraphicFramePr>
        <p:xfrm>
          <a:off x="11202" y="184666"/>
          <a:ext cx="3075409" cy="1920240"/>
        </p:xfrm>
        <a:graphic>
          <a:graphicData uri="http://schemas.openxmlformats.org/drawingml/2006/table">
            <a:tbl>
              <a:tblPr firstRow="1" bandRow="1">
                <a:tableStyleId>{5C22544A-7EE6-4342-B048-85BDC9FD1C3A}</a:tableStyleId>
              </a:tblPr>
              <a:tblGrid>
                <a:gridCol w="3075409">
                  <a:extLst>
                    <a:ext uri="{9D8B030D-6E8A-4147-A177-3AD203B41FA5}">
                      <a16:colId xmlns:a16="http://schemas.microsoft.com/office/drawing/2014/main" val="20000"/>
                    </a:ext>
                  </a:extLst>
                </a:gridCol>
              </a:tblGrid>
              <a:tr h="1118655">
                <a:tc>
                  <a:txBody>
                    <a:bodyPr/>
                    <a:lstStyle/>
                    <a:p>
                      <a:pPr marL="285750" indent="-285750">
                        <a:buFont typeface="Arial" charset="0"/>
                        <a:buChar char="•"/>
                      </a:pPr>
                      <a:r>
                        <a:rPr lang="en-US" sz="2400" b="0" dirty="0">
                          <a:solidFill>
                            <a:schemeClr val="tx1"/>
                          </a:solidFill>
                        </a:rPr>
                        <a:t>Army</a:t>
                      </a:r>
                    </a:p>
                    <a:p>
                      <a:pPr marL="285750" indent="-285750">
                        <a:buFont typeface="Arial" charset="0"/>
                        <a:buChar char="•"/>
                      </a:pPr>
                      <a:r>
                        <a:rPr lang="en-US" sz="2400" b="0" dirty="0">
                          <a:solidFill>
                            <a:schemeClr val="tx1"/>
                          </a:solidFill>
                        </a:rPr>
                        <a:t>NKIDHD</a:t>
                      </a:r>
                    </a:p>
                    <a:p>
                      <a:pPr marL="285750" indent="-285750">
                        <a:buFont typeface="Arial" charset="0"/>
                        <a:buChar char="•"/>
                      </a:pPr>
                      <a:r>
                        <a:rPr lang="en-US" sz="2400" b="0" dirty="0">
                          <a:solidFill>
                            <a:schemeClr val="tx1"/>
                          </a:solidFill>
                        </a:rPr>
                        <a:t>LMHD</a:t>
                      </a:r>
                    </a:p>
                    <a:p>
                      <a:pPr marL="285750" indent="-285750">
                        <a:buFont typeface="Arial" charset="0"/>
                        <a:buChar char="•"/>
                      </a:pPr>
                      <a:r>
                        <a:rPr lang="en-US" sz="2400" b="0" dirty="0">
                          <a:solidFill>
                            <a:schemeClr val="tx1"/>
                          </a:solidFill>
                        </a:rPr>
                        <a:t>FODH</a:t>
                      </a:r>
                    </a:p>
                    <a:p>
                      <a:pPr marL="285750" indent="-285750">
                        <a:buFont typeface="Arial" charset="0"/>
                        <a:buChar char="•"/>
                      </a:pPr>
                      <a:r>
                        <a:rPr lang="en-US" sz="2400" b="0" dirty="0">
                          <a:solidFill>
                            <a:schemeClr val="tx1"/>
                          </a:solidFill>
                        </a:rPr>
                        <a:t>University of Florida</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graphicFrame>
        <p:nvGraphicFramePr>
          <p:cNvPr id="15" name="Table 14">
            <a:extLst>
              <a:ext uri="{FF2B5EF4-FFF2-40B4-BE49-F238E27FC236}">
                <a16:creationId xmlns:a16="http://schemas.microsoft.com/office/drawing/2014/main" id="{DBC2847D-C095-6E5A-4D0F-454F0E97647A}"/>
              </a:ext>
            </a:extLst>
          </p:cNvPr>
          <p:cNvGraphicFramePr>
            <a:graphicFrameLocks/>
          </p:cNvGraphicFramePr>
          <p:nvPr>
            <p:extLst>
              <p:ext uri="{D42A27DB-BD31-4B8C-83A1-F6EECF244321}">
                <p14:modId xmlns:p14="http://schemas.microsoft.com/office/powerpoint/2010/main" val="1078901263"/>
              </p:ext>
            </p:extLst>
          </p:nvPr>
        </p:nvGraphicFramePr>
        <p:xfrm>
          <a:off x="3689498" y="184666"/>
          <a:ext cx="4561875" cy="1920240"/>
        </p:xfrm>
        <a:graphic>
          <a:graphicData uri="http://schemas.openxmlformats.org/drawingml/2006/table">
            <a:tbl>
              <a:tblPr firstRow="1" bandRow="1">
                <a:tableStyleId>{5C22544A-7EE6-4342-B048-85BDC9FD1C3A}</a:tableStyleId>
              </a:tblPr>
              <a:tblGrid>
                <a:gridCol w="4561875">
                  <a:extLst>
                    <a:ext uri="{9D8B030D-6E8A-4147-A177-3AD203B41FA5}">
                      <a16:colId xmlns:a16="http://schemas.microsoft.com/office/drawing/2014/main" val="20000"/>
                    </a:ext>
                  </a:extLst>
                </a:gridCol>
              </a:tblGrid>
              <a:tr h="1920240">
                <a:tc>
                  <a:txBody>
                    <a:bodyPr/>
                    <a:lstStyle/>
                    <a:p>
                      <a:pPr marL="285750" indent="-285750">
                        <a:buFont typeface="Arial" charset="0"/>
                        <a:buChar char="•"/>
                      </a:pPr>
                      <a:r>
                        <a:rPr lang="en-US" sz="2400" b="1" dirty="0">
                          <a:solidFill>
                            <a:schemeClr val="tx1"/>
                          </a:solidFill>
                        </a:rPr>
                        <a:t>Aging Research</a:t>
                      </a:r>
                    </a:p>
                    <a:p>
                      <a:pPr marL="742950" lvl="1" indent="-285750">
                        <a:buFont typeface="Arial" charset="0"/>
                        <a:buChar char="•"/>
                      </a:pPr>
                      <a:r>
                        <a:rPr lang="en-US" sz="2400" b="0" dirty="0">
                          <a:solidFill>
                            <a:schemeClr val="tx1"/>
                          </a:solidFill>
                        </a:rPr>
                        <a:t>Physical Function</a:t>
                      </a:r>
                    </a:p>
                    <a:p>
                      <a:pPr marL="742950" lvl="1" indent="-285750">
                        <a:buFont typeface="Arial" charset="0"/>
                        <a:buChar char="•"/>
                      </a:pPr>
                      <a:r>
                        <a:rPr lang="en-US" sz="2400" b="0" dirty="0">
                          <a:solidFill>
                            <a:schemeClr val="tx1"/>
                          </a:solidFill>
                        </a:rPr>
                        <a:t>Cognitive Function</a:t>
                      </a:r>
                    </a:p>
                    <a:p>
                      <a:pPr marL="742950" lvl="1" indent="-285750">
                        <a:buFont typeface="Arial" charset="0"/>
                        <a:buChar char="•"/>
                      </a:pPr>
                      <a:r>
                        <a:rPr lang="en-US" sz="2400" b="0" dirty="0">
                          <a:solidFill>
                            <a:schemeClr val="tx1"/>
                          </a:solidFill>
                        </a:rPr>
                        <a:t>Disability</a:t>
                      </a:r>
                      <a:endParaRPr lang="en-US" sz="2400" b="0" baseline="0" dirty="0">
                        <a:solidFill>
                          <a:schemeClr val="tx1"/>
                        </a:solidFill>
                      </a:endParaRPr>
                    </a:p>
                    <a:p>
                      <a:pPr marL="742950" lvl="1" indent="-285750">
                        <a:buFont typeface="Arial" charset="0"/>
                        <a:buChar char="•"/>
                      </a:pPr>
                      <a:r>
                        <a:rPr lang="en-US" sz="2400" b="0" baseline="0" dirty="0">
                          <a:solidFill>
                            <a:schemeClr val="tx1"/>
                          </a:solidFill>
                        </a:rPr>
                        <a:t>Elder mistreatment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bl>
          </a:graphicData>
        </a:graphic>
      </p:graphicFrame>
      <p:sp>
        <p:nvSpPr>
          <p:cNvPr id="2" name="Left-Right Arrow 1">
            <a:extLst>
              <a:ext uri="{FF2B5EF4-FFF2-40B4-BE49-F238E27FC236}">
                <a16:creationId xmlns:a16="http://schemas.microsoft.com/office/drawing/2014/main" id="{EA4A7FBA-6088-E533-0D46-76D235A5F391}"/>
              </a:ext>
            </a:extLst>
          </p:cNvPr>
          <p:cNvSpPr/>
          <p:nvPr/>
        </p:nvSpPr>
        <p:spPr>
          <a:xfrm>
            <a:off x="0" y="2277729"/>
            <a:ext cx="12191999" cy="2019734"/>
          </a:xfrm>
          <a:prstGeom prst="leftRightArrow">
            <a:avLst/>
          </a:prstGeom>
          <a:solidFill>
            <a:srgbClr val="4D197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Eurostile" panose="020B0504020202050204" pitchFamily="34" charset="77"/>
            </a:endParaRPr>
          </a:p>
        </p:txBody>
      </p:sp>
      <p:sp>
        <p:nvSpPr>
          <p:cNvPr id="3" name="TextBox 2">
            <a:extLst>
              <a:ext uri="{FF2B5EF4-FFF2-40B4-BE49-F238E27FC236}">
                <a16:creationId xmlns:a16="http://schemas.microsoft.com/office/drawing/2014/main" id="{BB24CBB8-8E47-D8AD-FE0E-B9A77325BF43}"/>
              </a:ext>
            </a:extLst>
          </p:cNvPr>
          <p:cNvSpPr txBox="1"/>
          <p:nvPr/>
        </p:nvSpPr>
        <p:spPr>
          <a:xfrm>
            <a:off x="481148" y="2959322"/>
            <a:ext cx="1423852" cy="646331"/>
          </a:xfrm>
          <a:prstGeom prst="rect">
            <a:avLst/>
          </a:prstGeom>
          <a:solidFill>
            <a:srgbClr val="4D1979"/>
          </a:solidFill>
          <a:ln>
            <a:solidFill>
              <a:srgbClr val="4D1979"/>
            </a:solidFill>
          </a:ln>
        </p:spPr>
        <p:txBody>
          <a:bodyPr wrap="square" rtlCol="0">
            <a:spAutoFit/>
          </a:bodyPr>
          <a:lstStyle/>
          <a:p>
            <a:pPr algn="ctr"/>
            <a:r>
              <a:rPr lang="en-US" sz="3600" dirty="0">
                <a:solidFill>
                  <a:schemeClr val="bg1"/>
                </a:solidFill>
                <a:latin typeface="Eurostile" panose="020B0504020202050204" pitchFamily="34" charset="77"/>
              </a:rPr>
              <a:t>2012</a:t>
            </a:r>
            <a:endParaRPr lang="en-US" sz="4400" dirty="0">
              <a:solidFill>
                <a:schemeClr val="bg1"/>
              </a:solidFill>
              <a:latin typeface="Eurostile" panose="020B0504020202050204" pitchFamily="34" charset="77"/>
            </a:endParaRPr>
          </a:p>
        </p:txBody>
      </p:sp>
      <p:sp>
        <p:nvSpPr>
          <p:cNvPr id="8" name="TextBox 7">
            <a:extLst>
              <a:ext uri="{FF2B5EF4-FFF2-40B4-BE49-F238E27FC236}">
                <a16:creationId xmlns:a16="http://schemas.microsoft.com/office/drawing/2014/main" id="{9C5657B6-D1B0-8A9B-8579-B194F4E5A575}"/>
              </a:ext>
            </a:extLst>
          </p:cNvPr>
          <p:cNvSpPr txBox="1"/>
          <p:nvPr/>
        </p:nvSpPr>
        <p:spPr>
          <a:xfrm>
            <a:off x="2977572" y="2938795"/>
            <a:ext cx="1423852" cy="646331"/>
          </a:xfrm>
          <a:prstGeom prst="rect">
            <a:avLst/>
          </a:prstGeom>
          <a:solidFill>
            <a:srgbClr val="4D1979"/>
          </a:solidFill>
          <a:ln>
            <a:solidFill>
              <a:srgbClr val="4D1979"/>
            </a:solidFill>
          </a:ln>
        </p:spPr>
        <p:txBody>
          <a:bodyPr wrap="square" rtlCol="0">
            <a:spAutoFit/>
          </a:bodyPr>
          <a:lstStyle/>
          <a:p>
            <a:pPr algn="ctr"/>
            <a:r>
              <a:rPr lang="en-US" sz="3600" dirty="0">
                <a:solidFill>
                  <a:schemeClr val="bg1"/>
                </a:solidFill>
                <a:latin typeface="Eurostile" panose="020B0504020202050204" pitchFamily="34" charset="77"/>
              </a:rPr>
              <a:t>2014</a:t>
            </a:r>
          </a:p>
        </p:txBody>
      </p:sp>
      <p:sp>
        <p:nvSpPr>
          <p:cNvPr id="10" name="TextBox 9">
            <a:extLst>
              <a:ext uri="{FF2B5EF4-FFF2-40B4-BE49-F238E27FC236}">
                <a16:creationId xmlns:a16="http://schemas.microsoft.com/office/drawing/2014/main" id="{AC2846DC-7E07-97D0-7595-F9BB312EC26F}"/>
              </a:ext>
            </a:extLst>
          </p:cNvPr>
          <p:cNvSpPr txBox="1"/>
          <p:nvPr/>
        </p:nvSpPr>
        <p:spPr>
          <a:xfrm>
            <a:off x="5765074" y="2959845"/>
            <a:ext cx="1423852" cy="646331"/>
          </a:xfrm>
          <a:prstGeom prst="rect">
            <a:avLst/>
          </a:prstGeom>
          <a:solidFill>
            <a:srgbClr val="4D1979"/>
          </a:solidFill>
          <a:ln>
            <a:solidFill>
              <a:srgbClr val="4D1979"/>
            </a:solidFill>
          </a:ln>
        </p:spPr>
        <p:txBody>
          <a:bodyPr wrap="square" rtlCol="0">
            <a:spAutoFit/>
          </a:bodyPr>
          <a:lstStyle/>
          <a:p>
            <a:pPr algn="ctr"/>
            <a:r>
              <a:rPr lang="en-US" sz="3600" dirty="0">
                <a:solidFill>
                  <a:schemeClr val="bg1"/>
                </a:solidFill>
                <a:latin typeface="Eurostile" panose="020B0504020202050204" pitchFamily="34" charset="77"/>
              </a:rPr>
              <a:t>2018</a:t>
            </a:r>
          </a:p>
        </p:txBody>
      </p:sp>
      <p:sp>
        <p:nvSpPr>
          <p:cNvPr id="5" name="TextBox 4">
            <a:extLst>
              <a:ext uri="{FF2B5EF4-FFF2-40B4-BE49-F238E27FC236}">
                <a16:creationId xmlns:a16="http://schemas.microsoft.com/office/drawing/2014/main" id="{3F567A86-C129-AE9D-936F-EBD20264C62C}"/>
              </a:ext>
            </a:extLst>
          </p:cNvPr>
          <p:cNvSpPr txBox="1"/>
          <p:nvPr/>
        </p:nvSpPr>
        <p:spPr>
          <a:xfrm>
            <a:off x="9366034" y="2938795"/>
            <a:ext cx="1423852" cy="646331"/>
          </a:xfrm>
          <a:prstGeom prst="rect">
            <a:avLst/>
          </a:prstGeom>
          <a:solidFill>
            <a:srgbClr val="4D1979"/>
          </a:solidFill>
          <a:ln>
            <a:solidFill>
              <a:srgbClr val="4D1979"/>
            </a:solidFill>
          </a:ln>
        </p:spPr>
        <p:txBody>
          <a:bodyPr wrap="square" rtlCol="0">
            <a:spAutoFit/>
          </a:bodyPr>
          <a:lstStyle/>
          <a:p>
            <a:pPr algn="ctr"/>
            <a:r>
              <a:rPr lang="en-US" sz="3600" dirty="0">
                <a:solidFill>
                  <a:schemeClr val="bg1"/>
                </a:solidFill>
                <a:latin typeface="Eurostile" panose="020B0504020202050204" pitchFamily="34" charset="77"/>
              </a:rPr>
              <a:t>2024</a:t>
            </a:r>
          </a:p>
        </p:txBody>
      </p:sp>
    </p:spTree>
    <p:extLst>
      <p:ext uri="{BB962C8B-B14F-4D97-AF65-F5344CB8AC3E}">
        <p14:creationId xmlns:p14="http://schemas.microsoft.com/office/powerpoint/2010/main" val="212056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F3016D02-1401-4080-8CEA-95B101A2B0FC}"/>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44F19349-28FE-4262-9624-EE8606BD819F}"/>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3256258-D97A-4070-9415-AA3280CDD65A}"/>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9294FE58-9C73-4DCE-914B-660F6153BB27}"/>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ICEBREAKER</a:t>
            </a:r>
          </a:p>
        </p:txBody>
      </p:sp>
      <p:sp>
        <p:nvSpPr>
          <p:cNvPr id="5" name="slide-number">
            <a:extLst>
              <a:ext uri="{FF2B5EF4-FFF2-40B4-BE49-F238E27FC236}">
                <a16:creationId xmlns:a16="http://schemas.microsoft.com/office/drawing/2014/main" id="{B4491CD4-D154-43D4-BF65-CC188362A6CE}"/>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5</a:t>
            </a:r>
          </a:p>
        </p:txBody>
      </p:sp>
      <p:sp>
        <p:nvSpPr>
          <p:cNvPr id="6" name="title">
            <a:extLst>
              <a:ext uri="{FF2B5EF4-FFF2-40B4-BE49-F238E27FC236}">
                <a16:creationId xmlns:a16="http://schemas.microsoft.com/office/drawing/2014/main" id="{985FC468-CA4E-4626-9B48-8F093DAA5729}"/>
              </a:ext>
            </a:extLst>
          </p:cNvPr>
          <p:cNvSpPr>
            <a:spLocks/>
          </p:cNvSpPr>
          <p:nvPr/>
        </p:nvSpPr>
        <p:spPr>
          <a:xfrm>
            <a:off x="685800" y="1162050"/>
            <a:ext cx="8858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dirty="0">
                <a:solidFill>
                  <a:srgbClr val="203044"/>
                </a:solidFill>
                <a:latin typeface="Aptos"/>
                <a:ea typeface="Aptos"/>
                <a:cs typeface="Aptos"/>
              </a:rPr>
              <a:t>Let’s Get to Know Each Other!</a:t>
            </a:r>
          </a:p>
        </p:txBody>
      </p:sp>
      <p:sp>
        <p:nvSpPr>
          <p:cNvPr id="7" name="comparison-0">
            <a:extLst>
              <a:ext uri="{FF2B5EF4-FFF2-40B4-BE49-F238E27FC236}">
                <a16:creationId xmlns:a16="http://schemas.microsoft.com/office/drawing/2014/main" id="{9625DA86-717F-4EE0-A2E6-1B1A15B3C59F}"/>
              </a:ext>
            </a:extLst>
          </p:cNvPr>
          <p:cNvSpPr>
            <a:spLocks/>
          </p:cNvSpPr>
          <p:nvPr/>
        </p:nvSpPr>
        <p:spPr>
          <a:xfrm>
            <a:off x="685800" y="2095500"/>
            <a:ext cx="5219700" cy="3920836"/>
          </a:xfrm>
          <a:prstGeom prst="roundRect">
            <a:avLst>
              <a:gd name="adj" fmla="val 4138"/>
            </a:avLst>
          </a:prstGeom>
          <a:solidFill>
            <a:srgbClr val="F7F8FA"/>
          </a:solidFill>
          <a:ln w="9525">
            <a:solidFill>
              <a:srgbClr val="E9EDF1"/>
            </a:solidFill>
            <a:prstDash val="solid"/>
          </a:ln>
        </p:spPr>
        <p:txBody>
          <a:bodyPr/>
          <a:lstStyle/>
          <a:p>
            <a:endParaRPr/>
          </a:p>
        </p:txBody>
      </p:sp>
      <p:sp>
        <p:nvSpPr>
          <p:cNvPr id="8" name="comparison-rule-0">
            <a:extLst>
              <a:ext uri="{FF2B5EF4-FFF2-40B4-BE49-F238E27FC236}">
                <a16:creationId xmlns:a16="http://schemas.microsoft.com/office/drawing/2014/main" id="{CF0F90FB-FE64-4636-8C0A-03165D92F4FF}"/>
              </a:ext>
            </a:extLst>
          </p:cNvPr>
          <p:cNvSpPr>
            <a:spLocks/>
          </p:cNvSpPr>
          <p:nvPr/>
        </p:nvSpPr>
        <p:spPr>
          <a:xfrm>
            <a:off x="685800" y="2095500"/>
            <a:ext cx="5219700" cy="76200"/>
          </a:xfrm>
          <a:prstGeom prst="rect">
            <a:avLst/>
          </a:prstGeom>
          <a:solidFill>
            <a:srgbClr val="FFD662"/>
          </a:solidFill>
          <a:ln w="0">
            <a:noFill/>
            <a:prstDash val="solid"/>
          </a:ln>
        </p:spPr>
        <p:txBody>
          <a:bodyPr/>
          <a:lstStyle/>
          <a:p>
            <a:endParaRPr/>
          </a:p>
        </p:txBody>
      </p:sp>
      <p:sp>
        <p:nvSpPr>
          <p:cNvPr id="9" name="comparison-label-0">
            <a:extLst>
              <a:ext uri="{FF2B5EF4-FFF2-40B4-BE49-F238E27FC236}">
                <a16:creationId xmlns:a16="http://schemas.microsoft.com/office/drawing/2014/main" id="{021CA853-D03C-4F1F-B38A-A12B29182971}"/>
              </a:ext>
            </a:extLst>
          </p:cNvPr>
          <p:cNvSpPr>
            <a:spLocks/>
          </p:cNvSpPr>
          <p:nvPr/>
        </p:nvSpPr>
        <p:spPr>
          <a:xfrm>
            <a:off x="1066800" y="2524125"/>
            <a:ext cx="4095750" cy="228600"/>
          </a:xfrm>
          <a:prstGeom prst="rect">
            <a:avLst/>
          </a:prstGeom>
          <a:noFill/>
          <a:ln w="0">
            <a:noFill/>
            <a:prstDash val="solid"/>
          </a:ln>
        </p:spPr>
        <p:txBody>
          <a:bodyPr/>
          <a:lstStyle/>
          <a:p>
            <a:pPr>
              <a:buNone/>
              <a:defRPr sz="1125" b="1">
                <a:solidFill>
                  <a:srgbClr val="6C757D"/>
                </a:solidFill>
                <a:latin typeface="Aptos"/>
                <a:ea typeface="Aptos"/>
                <a:cs typeface="Aptos"/>
              </a:defRPr>
            </a:pPr>
            <a:r>
              <a:rPr sz="1125" b="1" dirty="0">
                <a:solidFill>
                  <a:srgbClr val="6C757D"/>
                </a:solidFill>
                <a:latin typeface="Aptos"/>
                <a:ea typeface="Aptos"/>
                <a:cs typeface="Aptos"/>
              </a:rPr>
              <a:t>Take 30 seconds to introduce yourself.</a:t>
            </a:r>
          </a:p>
        </p:txBody>
      </p:sp>
      <p:sp>
        <p:nvSpPr>
          <p:cNvPr id="10" name="comparison-head-0">
            <a:extLst>
              <a:ext uri="{FF2B5EF4-FFF2-40B4-BE49-F238E27FC236}">
                <a16:creationId xmlns:a16="http://schemas.microsoft.com/office/drawing/2014/main" id="{2D11FE8C-E11B-4E03-BF9C-C5D032308648}"/>
              </a:ext>
            </a:extLst>
          </p:cNvPr>
          <p:cNvSpPr>
            <a:spLocks/>
          </p:cNvSpPr>
          <p:nvPr/>
        </p:nvSpPr>
        <p:spPr>
          <a:xfrm>
            <a:off x="1066800" y="2952749"/>
            <a:ext cx="4095750" cy="2907723"/>
          </a:xfrm>
          <a:prstGeom prst="rect">
            <a:avLst/>
          </a:prstGeom>
          <a:noFill/>
          <a:ln w="0">
            <a:noFill/>
            <a:prstDash val="solid"/>
          </a:ln>
        </p:spPr>
        <p:txBody>
          <a:bodyPr/>
          <a:lstStyle/>
          <a:p>
            <a:pPr marL="342900" indent="-342900">
              <a:lnSpc>
                <a:spcPct val="150000"/>
              </a:lnSpc>
              <a:buFont typeface="+mj-lt"/>
              <a:buAutoNum type="arabicPeriod"/>
              <a:defRPr sz="1800" b="1">
                <a:solidFill>
                  <a:srgbClr val="4E5F72"/>
                </a:solidFill>
                <a:latin typeface="Georgia"/>
                <a:ea typeface="Georgia"/>
                <a:cs typeface="Georgia"/>
              </a:defRPr>
            </a:pPr>
            <a:r>
              <a:rPr sz="1800" dirty="0">
                <a:solidFill>
                  <a:srgbClr val="4E5F72"/>
                </a:solidFill>
                <a:latin typeface="Georgia"/>
                <a:ea typeface="Georgia"/>
                <a:cs typeface="Georgia"/>
              </a:rPr>
              <a:t>Your Name: Create your name card (Big Font Print)</a:t>
            </a:r>
            <a:endParaRPr lang="en-US" sz="1800" dirty="0">
              <a:solidFill>
                <a:srgbClr val="4E5F72"/>
              </a:solidFill>
              <a:latin typeface="Georgia"/>
              <a:ea typeface="Georgia"/>
              <a:cs typeface="Georgia"/>
            </a:endParaRPr>
          </a:p>
          <a:p>
            <a:pPr marL="342900" indent="-342900">
              <a:lnSpc>
                <a:spcPct val="150000"/>
              </a:lnSpc>
              <a:buFont typeface="+mj-lt"/>
              <a:buAutoNum type="arabicPeriod"/>
              <a:defRPr sz="1800" b="1">
                <a:solidFill>
                  <a:srgbClr val="4E5F72"/>
                </a:solidFill>
                <a:latin typeface="Georgia"/>
                <a:ea typeface="Georgia"/>
                <a:cs typeface="Georgia"/>
              </a:defRPr>
            </a:pPr>
            <a:r>
              <a:rPr lang="en-US" dirty="0">
                <a:solidFill>
                  <a:srgbClr val="4E5F72"/>
                </a:solidFill>
                <a:latin typeface="Georgia"/>
                <a:ea typeface="Georgia"/>
                <a:cs typeface="Georgia"/>
              </a:rPr>
              <a:t>Major and minor: What are you studying?</a:t>
            </a:r>
          </a:p>
          <a:p>
            <a:pPr marL="342900" indent="-342900">
              <a:lnSpc>
                <a:spcPct val="150000"/>
              </a:lnSpc>
              <a:buFont typeface="+mj-lt"/>
              <a:buAutoNum type="arabicPeriod"/>
              <a:defRPr sz="1800" b="1">
                <a:solidFill>
                  <a:srgbClr val="4E5F72"/>
                </a:solidFill>
                <a:latin typeface="Georgia"/>
                <a:ea typeface="Georgia"/>
                <a:cs typeface="Georgia"/>
              </a:defRPr>
            </a:pPr>
            <a:r>
              <a:rPr lang="en-US" sz="1800" dirty="0">
                <a:solidFill>
                  <a:srgbClr val="4E5F72"/>
                </a:solidFill>
                <a:latin typeface="Georgia"/>
                <a:ea typeface="Georgia"/>
                <a:cs typeface="Georgia"/>
              </a:rPr>
              <a:t>Home</a:t>
            </a:r>
            <a:r>
              <a:rPr lang="en-US" dirty="0">
                <a:solidFill>
                  <a:srgbClr val="4E5F72"/>
                </a:solidFill>
                <a:latin typeface="Georgia"/>
                <a:ea typeface="Georgia"/>
                <a:cs typeface="Georgia"/>
              </a:rPr>
              <a:t>town: Where are you from?</a:t>
            </a:r>
            <a:endParaRPr lang="en-US" sz="1800" dirty="0">
              <a:solidFill>
                <a:srgbClr val="4E5F72"/>
              </a:solidFill>
              <a:latin typeface="Georgia"/>
              <a:ea typeface="Georgia"/>
              <a:cs typeface="Georgia"/>
            </a:endParaRPr>
          </a:p>
        </p:txBody>
      </p:sp>
      <p:sp>
        <p:nvSpPr>
          <p:cNvPr id="12" name="comparison-1">
            <a:extLst>
              <a:ext uri="{FF2B5EF4-FFF2-40B4-BE49-F238E27FC236}">
                <a16:creationId xmlns:a16="http://schemas.microsoft.com/office/drawing/2014/main" id="{203CCD18-3B04-4597-9E86-8278E641DB58}"/>
              </a:ext>
            </a:extLst>
          </p:cNvPr>
          <p:cNvSpPr>
            <a:spLocks/>
          </p:cNvSpPr>
          <p:nvPr/>
        </p:nvSpPr>
        <p:spPr>
          <a:xfrm>
            <a:off x="6286500" y="2095500"/>
            <a:ext cx="5219700" cy="3920836"/>
          </a:xfrm>
          <a:prstGeom prst="roundRect">
            <a:avLst>
              <a:gd name="adj" fmla="val 4138"/>
            </a:avLst>
          </a:prstGeom>
          <a:solidFill>
            <a:srgbClr val="F7F8FA"/>
          </a:solidFill>
          <a:ln w="9525">
            <a:solidFill>
              <a:srgbClr val="E9EDF1"/>
            </a:solidFill>
            <a:prstDash val="solid"/>
          </a:ln>
        </p:spPr>
        <p:txBody>
          <a:bodyPr/>
          <a:lstStyle/>
          <a:p>
            <a:endParaRPr/>
          </a:p>
        </p:txBody>
      </p:sp>
      <p:sp>
        <p:nvSpPr>
          <p:cNvPr id="13" name="comparison-rule-1">
            <a:extLst>
              <a:ext uri="{FF2B5EF4-FFF2-40B4-BE49-F238E27FC236}">
                <a16:creationId xmlns:a16="http://schemas.microsoft.com/office/drawing/2014/main" id="{004D2764-E8A7-48C0-B6A9-B52C2F177995}"/>
              </a:ext>
            </a:extLst>
          </p:cNvPr>
          <p:cNvSpPr>
            <a:spLocks/>
          </p:cNvSpPr>
          <p:nvPr/>
        </p:nvSpPr>
        <p:spPr>
          <a:xfrm>
            <a:off x="6286500" y="2095500"/>
            <a:ext cx="5219700" cy="76200"/>
          </a:xfrm>
          <a:prstGeom prst="rect">
            <a:avLst/>
          </a:prstGeom>
          <a:solidFill>
            <a:srgbClr val="28A745"/>
          </a:solidFill>
          <a:ln w="0">
            <a:noFill/>
            <a:prstDash val="solid"/>
          </a:ln>
        </p:spPr>
        <p:txBody>
          <a:bodyPr/>
          <a:lstStyle/>
          <a:p>
            <a:endParaRPr/>
          </a:p>
        </p:txBody>
      </p:sp>
      <p:sp>
        <p:nvSpPr>
          <p:cNvPr id="15" name="comparison-head-1">
            <a:extLst>
              <a:ext uri="{FF2B5EF4-FFF2-40B4-BE49-F238E27FC236}">
                <a16:creationId xmlns:a16="http://schemas.microsoft.com/office/drawing/2014/main" id="{C9B9E6DE-2A9A-46CA-BC8A-E6067C8168E2}"/>
              </a:ext>
            </a:extLst>
          </p:cNvPr>
          <p:cNvSpPr>
            <a:spLocks/>
          </p:cNvSpPr>
          <p:nvPr/>
        </p:nvSpPr>
        <p:spPr>
          <a:xfrm>
            <a:off x="6667500" y="2952749"/>
            <a:ext cx="4095750" cy="2907723"/>
          </a:xfrm>
          <a:prstGeom prst="rect">
            <a:avLst/>
          </a:prstGeom>
          <a:noFill/>
          <a:ln w="0">
            <a:noFill/>
            <a:prstDash val="solid"/>
          </a:ln>
        </p:spPr>
        <p:txBody>
          <a:bodyPr/>
          <a:lstStyle/>
          <a:p>
            <a:pPr marL="342900" indent="-342900">
              <a:lnSpc>
                <a:spcPct val="150000"/>
              </a:lnSpc>
              <a:buFont typeface="+mj-lt"/>
              <a:buAutoNum type="arabicPeriod" startAt="4"/>
              <a:defRPr sz="1725" b="1">
                <a:solidFill>
                  <a:srgbClr val="4E5F72"/>
                </a:solidFill>
                <a:latin typeface="Georgia"/>
                <a:ea typeface="Georgia"/>
                <a:cs typeface="Georgia"/>
              </a:defRPr>
            </a:pPr>
            <a:r>
              <a:rPr b="1" dirty="0">
                <a:solidFill>
                  <a:srgbClr val="4E5F72"/>
                </a:solidFill>
                <a:latin typeface="Georgia"/>
                <a:ea typeface="Georgia"/>
                <a:cs typeface="Georgia"/>
              </a:rPr>
              <a:t>A Fun Fact: Share one hobby, favorite food, or something unique about you.</a:t>
            </a:r>
            <a:endParaRPr lang="en-US" b="1" dirty="0">
              <a:solidFill>
                <a:srgbClr val="4E5F72"/>
              </a:solidFill>
              <a:latin typeface="Georgia"/>
              <a:ea typeface="Georgia"/>
              <a:cs typeface="Georgia"/>
            </a:endParaRPr>
          </a:p>
          <a:p>
            <a:pPr marL="342900" indent="-342900">
              <a:lnSpc>
                <a:spcPct val="150000"/>
              </a:lnSpc>
              <a:buFont typeface="+mj-lt"/>
              <a:buAutoNum type="arabicPeriod" startAt="4"/>
              <a:defRPr sz="1725" b="1">
                <a:solidFill>
                  <a:srgbClr val="4E5F72"/>
                </a:solidFill>
                <a:latin typeface="Georgia"/>
                <a:ea typeface="Georgia"/>
                <a:cs typeface="Georgia"/>
              </a:defRPr>
            </a:pPr>
            <a:r>
              <a:rPr lang="en-US" b="1" dirty="0">
                <a:solidFill>
                  <a:srgbClr val="4E5F72"/>
                </a:solidFill>
                <a:latin typeface="Georgia"/>
                <a:ea typeface="Georgia"/>
                <a:cs typeface="Georgia"/>
              </a:rPr>
              <a:t>Your Goals: What do you hope to do after graduation?</a:t>
            </a:r>
            <a:endParaRPr b="1" dirty="0">
              <a:solidFill>
                <a:srgbClr val="4E5F72"/>
              </a:solidFill>
              <a:latin typeface="Georgia"/>
              <a:ea typeface="Georgia"/>
              <a:cs typeface="Georgia"/>
            </a:endParaRPr>
          </a:p>
        </p:txBody>
      </p:sp>
    </p:spTree>
    <p:extLst>
      <p:ext uri="{BB962C8B-B14F-4D97-AF65-F5344CB8AC3E}">
        <p14:creationId xmlns:p14="http://schemas.microsoft.com/office/powerpoint/2010/main" val="30082314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emplate-label">
            <a:extLst>
              <a:ext uri="{FF2B5EF4-FFF2-40B4-BE49-F238E27FC236}">
                <a16:creationId xmlns:a16="http://schemas.microsoft.com/office/drawing/2014/main" id="{7B246BF8-3CFC-4856-975D-50FFFEAA8A15}"/>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3CA76552-CB89-4DFF-920D-14B1DF80984C}"/>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EDB09F6-A3CC-4A4C-9C3D-2FECDFA8B484}"/>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69E66B11-5C1C-48AE-8AC8-28F7E2559416}"/>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THE SYLLABUS</a:t>
            </a:r>
          </a:p>
        </p:txBody>
      </p:sp>
      <p:sp>
        <p:nvSpPr>
          <p:cNvPr id="5" name="slide-number">
            <a:extLst>
              <a:ext uri="{FF2B5EF4-FFF2-40B4-BE49-F238E27FC236}">
                <a16:creationId xmlns:a16="http://schemas.microsoft.com/office/drawing/2014/main" id="{1C09A0E1-DD42-43BB-971C-E4F47E367596}"/>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6</a:t>
            </a:r>
          </a:p>
        </p:txBody>
      </p:sp>
      <p:sp>
        <p:nvSpPr>
          <p:cNvPr id="6" name="title">
            <a:extLst>
              <a:ext uri="{FF2B5EF4-FFF2-40B4-BE49-F238E27FC236}">
                <a16:creationId xmlns:a16="http://schemas.microsoft.com/office/drawing/2014/main" id="{1EF3BCCC-D303-4A39-8BAB-CBA44D95D8D6}"/>
              </a:ext>
            </a:extLst>
          </p:cNvPr>
          <p:cNvSpPr>
            <a:spLocks/>
          </p:cNvSpPr>
          <p:nvPr/>
        </p:nvSpPr>
        <p:spPr>
          <a:xfrm>
            <a:off x="685800" y="1162050"/>
            <a:ext cx="8477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The Syllabus</a:t>
            </a:r>
          </a:p>
        </p:txBody>
      </p:sp>
      <p:sp>
        <p:nvSpPr>
          <p:cNvPr id="7" name="lead">
            <a:extLst>
              <a:ext uri="{FF2B5EF4-FFF2-40B4-BE49-F238E27FC236}">
                <a16:creationId xmlns:a16="http://schemas.microsoft.com/office/drawing/2014/main" id="{31995770-D666-48CE-BAD8-7C38E08BE27E}"/>
              </a:ext>
            </a:extLst>
          </p:cNvPr>
          <p:cNvSpPr>
            <a:spLocks/>
          </p:cNvSpPr>
          <p:nvPr/>
        </p:nvSpPr>
        <p:spPr>
          <a:xfrm>
            <a:off x="685800" y="2000250"/>
            <a:ext cx="4857750" cy="781050"/>
          </a:xfrm>
          <a:prstGeom prst="rect">
            <a:avLst/>
          </a:prstGeom>
          <a:noFill/>
          <a:ln w="0">
            <a:noFill/>
            <a:prstDash val="solid"/>
          </a:ln>
        </p:spPr>
        <p:txBody>
          <a:bodyPr/>
          <a:lstStyle/>
          <a:p>
            <a:pPr>
              <a:buNone/>
              <a:defRPr sz="1950" b="1">
                <a:solidFill>
                  <a:srgbClr val="4E5F72"/>
                </a:solidFill>
                <a:latin typeface="Aptos"/>
                <a:ea typeface="Aptos"/>
                <a:cs typeface="Aptos"/>
              </a:defRPr>
            </a:pPr>
            <a:r>
              <a:rPr sz="1950" b="1" u="sng">
                <a:solidFill>
                  <a:srgbClr val="4E5F72"/>
                </a:solidFill>
                <a:latin typeface="Aptos"/>
                <a:ea typeface="Aptos"/>
                <a:cs typeface="Aptos"/>
                <a:hlinkClick r:id="rId3"/>
              </a:rPr>
              <a:t>Open the course syllabus in D2L</a:t>
            </a:r>
          </a:p>
        </p:txBody>
      </p:sp>
    </p:spTree>
    <p:extLst>
      <p:ext uri="{BB962C8B-B14F-4D97-AF65-F5344CB8AC3E}">
        <p14:creationId xmlns:p14="http://schemas.microsoft.com/office/powerpoint/2010/main" val="3537810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slide.url=https://www.polleverywhere.com/free_text_polls/M3Ydwi4QAfyZMmc7sCsU8">
            <a:extLst>
              <a:ext uri="{FF2B5EF4-FFF2-40B4-BE49-F238E27FC236}">
                <a16:creationId xmlns:a16="http://schemas.microsoft.com/office/drawing/2014/main" id="{75D8EED5-9C93-AB6A-C6A6-56ED7E6F55D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50484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mplate-label">
            <a:extLst>
              <a:ext uri="{FF2B5EF4-FFF2-40B4-BE49-F238E27FC236}">
                <a16:creationId xmlns:a16="http://schemas.microsoft.com/office/drawing/2014/main" id="{F3016D02-1401-4080-8CEA-95B101A2B0FC}"/>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44F19349-28FE-4262-9624-EE8606BD819F}"/>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53256258-D97A-4070-9415-AA3280CDD65A}"/>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9294FE58-9C73-4DCE-914B-660F6153BB27}"/>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COURSE OVERVIEW</a:t>
            </a:r>
          </a:p>
        </p:txBody>
      </p:sp>
      <p:sp>
        <p:nvSpPr>
          <p:cNvPr id="5" name="slide-number">
            <a:extLst>
              <a:ext uri="{FF2B5EF4-FFF2-40B4-BE49-F238E27FC236}">
                <a16:creationId xmlns:a16="http://schemas.microsoft.com/office/drawing/2014/main" id="{B4491CD4-D154-43D4-BF65-CC188362A6CE}"/>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8</a:t>
            </a:r>
          </a:p>
        </p:txBody>
      </p:sp>
      <p:sp>
        <p:nvSpPr>
          <p:cNvPr id="6" name="title">
            <a:extLst>
              <a:ext uri="{FF2B5EF4-FFF2-40B4-BE49-F238E27FC236}">
                <a16:creationId xmlns:a16="http://schemas.microsoft.com/office/drawing/2014/main" id="{985FC468-CA4E-4626-9B48-8F093DAA5729}"/>
              </a:ext>
            </a:extLst>
          </p:cNvPr>
          <p:cNvSpPr>
            <a:spLocks/>
          </p:cNvSpPr>
          <p:nvPr/>
        </p:nvSpPr>
        <p:spPr>
          <a:xfrm>
            <a:off x="685800" y="1162050"/>
            <a:ext cx="8858250" cy="476250"/>
          </a:xfrm>
          <a:prstGeom prst="rect">
            <a:avLst/>
          </a:prstGeom>
          <a:noFill/>
          <a:ln w="0">
            <a:noFill/>
            <a:prstDash val="solid"/>
          </a:ln>
        </p:spPr>
        <p:txBody>
          <a:bodyPr/>
          <a:lstStyle/>
          <a:p>
            <a:pPr>
              <a:buNone/>
              <a:defRPr sz="2625" b="1">
                <a:solidFill>
                  <a:srgbClr val="203044"/>
                </a:solidFill>
                <a:latin typeface="Aptos"/>
                <a:ea typeface="Aptos"/>
                <a:cs typeface="Aptos"/>
              </a:defRPr>
            </a:pPr>
            <a:r>
              <a:rPr sz="2625" b="1">
                <a:solidFill>
                  <a:srgbClr val="203044"/>
                </a:solidFill>
                <a:latin typeface="Aptos"/>
                <a:ea typeface="Aptos"/>
                <a:cs typeface="Aptos"/>
              </a:rPr>
              <a:t>Epidemiology and Biostatistics</a:t>
            </a:r>
          </a:p>
        </p:txBody>
      </p:sp>
      <p:sp>
        <p:nvSpPr>
          <p:cNvPr id="7" name="comparison-0">
            <a:extLst>
              <a:ext uri="{FF2B5EF4-FFF2-40B4-BE49-F238E27FC236}">
                <a16:creationId xmlns:a16="http://schemas.microsoft.com/office/drawing/2014/main" id="{9625DA86-717F-4EE0-A2E6-1B1A15B3C59F}"/>
              </a:ext>
            </a:extLst>
          </p:cNvPr>
          <p:cNvSpPr>
            <a:spLocks/>
          </p:cNvSpPr>
          <p:nvPr/>
        </p:nvSpPr>
        <p:spPr>
          <a:xfrm>
            <a:off x="685800" y="2095500"/>
            <a:ext cx="5219700" cy="2762250"/>
          </a:xfrm>
          <a:prstGeom prst="roundRect">
            <a:avLst>
              <a:gd name="adj" fmla="val 4138"/>
            </a:avLst>
          </a:prstGeom>
          <a:solidFill>
            <a:srgbClr val="F7F8FA"/>
          </a:solidFill>
          <a:ln w="9525">
            <a:solidFill>
              <a:srgbClr val="E9EDF1"/>
            </a:solidFill>
            <a:prstDash val="solid"/>
          </a:ln>
        </p:spPr>
        <p:txBody>
          <a:bodyPr/>
          <a:lstStyle/>
          <a:p>
            <a:endParaRPr/>
          </a:p>
        </p:txBody>
      </p:sp>
      <p:sp>
        <p:nvSpPr>
          <p:cNvPr id="8" name="comparison-rule-0">
            <a:extLst>
              <a:ext uri="{FF2B5EF4-FFF2-40B4-BE49-F238E27FC236}">
                <a16:creationId xmlns:a16="http://schemas.microsoft.com/office/drawing/2014/main" id="{CF0F90FB-FE64-4636-8C0A-03165D92F4FF}"/>
              </a:ext>
            </a:extLst>
          </p:cNvPr>
          <p:cNvSpPr>
            <a:spLocks/>
          </p:cNvSpPr>
          <p:nvPr/>
        </p:nvSpPr>
        <p:spPr>
          <a:xfrm>
            <a:off x="685800" y="2095500"/>
            <a:ext cx="5219700" cy="76200"/>
          </a:xfrm>
          <a:prstGeom prst="rect">
            <a:avLst/>
          </a:prstGeom>
          <a:solidFill>
            <a:srgbClr val="FFD662"/>
          </a:solidFill>
          <a:ln w="0">
            <a:noFill/>
            <a:prstDash val="solid"/>
          </a:ln>
        </p:spPr>
        <p:txBody>
          <a:bodyPr/>
          <a:lstStyle/>
          <a:p>
            <a:endParaRPr/>
          </a:p>
        </p:txBody>
      </p:sp>
      <p:sp>
        <p:nvSpPr>
          <p:cNvPr id="9" name="comparison-label-0">
            <a:extLst>
              <a:ext uri="{FF2B5EF4-FFF2-40B4-BE49-F238E27FC236}">
                <a16:creationId xmlns:a16="http://schemas.microsoft.com/office/drawing/2014/main" id="{021CA853-D03C-4F1F-B38A-A12B29182971}"/>
              </a:ext>
            </a:extLst>
          </p:cNvPr>
          <p:cNvSpPr>
            <a:spLocks/>
          </p:cNvSpPr>
          <p:nvPr/>
        </p:nvSpPr>
        <p:spPr>
          <a:xfrm>
            <a:off x="1066800" y="2524125"/>
            <a:ext cx="1238250" cy="228600"/>
          </a:xfrm>
          <a:prstGeom prst="rect">
            <a:avLst/>
          </a:prstGeom>
          <a:noFill/>
          <a:ln w="0">
            <a:noFill/>
            <a:prstDash val="solid"/>
          </a:ln>
        </p:spPr>
        <p:txBody>
          <a:bodyPr/>
          <a:lstStyle/>
          <a:p>
            <a:pPr>
              <a:buNone/>
              <a:defRPr sz="1050" b="1">
                <a:solidFill>
                  <a:srgbClr val="6C757D"/>
                </a:solidFill>
                <a:latin typeface="Aptos"/>
                <a:ea typeface="Aptos"/>
                <a:cs typeface="Aptos"/>
              </a:defRPr>
            </a:pPr>
            <a:r>
              <a:rPr sz="1050" b="1">
                <a:solidFill>
                  <a:srgbClr val="6C757D"/>
                </a:solidFill>
                <a:latin typeface="Aptos"/>
                <a:ea typeface="Aptos"/>
                <a:cs typeface="Aptos"/>
              </a:rPr>
              <a:t>EPIDEMIOLOGY</a:t>
            </a:r>
          </a:p>
        </p:txBody>
      </p:sp>
      <p:sp>
        <p:nvSpPr>
          <p:cNvPr id="10" name="comparison-head-0">
            <a:extLst>
              <a:ext uri="{FF2B5EF4-FFF2-40B4-BE49-F238E27FC236}">
                <a16:creationId xmlns:a16="http://schemas.microsoft.com/office/drawing/2014/main" id="{2D11FE8C-E11B-4E03-BF9C-C5D032308648}"/>
              </a:ext>
            </a:extLst>
          </p:cNvPr>
          <p:cNvSpPr>
            <a:spLocks/>
          </p:cNvSpPr>
          <p:nvPr/>
        </p:nvSpPr>
        <p:spPr>
          <a:xfrm>
            <a:off x="1066800" y="2952750"/>
            <a:ext cx="4095750" cy="609600"/>
          </a:xfrm>
          <a:prstGeom prst="rect">
            <a:avLst/>
          </a:prstGeom>
          <a:noFill/>
          <a:ln w="0">
            <a:noFill/>
            <a:prstDash val="solid"/>
          </a:ln>
        </p:spPr>
        <p:txBody>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Studies the distribution and determinants of health and disease</a:t>
            </a:r>
          </a:p>
        </p:txBody>
      </p:sp>
      <p:sp>
        <p:nvSpPr>
          <p:cNvPr id="11" name="comparison-body-0">
            <a:extLst>
              <a:ext uri="{FF2B5EF4-FFF2-40B4-BE49-F238E27FC236}">
                <a16:creationId xmlns:a16="http://schemas.microsoft.com/office/drawing/2014/main" id="{13DCD671-63E0-409A-9468-708CC5A2B3A6}"/>
              </a:ext>
            </a:extLst>
          </p:cNvPr>
          <p:cNvSpPr>
            <a:spLocks/>
          </p:cNvSpPr>
          <p:nvPr/>
        </p:nvSpPr>
        <p:spPr>
          <a:xfrm>
            <a:off x="1066800" y="3857625"/>
            <a:ext cx="4095750" cy="590550"/>
          </a:xfrm>
          <a:prstGeom prst="rect">
            <a:avLst/>
          </a:prstGeom>
          <a:noFill/>
          <a:ln w="0">
            <a:noFill/>
            <a:prstDash val="solid"/>
          </a:ln>
        </p:spPr>
        <p:txBody>
          <a:bodyPr/>
          <a:lstStyle/>
          <a:p>
            <a:pPr>
              <a:buNone/>
              <a:defRPr sz="1425">
                <a:solidFill>
                  <a:srgbClr val="6C757D"/>
                </a:solidFill>
                <a:latin typeface="Aptos"/>
                <a:ea typeface="Aptos"/>
                <a:cs typeface="Aptos"/>
              </a:defRPr>
            </a:pPr>
            <a:r>
              <a:rPr sz="1425">
                <a:solidFill>
                  <a:srgbClr val="6C757D"/>
                </a:solidFill>
                <a:latin typeface="Aptos"/>
                <a:ea typeface="Aptos"/>
                <a:cs typeface="Aptos"/>
              </a:rPr>
              <a:t>Focuses on causes, patterns, and prevention</a:t>
            </a:r>
          </a:p>
        </p:txBody>
      </p:sp>
      <p:sp>
        <p:nvSpPr>
          <p:cNvPr id="12" name="comparison-1">
            <a:extLst>
              <a:ext uri="{FF2B5EF4-FFF2-40B4-BE49-F238E27FC236}">
                <a16:creationId xmlns:a16="http://schemas.microsoft.com/office/drawing/2014/main" id="{203CCD18-3B04-4597-9E86-8278E641DB58}"/>
              </a:ext>
            </a:extLst>
          </p:cNvPr>
          <p:cNvSpPr>
            <a:spLocks/>
          </p:cNvSpPr>
          <p:nvPr/>
        </p:nvSpPr>
        <p:spPr>
          <a:xfrm>
            <a:off x="6286500" y="2095500"/>
            <a:ext cx="5219700" cy="2762250"/>
          </a:xfrm>
          <a:prstGeom prst="roundRect">
            <a:avLst>
              <a:gd name="adj" fmla="val 4138"/>
            </a:avLst>
          </a:prstGeom>
          <a:solidFill>
            <a:srgbClr val="F7F8FA"/>
          </a:solidFill>
          <a:ln w="9525">
            <a:solidFill>
              <a:srgbClr val="E9EDF1"/>
            </a:solidFill>
            <a:prstDash val="solid"/>
          </a:ln>
        </p:spPr>
        <p:txBody>
          <a:bodyPr/>
          <a:lstStyle/>
          <a:p>
            <a:endParaRPr/>
          </a:p>
        </p:txBody>
      </p:sp>
      <p:sp>
        <p:nvSpPr>
          <p:cNvPr id="13" name="comparison-rule-1">
            <a:extLst>
              <a:ext uri="{FF2B5EF4-FFF2-40B4-BE49-F238E27FC236}">
                <a16:creationId xmlns:a16="http://schemas.microsoft.com/office/drawing/2014/main" id="{004D2764-E8A7-48C0-B6A9-B52C2F177995}"/>
              </a:ext>
            </a:extLst>
          </p:cNvPr>
          <p:cNvSpPr>
            <a:spLocks/>
          </p:cNvSpPr>
          <p:nvPr/>
        </p:nvSpPr>
        <p:spPr>
          <a:xfrm>
            <a:off x="6286500" y="2095500"/>
            <a:ext cx="5219700" cy="76200"/>
          </a:xfrm>
          <a:prstGeom prst="rect">
            <a:avLst/>
          </a:prstGeom>
          <a:solidFill>
            <a:srgbClr val="28A745"/>
          </a:solidFill>
          <a:ln w="0">
            <a:noFill/>
            <a:prstDash val="solid"/>
          </a:ln>
        </p:spPr>
        <p:txBody>
          <a:bodyPr/>
          <a:lstStyle/>
          <a:p>
            <a:endParaRPr/>
          </a:p>
        </p:txBody>
      </p:sp>
      <p:sp>
        <p:nvSpPr>
          <p:cNvPr id="14" name="comparison-label-1">
            <a:extLst>
              <a:ext uri="{FF2B5EF4-FFF2-40B4-BE49-F238E27FC236}">
                <a16:creationId xmlns:a16="http://schemas.microsoft.com/office/drawing/2014/main" id="{856D1B6A-0D28-4FD3-A126-CC74097425F8}"/>
              </a:ext>
            </a:extLst>
          </p:cNvPr>
          <p:cNvSpPr>
            <a:spLocks/>
          </p:cNvSpPr>
          <p:nvPr/>
        </p:nvSpPr>
        <p:spPr>
          <a:xfrm>
            <a:off x="6667500" y="2524125"/>
            <a:ext cx="1238250" cy="228600"/>
          </a:xfrm>
          <a:prstGeom prst="rect">
            <a:avLst/>
          </a:prstGeom>
          <a:noFill/>
          <a:ln w="0">
            <a:noFill/>
            <a:prstDash val="solid"/>
          </a:ln>
        </p:spPr>
        <p:txBody>
          <a:bodyPr/>
          <a:lstStyle/>
          <a:p>
            <a:pPr>
              <a:buNone/>
              <a:defRPr sz="1050" b="1">
                <a:solidFill>
                  <a:srgbClr val="6C757D"/>
                </a:solidFill>
                <a:latin typeface="Aptos"/>
                <a:ea typeface="Aptos"/>
                <a:cs typeface="Aptos"/>
              </a:defRPr>
            </a:pPr>
            <a:r>
              <a:rPr sz="1050" b="1">
                <a:solidFill>
                  <a:srgbClr val="6C757D"/>
                </a:solidFill>
                <a:latin typeface="Aptos"/>
                <a:ea typeface="Aptos"/>
                <a:cs typeface="Aptos"/>
              </a:rPr>
              <a:t>BIOSTATISTICS</a:t>
            </a:r>
          </a:p>
        </p:txBody>
      </p:sp>
      <p:sp>
        <p:nvSpPr>
          <p:cNvPr id="15" name="comparison-head-1">
            <a:extLst>
              <a:ext uri="{FF2B5EF4-FFF2-40B4-BE49-F238E27FC236}">
                <a16:creationId xmlns:a16="http://schemas.microsoft.com/office/drawing/2014/main" id="{C9B9E6DE-2A9A-46CA-BC8A-E6067C8168E2}"/>
              </a:ext>
            </a:extLst>
          </p:cNvPr>
          <p:cNvSpPr>
            <a:spLocks/>
          </p:cNvSpPr>
          <p:nvPr/>
        </p:nvSpPr>
        <p:spPr>
          <a:xfrm>
            <a:off x="6667500" y="2952750"/>
            <a:ext cx="4095750" cy="609600"/>
          </a:xfrm>
          <a:prstGeom prst="rect">
            <a:avLst/>
          </a:prstGeom>
          <a:noFill/>
          <a:ln w="0">
            <a:noFill/>
            <a:prstDash val="solid"/>
          </a:ln>
        </p:spPr>
        <p:txBody>
          <a:bodyPr/>
          <a:lstStyle/>
          <a:p>
            <a:pPr>
              <a:buNone/>
              <a:defRPr sz="1800" b="1">
                <a:solidFill>
                  <a:srgbClr val="4E5F72"/>
                </a:solidFill>
                <a:latin typeface="Georgia"/>
                <a:ea typeface="Georgia"/>
                <a:cs typeface="Georgia"/>
              </a:defRPr>
            </a:pPr>
            <a:r>
              <a:rPr sz="1800" b="1">
                <a:solidFill>
                  <a:srgbClr val="4E5F72"/>
                </a:solidFill>
                <a:latin typeface="Georgia"/>
                <a:ea typeface="Georgia"/>
                <a:cs typeface="Georgia"/>
              </a:rPr>
              <a:t>Provides tools to analyze and interpret health data</a:t>
            </a:r>
          </a:p>
        </p:txBody>
      </p:sp>
      <p:sp>
        <p:nvSpPr>
          <p:cNvPr id="16" name="comparison-body-1">
            <a:extLst>
              <a:ext uri="{FF2B5EF4-FFF2-40B4-BE49-F238E27FC236}">
                <a16:creationId xmlns:a16="http://schemas.microsoft.com/office/drawing/2014/main" id="{8C5CFB04-8174-43DE-9BDD-697056EC5D96}"/>
              </a:ext>
            </a:extLst>
          </p:cNvPr>
          <p:cNvSpPr>
            <a:spLocks/>
          </p:cNvSpPr>
          <p:nvPr/>
        </p:nvSpPr>
        <p:spPr>
          <a:xfrm>
            <a:off x="6667500" y="3857625"/>
            <a:ext cx="4095750" cy="590550"/>
          </a:xfrm>
          <a:prstGeom prst="rect">
            <a:avLst/>
          </a:prstGeom>
          <a:noFill/>
          <a:ln w="0">
            <a:noFill/>
            <a:prstDash val="solid"/>
          </a:ln>
        </p:spPr>
        <p:txBody>
          <a:bodyPr/>
          <a:lstStyle/>
          <a:p>
            <a:pPr>
              <a:buNone/>
              <a:defRPr sz="1425">
                <a:solidFill>
                  <a:srgbClr val="6C757D"/>
                </a:solidFill>
                <a:latin typeface="Aptos"/>
                <a:ea typeface="Aptos"/>
                <a:cs typeface="Aptos"/>
              </a:defRPr>
            </a:pPr>
            <a:r>
              <a:rPr sz="1425">
                <a:solidFill>
                  <a:srgbClr val="6C757D"/>
                </a:solidFill>
                <a:latin typeface="Aptos"/>
                <a:ea typeface="Aptos"/>
                <a:cs typeface="Aptos"/>
              </a:rPr>
              <a:t>Supports evidence-based conclusions in epidemiology and beyond</a:t>
            </a:r>
          </a:p>
        </p:txBody>
      </p:sp>
    </p:spTree>
    <p:extLst>
      <p:ext uri="{BB962C8B-B14F-4D97-AF65-F5344CB8AC3E}">
        <p14:creationId xmlns:p14="http://schemas.microsoft.com/office/powerpoint/2010/main" val="2117694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template-label">
            <a:extLst>
              <a:ext uri="{FF2B5EF4-FFF2-40B4-BE49-F238E27FC236}">
                <a16:creationId xmlns:a16="http://schemas.microsoft.com/office/drawing/2014/main" id="{E60B7CE5-EF2B-4026-8219-7458C00DA56C}"/>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B0419E-C5B8-4DE1-A8F4-7EA3492EE8D6}"/>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206B839E-C302-4915-B8AB-7F43BC265118}"/>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3FC5FC40-9B2E-4F9B-BAFE-FF33B14D7267}"/>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IMPACT</a:t>
            </a:r>
          </a:p>
        </p:txBody>
      </p:sp>
      <p:sp>
        <p:nvSpPr>
          <p:cNvPr id="5" name="slide-number">
            <a:extLst>
              <a:ext uri="{FF2B5EF4-FFF2-40B4-BE49-F238E27FC236}">
                <a16:creationId xmlns:a16="http://schemas.microsoft.com/office/drawing/2014/main" id="{9E9313E4-4510-421C-842F-02F7B7556456}"/>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9</a:t>
            </a:r>
          </a:p>
        </p:txBody>
      </p:sp>
      <p:sp>
        <p:nvSpPr>
          <p:cNvPr id="6" name="title">
            <a:extLst>
              <a:ext uri="{FF2B5EF4-FFF2-40B4-BE49-F238E27FC236}">
                <a16:creationId xmlns:a16="http://schemas.microsoft.com/office/drawing/2014/main" id="{312ED333-B76B-4A23-872C-F1552FF78E09}"/>
              </a:ext>
            </a:extLst>
          </p:cNvPr>
          <p:cNvSpPr>
            <a:spLocks/>
          </p:cNvSpPr>
          <p:nvPr/>
        </p:nvSpPr>
        <p:spPr>
          <a:xfrm>
            <a:off x="685800" y="1162049"/>
            <a:ext cx="3905250" cy="1304925"/>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The impact of epidemiology and biostatistics</a:t>
            </a:r>
          </a:p>
        </p:txBody>
      </p:sp>
      <p:sp>
        <p:nvSpPr>
          <p:cNvPr id="11" name="impact-hub">
            <a:extLst>
              <a:ext uri="{FF2B5EF4-FFF2-40B4-BE49-F238E27FC236}">
                <a16:creationId xmlns:a16="http://schemas.microsoft.com/office/drawing/2014/main" id="{60ED0403-AC43-4486-820E-2FF12A749E9D}"/>
              </a:ext>
            </a:extLst>
          </p:cNvPr>
          <p:cNvSpPr>
            <a:spLocks/>
          </p:cNvSpPr>
          <p:nvPr/>
        </p:nvSpPr>
        <p:spPr>
          <a:xfrm>
            <a:off x="7086600" y="3133725"/>
            <a:ext cx="1619250" cy="781050"/>
          </a:xfrm>
          <a:prstGeom prst="roundRect">
            <a:avLst>
              <a:gd name="adj" fmla="val 21951"/>
            </a:avLst>
          </a:prstGeom>
          <a:solidFill>
            <a:srgbClr val="4E5F72"/>
          </a:solidFill>
          <a:ln w="9525">
            <a:solidFill>
              <a:srgbClr val="4E5F72"/>
            </a:solidFill>
            <a:prstDash val="solid"/>
          </a:ln>
        </p:spPr>
        <p:txBody>
          <a:bodyPr lIns="57150" tIns="38100" rIns="57150" bIns="38100" anchor="ctr"/>
          <a:lstStyle/>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Epidemiology +</a:t>
            </a:r>
          </a:p>
          <a:p>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Biostatistics</a:t>
            </a:r>
          </a:p>
        </p:txBody>
      </p:sp>
      <p:sp>
        <p:nvSpPr>
          <p:cNvPr id="12" name="impact-infectious">
            <a:extLst>
              <a:ext uri="{FF2B5EF4-FFF2-40B4-BE49-F238E27FC236}">
                <a16:creationId xmlns:a16="http://schemas.microsoft.com/office/drawing/2014/main" id="{BD7F7143-D05B-47F1-9AA9-24EA83201B2A}"/>
              </a:ext>
            </a:extLst>
          </p:cNvPr>
          <p:cNvSpPr>
            <a:spLocks/>
          </p:cNvSpPr>
          <p:nvPr/>
        </p:nvSpPr>
        <p:spPr>
          <a:xfrm>
            <a:off x="4662920" y="1516207"/>
            <a:ext cx="1562100" cy="571500"/>
          </a:xfrm>
          <a:prstGeom prst="roundRect">
            <a:avLst>
              <a:gd name="adj" fmla="val 20000"/>
            </a:avLst>
          </a:prstGeom>
          <a:solidFill>
            <a:srgbClr val="FFF7D6"/>
          </a:solidFill>
          <a:ln w="19050">
            <a:solidFill>
              <a:srgbClr val="FFD662"/>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Infectious disease</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&amp; outbreaks</a:t>
            </a:r>
          </a:p>
        </p:txBody>
      </p:sp>
      <p:sp>
        <p:nvSpPr>
          <p:cNvPr id="13" name="impact-chronic">
            <a:extLst>
              <a:ext uri="{FF2B5EF4-FFF2-40B4-BE49-F238E27FC236}">
                <a16:creationId xmlns:a16="http://schemas.microsoft.com/office/drawing/2014/main" id="{8B9B3993-9A8A-413C-9423-EB749C2134FB}"/>
              </a:ext>
            </a:extLst>
          </p:cNvPr>
          <p:cNvSpPr>
            <a:spLocks/>
          </p:cNvSpPr>
          <p:nvPr/>
        </p:nvSpPr>
        <p:spPr>
          <a:xfrm>
            <a:off x="7019925" y="1514475"/>
            <a:ext cx="1752600" cy="571500"/>
          </a:xfrm>
          <a:prstGeom prst="roundRect">
            <a:avLst>
              <a:gd name="adj" fmla="val 20000"/>
            </a:avLst>
          </a:prstGeom>
          <a:solidFill>
            <a:srgbClr val="EEF8F0"/>
          </a:solidFill>
          <a:ln w="19050">
            <a:solidFill>
              <a:srgbClr val="28A745"/>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Chronic disease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injury prevention</a:t>
            </a:r>
          </a:p>
        </p:txBody>
      </p:sp>
      <p:sp>
        <p:nvSpPr>
          <p:cNvPr id="14" name="impact-maternal">
            <a:extLst>
              <a:ext uri="{FF2B5EF4-FFF2-40B4-BE49-F238E27FC236}">
                <a16:creationId xmlns:a16="http://schemas.microsoft.com/office/drawing/2014/main" id="{4375DEBB-C195-4EF9-B849-C47C2EF86D50}"/>
              </a:ext>
            </a:extLst>
          </p:cNvPr>
          <p:cNvSpPr>
            <a:spLocks/>
          </p:cNvSpPr>
          <p:nvPr/>
        </p:nvSpPr>
        <p:spPr>
          <a:xfrm>
            <a:off x="9358745" y="1514475"/>
            <a:ext cx="1562100" cy="571500"/>
          </a:xfrm>
          <a:prstGeom prst="roundRect">
            <a:avLst>
              <a:gd name="adj" fmla="val 20000"/>
            </a:avLst>
          </a:prstGeom>
          <a:solidFill>
            <a:srgbClr val="FFF2E8"/>
          </a:solidFill>
          <a:ln w="19050">
            <a:solidFill>
              <a:srgbClr val="FD7E14"/>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Maternal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child health</a:t>
            </a:r>
          </a:p>
        </p:txBody>
      </p:sp>
      <p:sp>
        <p:nvSpPr>
          <p:cNvPr id="15" name="impact-environment">
            <a:extLst>
              <a:ext uri="{FF2B5EF4-FFF2-40B4-BE49-F238E27FC236}">
                <a16:creationId xmlns:a16="http://schemas.microsoft.com/office/drawing/2014/main" id="{BD4BE050-C2F5-4C7D-92F6-00FA6CC5B47B}"/>
              </a:ext>
            </a:extLst>
          </p:cNvPr>
          <p:cNvSpPr>
            <a:spLocks/>
          </p:cNvSpPr>
          <p:nvPr/>
        </p:nvSpPr>
        <p:spPr>
          <a:xfrm>
            <a:off x="4591050" y="3228975"/>
            <a:ext cx="1714500" cy="571500"/>
          </a:xfrm>
          <a:prstGeom prst="roundRect">
            <a:avLst>
              <a:gd name="adj" fmla="val 20000"/>
            </a:avLst>
          </a:prstGeom>
          <a:solidFill>
            <a:srgbClr val="F1F3F5"/>
          </a:solidFill>
          <a:ln w="19050">
            <a:solidFill>
              <a:srgbClr val="6C757D"/>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Environmental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occupational health</a:t>
            </a:r>
          </a:p>
        </p:txBody>
      </p:sp>
      <p:sp>
        <p:nvSpPr>
          <p:cNvPr id="16" name="impact-mental">
            <a:extLst>
              <a:ext uri="{FF2B5EF4-FFF2-40B4-BE49-F238E27FC236}">
                <a16:creationId xmlns:a16="http://schemas.microsoft.com/office/drawing/2014/main" id="{944984E9-944E-4E56-8AA2-E870DB174780}"/>
              </a:ext>
            </a:extLst>
          </p:cNvPr>
          <p:cNvSpPr>
            <a:spLocks/>
          </p:cNvSpPr>
          <p:nvPr/>
        </p:nvSpPr>
        <p:spPr>
          <a:xfrm>
            <a:off x="9286875" y="3238500"/>
            <a:ext cx="1714500" cy="571500"/>
          </a:xfrm>
          <a:prstGeom prst="roundRect">
            <a:avLst>
              <a:gd name="adj" fmla="val 20000"/>
            </a:avLst>
          </a:prstGeom>
          <a:solidFill>
            <a:srgbClr val="FFF7D6"/>
          </a:solidFill>
          <a:ln w="19050">
            <a:solidFill>
              <a:srgbClr val="FFD662"/>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Mental health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substance use</a:t>
            </a:r>
          </a:p>
        </p:txBody>
      </p:sp>
      <p:sp>
        <p:nvSpPr>
          <p:cNvPr id="17" name="impact-equity">
            <a:extLst>
              <a:ext uri="{FF2B5EF4-FFF2-40B4-BE49-F238E27FC236}">
                <a16:creationId xmlns:a16="http://schemas.microsoft.com/office/drawing/2014/main" id="{8CA9FDAE-51A4-4350-83A3-7976373BB51E}"/>
              </a:ext>
            </a:extLst>
          </p:cNvPr>
          <p:cNvSpPr>
            <a:spLocks/>
          </p:cNvSpPr>
          <p:nvPr/>
        </p:nvSpPr>
        <p:spPr>
          <a:xfrm>
            <a:off x="4714875" y="4962525"/>
            <a:ext cx="1676400" cy="609600"/>
          </a:xfrm>
          <a:prstGeom prst="roundRect">
            <a:avLst>
              <a:gd name="adj" fmla="val 18750"/>
            </a:avLst>
          </a:prstGeom>
          <a:solidFill>
            <a:srgbClr val="EEF8F0"/>
          </a:solidFill>
          <a:ln w="19050">
            <a:solidFill>
              <a:srgbClr val="28A745"/>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Health equity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social determinants</a:t>
            </a:r>
          </a:p>
        </p:txBody>
      </p:sp>
      <p:sp>
        <p:nvSpPr>
          <p:cNvPr id="18" name="impact-clinical">
            <a:extLst>
              <a:ext uri="{FF2B5EF4-FFF2-40B4-BE49-F238E27FC236}">
                <a16:creationId xmlns:a16="http://schemas.microsoft.com/office/drawing/2014/main" id="{FE22431B-F98A-4E27-A789-70272CBE69AC}"/>
              </a:ext>
            </a:extLst>
          </p:cNvPr>
          <p:cNvSpPr>
            <a:spLocks/>
          </p:cNvSpPr>
          <p:nvPr/>
        </p:nvSpPr>
        <p:spPr>
          <a:xfrm>
            <a:off x="7019925" y="4962525"/>
            <a:ext cx="1752600" cy="609600"/>
          </a:xfrm>
          <a:prstGeom prst="roundRect">
            <a:avLst>
              <a:gd name="adj" fmla="val 18750"/>
            </a:avLst>
          </a:prstGeom>
          <a:solidFill>
            <a:srgbClr val="F1F3F5"/>
          </a:solidFill>
          <a:ln w="19050">
            <a:solidFill>
              <a:srgbClr val="6C757D"/>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Clinical &amp;</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precision health</a:t>
            </a:r>
          </a:p>
        </p:txBody>
      </p:sp>
      <p:sp>
        <p:nvSpPr>
          <p:cNvPr id="19" name="impact-systems">
            <a:extLst>
              <a:ext uri="{FF2B5EF4-FFF2-40B4-BE49-F238E27FC236}">
                <a16:creationId xmlns:a16="http://schemas.microsoft.com/office/drawing/2014/main" id="{632E8E50-1DB4-4AE2-864A-A0CBEE270A9B}"/>
              </a:ext>
            </a:extLst>
          </p:cNvPr>
          <p:cNvSpPr>
            <a:spLocks/>
          </p:cNvSpPr>
          <p:nvPr/>
        </p:nvSpPr>
        <p:spPr>
          <a:xfrm>
            <a:off x="9363940" y="4962525"/>
            <a:ext cx="1638300" cy="609600"/>
          </a:xfrm>
          <a:prstGeom prst="roundRect">
            <a:avLst>
              <a:gd name="adj" fmla="val 18750"/>
            </a:avLst>
          </a:prstGeom>
          <a:solidFill>
            <a:srgbClr val="FFF2E8"/>
          </a:solidFill>
          <a:ln w="19050">
            <a:solidFill>
              <a:srgbClr val="FD7E14"/>
            </a:solidFill>
            <a:prstDash val="solid"/>
          </a:ln>
        </p:spPr>
        <p:txBody>
          <a:bodyPr lIns="57150" tIns="28575" rIns="57150" bIns="28575" anchor="ctr"/>
          <a:lstStyle/>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Health systems</a:t>
            </a:r>
          </a:p>
          <a:p>
            <a:pPr algn="ctr">
              <a:lnSpc>
                <a:spcPct val="95000"/>
              </a:lnSpc>
              <a:buNone/>
              <a:defRPr sz="1275" b="1">
                <a:solidFill>
                  <a:srgbClr val="203044"/>
                </a:solidFill>
                <a:latin typeface="Aptos"/>
                <a:ea typeface="Aptos"/>
                <a:cs typeface="Aptos"/>
              </a:defRPr>
            </a:pPr>
            <a:r>
              <a:rPr sz="1275" b="1">
                <a:solidFill>
                  <a:srgbClr val="203044"/>
                </a:solidFill>
                <a:latin typeface="Aptos"/>
                <a:ea typeface="Aptos"/>
                <a:cs typeface="Aptos"/>
              </a:rPr>
              <a:t>&amp; policy</a:t>
            </a:r>
          </a:p>
        </p:txBody>
      </p:sp>
      <p:cxnSp>
        <p:nvCxnSpPr>
          <p:cNvPr id="44" name="Straight Arrow Connector 43"/>
          <p:cNvCxnSpPr>
            <a:stCxn id="11" idx="1"/>
            <a:endCxn id="12" idx="3"/>
          </p:cNvCxnSpPr>
          <p:nvPr/>
        </p:nvCxnSpPr>
        <p:spPr>
          <a:xfrm flipH="1" flipV="1">
            <a:off x="6225020" y="1801957"/>
            <a:ext cx="861580" cy="1722293"/>
          </a:xfrm>
          <a:prstGeom prst="straightConnector1">
            <a:avLst/>
          </a:prstGeom>
          <a:ln w="19050" cap="rnd">
            <a:solidFill>
              <a:srgbClr val="A8B0B8"/>
            </a:solidFill>
            <a:prstDash val="solid"/>
          </a:ln>
        </p:spPr>
      </p:cxnSp>
      <p:cxnSp>
        <p:nvCxnSpPr>
          <p:cNvPr id="45" name="Straight Arrow Connector 44"/>
          <p:cNvCxnSpPr>
            <a:stCxn id="11" idx="0"/>
            <a:endCxn id="13" idx="2"/>
          </p:cNvCxnSpPr>
          <p:nvPr/>
        </p:nvCxnSpPr>
        <p:spPr>
          <a:xfrm flipV="1">
            <a:off x="7896225" y="2085975"/>
            <a:ext cx="0" cy="1047750"/>
          </a:xfrm>
          <a:prstGeom prst="straightConnector1">
            <a:avLst/>
          </a:prstGeom>
          <a:ln w="19050" cap="rnd">
            <a:solidFill>
              <a:srgbClr val="A8B0B8"/>
            </a:solidFill>
            <a:prstDash val="solid"/>
          </a:ln>
        </p:spPr>
      </p:cxnSp>
      <p:cxnSp>
        <p:nvCxnSpPr>
          <p:cNvPr id="46" name="Straight Arrow Connector 45"/>
          <p:cNvCxnSpPr>
            <a:stCxn id="11" idx="3"/>
            <a:endCxn id="14" idx="1"/>
          </p:cNvCxnSpPr>
          <p:nvPr/>
        </p:nvCxnSpPr>
        <p:spPr>
          <a:xfrm flipV="1">
            <a:off x="8705850" y="1800225"/>
            <a:ext cx="652895" cy="1724025"/>
          </a:xfrm>
          <a:prstGeom prst="straightConnector1">
            <a:avLst/>
          </a:prstGeom>
          <a:ln w="19050" cap="rnd">
            <a:solidFill>
              <a:srgbClr val="A8B0B8"/>
            </a:solidFill>
            <a:prstDash val="solid"/>
          </a:ln>
        </p:spPr>
      </p:cxnSp>
      <p:cxnSp>
        <p:nvCxnSpPr>
          <p:cNvPr id="47" name="Straight Arrow Connector 46"/>
          <p:cNvCxnSpPr>
            <a:stCxn id="11" idx="1"/>
            <a:endCxn id="15" idx="3"/>
          </p:cNvCxnSpPr>
          <p:nvPr/>
        </p:nvCxnSpPr>
        <p:spPr>
          <a:xfrm flipH="1" flipV="1">
            <a:off x="6305550" y="3514725"/>
            <a:ext cx="781050" cy="9525"/>
          </a:xfrm>
          <a:prstGeom prst="straightConnector1">
            <a:avLst/>
          </a:prstGeom>
          <a:ln w="19050" cap="rnd">
            <a:solidFill>
              <a:srgbClr val="A8B0B8"/>
            </a:solidFill>
            <a:prstDash val="solid"/>
          </a:ln>
        </p:spPr>
      </p:cxnSp>
      <p:cxnSp>
        <p:nvCxnSpPr>
          <p:cNvPr id="48" name="Straight Arrow Connector 47"/>
          <p:cNvCxnSpPr>
            <a:stCxn id="11" idx="3"/>
            <a:endCxn id="16" idx="1"/>
          </p:cNvCxnSpPr>
          <p:nvPr/>
        </p:nvCxnSpPr>
        <p:spPr>
          <a:xfrm>
            <a:off x="8705850" y="3524250"/>
            <a:ext cx="581025" cy="0"/>
          </a:xfrm>
          <a:prstGeom prst="straightConnector1">
            <a:avLst/>
          </a:prstGeom>
          <a:ln w="19050" cap="rnd">
            <a:solidFill>
              <a:srgbClr val="A8B0B8"/>
            </a:solidFill>
            <a:prstDash val="solid"/>
          </a:ln>
        </p:spPr>
      </p:cxnSp>
      <p:cxnSp>
        <p:nvCxnSpPr>
          <p:cNvPr id="49" name="Straight Arrow Connector 48"/>
          <p:cNvCxnSpPr>
            <a:stCxn id="11" idx="1"/>
            <a:endCxn id="17" idx="3"/>
          </p:cNvCxnSpPr>
          <p:nvPr/>
        </p:nvCxnSpPr>
        <p:spPr>
          <a:xfrm flipH="1">
            <a:off x="6391275" y="3524250"/>
            <a:ext cx="695325" cy="1743075"/>
          </a:xfrm>
          <a:prstGeom prst="straightConnector1">
            <a:avLst/>
          </a:prstGeom>
          <a:ln w="19050" cap="rnd">
            <a:solidFill>
              <a:srgbClr val="A8B0B8"/>
            </a:solidFill>
            <a:prstDash val="solid"/>
          </a:ln>
        </p:spPr>
      </p:cxnSp>
      <p:cxnSp>
        <p:nvCxnSpPr>
          <p:cNvPr id="50" name="Straight Arrow Connector 49"/>
          <p:cNvCxnSpPr>
            <a:stCxn id="11" idx="2"/>
            <a:endCxn id="18" idx="0"/>
          </p:cNvCxnSpPr>
          <p:nvPr/>
        </p:nvCxnSpPr>
        <p:spPr>
          <a:xfrm>
            <a:off x="7896225" y="3914775"/>
            <a:ext cx="0" cy="1047750"/>
          </a:xfrm>
          <a:prstGeom prst="straightConnector1">
            <a:avLst/>
          </a:prstGeom>
          <a:ln w="19050" cap="rnd">
            <a:solidFill>
              <a:srgbClr val="A8B0B8"/>
            </a:solidFill>
            <a:prstDash val="solid"/>
          </a:ln>
        </p:spPr>
      </p:cxnSp>
      <p:cxnSp>
        <p:nvCxnSpPr>
          <p:cNvPr id="51" name="Straight Arrow Connector 50"/>
          <p:cNvCxnSpPr>
            <a:stCxn id="11" idx="3"/>
            <a:endCxn id="19" idx="1"/>
          </p:cNvCxnSpPr>
          <p:nvPr/>
        </p:nvCxnSpPr>
        <p:spPr>
          <a:xfrm>
            <a:off x="8705850" y="3524250"/>
            <a:ext cx="658090" cy="1743075"/>
          </a:xfrm>
          <a:prstGeom prst="straightConnector1">
            <a:avLst/>
          </a:prstGeom>
          <a:ln w="19050" cap="rnd">
            <a:solidFill>
              <a:srgbClr val="A8B0B8"/>
            </a:solidFill>
            <a:prstDash val="solid"/>
          </a:ln>
        </p:spPr>
      </p:cxnSp>
    </p:spTree>
    <p:extLst>
      <p:ext uri="{BB962C8B-B14F-4D97-AF65-F5344CB8AC3E}">
        <p14:creationId xmlns:p14="http://schemas.microsoft.com/office/powerpoint/2010/main" val="6647351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template-label">
            <a:extLst>
              <a:ext uri="{FF2B5EF4-FFF2-40B4-BE49-F238E27FC236}">
                <a16:creationId xmlns:a16="http://schemas.microsoft.com/office/drawing/2014/main" id="{D37C8A68-70F1-4D9B-AD11-F6B8F4C5FD4A}"/>
              </a:ext>
            </a:extLst>
          </p:cNvPr>
          <p:cNvSpPr>
            <a:spLocks/>
          </p:cNvSpPr>
          <p:nvPr/>
        </p:nvSpPr>
        <p:spPr>
          <a:xfrm>
            <a:off x="685800" y="400050"/>
            <a:ext cx="2952750" cy="209550"/>
          </a:xfrm>
          <a:prstGeom prst="rect">
            <a:avLst/>
          </a:prstGeom>
          <a:noFill/>
          <a:ln w="0">
            <a:noFill/>
            <a:prstDash val="solid"/>
          </a:ln>
        </p:spPr>
        <p:txBody>
          <a:bodyPr/>
          <a:lstStyle/>
          <a:p>
            <a:pPr>
              <a:buNone/>
              <a:defRPr sz="900" b="1">
                <a:solidFill>
                  <a:srgbClr val="6C757D"/>
                </a:solidFill>
                <a:latin typeface="Aptos"/>
                <a:ea typeface="Aptos"/>
                <a:cs typeface="Aptos"/>
              </a:defRPr>
            </a:pPr>
            <a:r>
              <a:rPr sz="900" b="1">
                <a:solidFill>
                  <a:srgbClr val="6C757D"/>
                </a:solidFill>
                <a:latin typeface="Aptos"/>
                <a:ea typeface="Aptos"/>
                <a:cs typeface="Aptos"/>
              </a:rPr>
              <a:t>APHS 20203</a:t>
            </a:r>
          </a:p>
        </p:txBody>
      </p:sp>
      <p:sp>
        <p:nvSpPr>
          <p:cNvPr id="2" name="wordmark">
            <a:extLst>
              <a:ext uri="{FF2B5EF4-FFF2-40B4-BE49-F238E27FC236}">
                <a16:creationId xmlns:a16="http://schemas.microsoft.com/office/drawing/2014/main" id="{03648793-2D85-4051-82E7-CD63A4BD8699}"/>
              </a:ext>
            </a:extLst>
          </p:cNvPr>
          <p:cNvSpPr>
            <a:spLocks/>
          </p:cNvSpPr>
          <p:nvPr/>
        </p:nvSpPr>
        <p:spPr>
          <a:xfrm>
            <a:off x="9620250" y="400050"/>
            <a:ext cx="1885950" cy="209550"/>
          </a:xfrm>
          <a:prstGeom prst="rect">
            <a:avLst/>
          </a:prstGeom>
          <a:noFill/>
          <a:ln w="0">
            <a:noFill/>
            <a:prstDash val="solid"/>
          </a:ln>
        </p:spPr>
        <p:txBody>
          <a:bodyPr/>
          <a:lstStyle/>
          <a:p>
            <a:pPr algn="r">
              <a:buNone/>
              <a:defRPr sz="975" b="1">
                <a:solidFill>
                  <a:srgbClr val="4E5F72"/>
                </a:solidFill>
                <a:latin typeface="Aptos"/>
                <a:ea typeface="Aptos"/>
                <a:cs typeface="Aptos"/>
              </a:defRPr>
            </a:pPr>
            <a:r>
              <a:rPr sz="975" b="1">
                <a:solidFill>
                  <a:srgbClr val="4E5F72"/>
                </a:solidFill>
                <a:latin typeface="Aptos"/>
                <a:ea typeface="Aptos"/>
                <a:cs typeface="Aptos"/>
              </a:rPr>
              <a:t>Epidemiology &amp; Biostatistics</a:t>
            </a:r>
          </a:p>
        </p:txBody>
      </p:sp>
      <p:sp>
        <p:nvSpPr>
          <p:cNvPr id="3" name="accent-rule">
            <a:extLst>
              <a:ext uri="{FF2B5EF4-FFF2-40B4-BE49-F238E27FC236}">
                <a16:creationId xmlns:a16="http://schemas.microsoft.com/office/drawing/2014/main" id="{7C1277DC-1885-4C95-AC0F-176D00A840C2}"/>
              </a:ext>
            </a:extLst>
          </p:cNvPr>
          <p:cNvSpPr>
            <a:spLocks/>
          </p:cNvSpPr>
          <p:nvPr/>
        </p:nvSpPr>
        <p:spPr>
          <a:xfrm>
            <a:off x="685800" y="685800"/>
            <a:ext cx="876300" cy="47625"/>
          </a:xfrm>
          <a:prstGeom prst="rect">
            <a:avLst/>
          </a:prstGeom>
          <a:solidFill>
            <a:srgbClr val="FFD662"/>
          </a:solidFill>
          <a:ln w="0">
            <a:noFill/>
            <a:prstDash val="solid"/>
          </a:ln>
        </p:spPr>
        <p:txBody>
          <a:bodyPr/>
          <a:lstStyle/>
          <a:p>
            <a:endParaRPr/>
          </a:p>
        </p:txBody>
      </p:sp>
      <p:sp>
        <p:nvSpPr>
          <p:cNvPr id="4" name="footer">
            <a:extLst>
              <a:ext uri="{FF2B5EF4-FFF2-40B4-BE49-F238E27FC236}">
                <a16:creationId xmlns:a16="http://schemas.microsoft.com/office/drawing/2014/main" id="{CBB093EB-7C58-4256-813B-3BCED3ED2637}"/>
              </a:ext>
            </a:extLst>
          </p:cNvPr>
          <p:cNvSpPr>
            <a:spLocks/>
          </p:cNvSpPr>
          <p:nvPr/>
        </p:nvSpPr>
        <p:spPr>
          <a:xfrm>
            <a:off x="685800" y="6477000"/>
            <a:ext cx="4762500" cy="152400"/>
          </a:xfrm>
          <a:prstGeom prst="rect">
            <a:avLst/>
          </a:prstGeom>
          <a:noFill/>
          <a:ln w="0">
            <a:noFill/>
            <a:prstDash val="solid"/>
          </a:ln>
        </p:spPr>
        <p:txBody>
          <a:bodyPr/>
          <a:lstStyle/>
          <a:p>
            <a:pPr>
              <a:buNone/>
              <a:defRPr sz="750" b="1">
                <a:solidFill>
                  <a:srgbClr val="6C757D"/>
                </a:solidFill>
                <a:latin typeface="Aptos"/>
                <a:ea typeface="Aptos"/>
                <a:cs typeface="Aptos"/>
              </a:defRPr>
            </a:pPr>
            <a:r>
              <a:rPr sz="750" b="1">
                <a:solidFill>
                  <a:srgbClr val="6C757D"/>
                </a:solidFill>
                <a:latin typeface="Aptos"/>
                <a:ea typeface="Aptos"/>
                <a:cs typeface="Aptos"/>
              </a:rPr>
              <a:t>GROUP DISCUSSION</a:t>
            </a:r>
          </a:p>
        </p:txBody>
      </p:sp>
      <p:sp>
        <p:nvSpPr>
          <p:cNvPr id="5" name="slide-number">
            <a:extLst>
              <a:ext uri="{FF2B5EF4-FFF2-40B4-BE49-F238E27FC236}">
                <a16:creationId xmlns:a16="http://schemas.microsoft.com/office/drawing/2014/main" id="{162DE736-C6D4-4D25-8311-EE34F939D48D}"/>
              </a:ext>
            </a:extLst>
          </p:cNvPr>
          <p:cNvSpPr>
            <a:spLocks/>
          </p:cNvSpPr>
          <p:nvPr/>
        </p:nvSpPr>
        <p:spPr>
          <a:xfrm>
            <a:off x="10953750" y="6477000"/>
            <a:ext cx="552450" cy="152400"/>
          </a:xfrm>
          <a:prstGeom prst="rect">
            <a:avLst/>
          </a:prstGeom>
          <a:noFill/>
          <a:ln w="0">
            <a:noFill/>
            <a:prstDash val="solid"/>
          </a:ln>
        </p:spPr>
        <p:txBody>
          <a:bodyPr/>
          <a:lstStyle/>
          <a:p>
            <a:pPr algn="r">
              <a:buNone/>
              <a:defRPr sz="750" b="1">
                <a:solidFill>
                  <a:srgbClr val="6C757D"/>
                </a:solidFill>
                <a:latin typeface="Aptos"/>
                <a:ea typeface="Aptos"/>
                <a:cs typeface="Aptos"/>
              </a:defRPr>
            </a:pPr>
            <a:r>
              <a:rPr sz="750" b="1">
                <a:solidFill>
                  <a:srgbClr val="6C757D"/>
                </a:solidFill>
                <a:latin typeface="Aptos"/>
                <a:ea typeface="Aptos"/>
                <a:cs typeface="Aptos"/>
              </a:rPr>
              <a:t>10</a:t>
            </a:r>
          </a:p>
        </p:txBody>
      </p:sp>
      <p:sp>
        <p:nvSpPr>
          <p:cNvPr id="6" name="title">
            <a:extLst>
              <a:ext uri="{FF2B5EF4-FFF2-40B4-BE49-F238E27FC236}">
                <a16:creationId xmlns:a16="http://schemas.microsoft.com/office/drawing/2014/main" id="{C659B037-8B3B-4C95-BB63-4A8E1AA20107}"/>
              </a:ext>
            </a:extLst>
          </p:cNvPr>
          <p:cNvSpPr>
            <a:spLocks/>
          </p:cNvSpPr>
          <p:nvPr/>
        </p:nvSpPr>
        <p:spPr>
          <a:xfrm>
            <a:off x="685800" y="1162050"/>
            <a:ext cx="8572500" cy="476250"/>
          </a:xfrm>
          <a:prstGeom prst="rect">
            <a:avLst/>
          </a:prstGeom>
          <a:noFill/>
          <a:ln w="0">
            <a:noFill/>
            <a:prstDash val="solid"/>
          </a:ln>
        </p:spPr>
        <p:txBody>
          <a:bodyPr/>
          <a:lstStyle/>
          <a:p>
            <a:pPr>
              <a:buNone/>
              <a:defRPr sz="2550" b="1">
                <a:solidFill>
                  <a:srgbClr val="203044"/>
                </a:solidFill>
                <a:latin typeface="Aptos"/>
                <a:ea typeface="Aptos"/>
                <a:cs typeface="Aptos"/>
              </a:defRPr>
            </a:pPr>
            <a:r>
              <a:rPr sz="2550" b="1">
                <a:solidFill>
                  <a:srgbClr val="203044"/>
                </a:solidFill>
                <a:latin typeface="Aptos"/>
                <a:ea typeface="Aptos"/>
                <a:cs typeface="Aptos"/>
              </a:rPr>
              <a:t>Epi &amp; Stats in Everyday Life: Group Discussion</a:t>
            </a:r>
          </a:p>
        </p:txBody>
      </p:sp>
      <p:sp>
        <p:nvSpPr>
          <p:cNvPr id="9" name="step-0">
            <a:extLst>
              <a:ext uri="{FF2B5EF4-FFF2-40B4-BE49-F238E27FC236}">
                <a16:creationId xmlns:a16="http://schemas.microsoft.com/office/drawing/2014/main" id="{2A9CC6D4-0C75-4B57-803D-C3704901ABA7}"/>
              </a:ext>
            </a:extLst>
          </p:cNvPr>
          <p:cNvSpPr>
            <a:spLocks/>
          </p:cNvSpPr>
          <p:nvPr/>
        </p:nvSpPr>
        <p:spPr>
          <a:xfrm>
            <a:off x="685800" y="2109787"/>
            <a:ext cx="7905750" cy="400050"/>
          </a:xfrm>
          <a:prstGeom prst="rect">
            <a:avLst/>
          </a:prstGeom>
          <a:noFill/>
          <a:ln w="0">
            <a:noFill/>
            <a:prstDash val="solid"/>
          </a:ln>
        </p:spPr>
        <p:txBody>
          <a:bodyPr/>
          <a:lstStyle/>
          <a:p>
            <a:pPr>
              <a:buNone/>
              <a:defRPr sz="1425" b="0">
                <a:solidFill>
                  <a:srgbClr val="203044"/>
                </a:solidFill>
                <a:latin typeface="Aptos"/>
                <a:ea typeface="Aptos"/>
                <a:cs typeface="Aptos"/>
              </a:defRPr>
            </a:pPr>
            <a:r>
              <a:rPr sz="2000" b="1" dirty="0">
                <a:solidFill>
                  <a:srgbClr val="203044"/>
                </a:solidFill>
                <a:latin typeface="Aptos"/>
                <a:ea typeface="Aptos"/>
                <a:cs typeface="Aptos"/>
              </a:rPr>
              <a:t>With your Group Presentation </a:t>
            </a:r>
            <a:r>
              <a:rPr lang="en-US" sz="2000" b="1" dirty="0">
                <a:solidFill>
                  <a:srgbClr val="203044"/>
                </a:solidFill>
                <a:latin typeface="Aptos"/>
                <a:ea typeface="Aptos"/>
                <a:cs typeface="Aptos"/>
              </a:rPr>
              <a:t>1 </a:t>
            </a:r>
            <a:r>
              <a:rPr sz="2000" b="1" dirty="0">
                <a:solidFill>
                  <a:srgbClr val="203044"/>
                </a:solidFill>
                <a:latin typeface="Aptos"/>
                <a:ea typeface="Aptos"/>
                <a:cs typeface="Aptos"/>
              </a:rPr>
              <a:t>team:</a:t>
            </a:r>
          </a:p>
        </p:txBody>
      </p:sp>
      <p:sp>
        <p:nvSpPr>
          <p:cNvPr id="16" name="expected-outcome">
            <a:extLst>
              <a:ext uri="{FF2B5EF4-FFF2-40B4-BE49-F238E27FC236}">
                <a16:creationId xmlns:a16="http://schemas.microsoft.com/office/drawing/2014/main" id="{AD6B1D8D-D299-426D-930D-DD67C3400168}"/>
              </a:ext>
            </a:extLst>
          </p:cNvPr>
          <p:cNvSpPr>
            <a:spLocks/>
          </p:cNvSpPr>
          <p:nvPr/>
        </p:nvSpPr>
        <p:spPr>
          <a:xfrm>
            <a:off x="9239249" y="2305050"/>
            <a:ext cx="2849831" cy="2896342"/>
          </a:xfrm>
          <a:prstGeom prst="roundRect">
            <a:avLst>
              <a:gd name="adj" fmla="val 5455"/>
            </a:avLst>
          </a:prstGeom>
          <a:solidFill>
            <a:srgbClr val="F7F8FA"/>
          </a:solidFill>
          <a:ln w="9525">
            <a:solidFill>
              <a:srgbClr val="E9EDF1"/>
            </a:solidFill>
            <a:prstDash val="solid"/>
          </a:ln>
        </p:spPr>
        <p:txBody>
          <a:bodyPr/>
          <a:lstStyle/>
          <a:p>
            <a:endParaRPr/>
          </a:p>
        </p:txBody>
      </p:sp>
      <p:sp>
        <p:nvSpPr>
          <p:cNvPr id="18" name="expected">
            <a:extLst>
              <a:ext uri="{FF2B5EF4-FFF2-40B4-BE49-F238E27FC236}">
                <a16:creationId xmlns:a16="http://schemas.microsoft.com/office/drawing/2014/main" id="{684A1A18-EE85-4FC6-93E6-9299312D9351}"/>
              </a:ext>
            </a:extLst>
          </p:cNvPr>
          <p:cNvSpPr>
            <a:spLocks/>
          </p:cNvSpPr>
          <p:nvPr/>
        </p:nvSpPr>
        <p:spPr>
          <a:xfrm>
            <a:off x="9258300" y="2305051"/>
            <a:ext cx="2830779" cy="2896342"/>
          </a:xfrm>
          <a:prstGeom prst="rect">
            <a:avLst/>
          </a:prstGeom>
          <a:noFill/>
          <a:ln w="0">
            <a:noFill/>
            <a:prstDash val="solid"/>
          </a:ln>
        </p:spPr>
        <p:txBody>
          <a:bodyPr anchor="ctr"/>
          <a:lstStyle/>
          <a:p>
            <a:pPr algn="ctr">
              <a:buNone/>
              <a:defRPr sz="1800" b="1">
                <a:solidFill>
                  <a:srgbClr val="4E5F72"/>
                </a:solidFill>
                <a:latin typeface="Aptos"/>
                <a:ea typeface="Aptos"/>
                <a:cs typeface="Aptos"/>
              </a:defRPr>
            </a:pPr>
            <a:r>
              <a:rPr sz="1800" b="1" dirty="0">
                <a:solidFill>
                  <a:srgbClr val="4E5F72"/>
                </a:solidFill>
                <a:latin typeface="Aptos"/>
                <a:ea typeface="Aptos"/>
                <a:cs typeface="Aptos"/>
              </a:rPr>
              <a:t>This is brainstorming only — your group is not bound to this topic for Group </a:t>
            </a:r>
            <a:r>
              <a:rPr lang="en-US" sz="1800" b="1" dirty="0">
                <a:solidFill>
                  <a:srgbClr val="4E5F72"/>
                </a:solidFill>
                <a:latin typeface="Aptos"/>
                <a:ea typeface="Aptos"/>
                <a:cs typeface="Aptos"/>
              </a:rPr>
              <a:t>Presentation</a:t>
            </a:r>
            <a:r>
              <a:rPr sz="1800" b="1" dirty="0">
                <a:solidFill>
                  <a:srgbClr val="4E5F72"/>
                </a:solidFill>
                <a:latin typeface="Aptos"/>
                <a:ea typeface="Aptos"/>
                <a:cs typeface="Aptos"/>
              </a:rPr>
              <a:t> 1.</a:t>
            </a:r>
          </a:p>
        </p:txBody>
      </p:sp>
      <p:grpSp>
        <p:nvGrpSpPr>
          <p:cNvPr id="7" name="Group 6">
            <a:extLst>
              <a:ext uri="{FF2B5EF4-FFF2-40B4-BE49-F238E27FC236}">
                <a16:creationId xmlns:a16="http://schemas.microsoft.com/office/drawing/2014/main" id="{CFE378EE-859D-F78A-E8A5-60E81BF272EC}"/>
              </a:ext>
            </a:extLst>
          </p:cNvPr>
          <p:cNvGrpSpPr/>
          <p:nvPr/>
        </p:nvGrpSpPr>
        <p:grpSpPr>
          <a:xfrm>
            <a:off x="685800" y="2981324"/>
            <a:ext cx="8534400" cy="733425"/>
            <a:chOff x="685800" y="3305174"/>
            <a:chExt cx="8534400" cy="733425"/>
          </a:xfrm>
        </p:grpSpPr>
        <p:sp>
          <p:nvSpPr>
            <p:cNvPr id="12" name="step-1">
              <a:extLst>
                <a:ext uri="{FF2B5EF4-FFF2-40B4-BE49-F238E27FC236}">
                  <a16:creationId xmlns:a16="http://schemas.microsoft.com/office/drawing/2014/main" id="{04B12E8E-B377-411A-BD0F-3AE4C6F3F5AF}"/>
                </a:ext>
              </a:extLst>
            </p:cNvPr>
            <p:cNvSpPr>
              <a:spLocks/>
            </p:cNvSpPr>
            <p:nvPr/>
          </p:nvSpPr>
          <p:spPr>
            <a:xfrm>
              <a:off x="1314450" y="3305174"/>
              <a:ext cx="7905750" cy="733425"/>
            </a:xfrm>
            <a:prstGeom prst="rect">
              <a:avLst/>
            </a:prstGeom>
            <a:noFill/>
            <a:ln w="0">
              <a:noFill/>
              <a:prstDash val="solid"/>
            </a:ln>
          </p:spPr>
          <p:txBody>
            <a:bodyPr/>
            <a:lstStyle/>
            <a:p>
              <a:pPr>
                <a:buNone/>
                <a:defRPr sz="1350" b="0">
                  <a:solidFill>
                    <a:srgbClr val="203044"/>
                  </a:solidFill>
                  <a:latin typeface="Aptos"/>
                  <a:ea typeface="Aptos"/>
                  <a:cs typeface="Aptos"/>
                </a:defRPr>
              </a:pPr>
              <a:r>
                <a:rPr sz="2000" b="0" dirty="0">
                  <a:solidFill>
                    <a:srgbClr val="203044"/>
                  </a:solidFill>
                  <a:latin typeface="Aptos"/>
                  <a:ea typeface="Aptos"/>
                  <a:cs typeface="Aptos"/>
                </a:rPr>
                <a:t>Share and discuss health topics or issues your group finds interesting (news, social media, personal experiences, or career interests)</a:t>
              </a:r>
            </a:p>
          </p:txBody>
        </p:sp>
        <p:sp>
          <p:nvSpPr>
            <p:cNvPr id="21" name="step-num-bg-0">
              <a:extLst>
                <a:ext uri="{FF2B5EF4-FFF2-40B4-BE49-F238E27FC236}">
                  <a16:creationId xmlns:a16="http://schemas.microsoft.com/office/drawing/2014/main" id="{FEFD764D-8EAA-06D8-9896-15DF041F70DB}"/>
                </a:ext>
              </a:extLst>
            </p:cNvPr>
            <p:cNvSpPr>
              <a:spLocks/>
            </p:cNvSpPr>
            <p:nvPr/>
          </p:nvSpPr>
          <p:spPr>
            <a:xfrm>
              <a:off x="685800" y="3476625"/>
              <a:ext cx="400050" cy="400050"/>
            </a:xfrm>
            <a:prstGeom prst="ellipse">
              <a:avLst/>
            </a:prstGeom>
            <a:solidFill>
              <a:srgbClr val="4E5F72"/>
            </a:solidFill>
            <a:ln w="9525">
              <a:solidFill>
                <a:srgbClr val="4E5F72"/>
              </a:solidFill>
              <a:prstDash val="solid"/>
            </a:ln>
          </p:spPr>
          <p:txBody>
            <a:bodyPr anchor="ctr"/>
            <a:lstStyle/>
            <a:p>
              <a:pPr algn="ctr">
                <a:buNone/>
              </a:pPr>
              <a:r>
                <a:rPr lang="en-US" dirty="0">
                  <a:solidFill>
                    <a:schemeClr val="bg1"/>
                  </a:solidFill>
                </a:rPr>
                <a:t>1</a:t>
              </a:r>
              <a:endParaRPr dirty="0">
                <a:solidFill>
                  <a:schemeClr val="bg1"/>
                </a:solidFill>
              </a:endParaRPr>
            </a:p>
          </p:txBody>
        </p:sp>
      </p:grpSp>
      <p:grpSp>
        <p:nvGrpSpPr>
          <p:cNvPr id="8" name="Group 7">
            <a:extLst>
              <a:ext uri="{FF2B5EF4-FFF2-40B4-BE49-F238E27FC236}">
                <a16:creationId xmlns:a16="http://schemas.microsoft.com/office/drawing/2014/main" id="{446384BA-1612-6136-6B6F-81AB6F39679E}"/>
              </a:ext>
            </a:extLst>
          </p:cNvPr>
          <p:cNvGrpSpPr/>
          <p:nvPr/>
        </p:nvGrpSpPr>
        <p:grpSpPr>
          <a:xfrm>
            <a:off x="685800" y="4295774"/>
            <a:ext cx="8534400" cy="1314451"/>
            <a:chOff x="685800" y="4295774"/>
            <a:chExt cx="8534400" cy="1314451"/>
          </a:xfrm>
        </p:grpSpPr>
        <p:sp>
          <p:nvSpPr>
            <p:cNvPr id="15" name="step-2">
              <a:extLst>
                <a:ext uri="{FF2B5EF4-FFF2-40B4-BE49-F238E27FC236}">
                  <a16:creationId xmlns:a16="http://schemas.microsoft.com/office/drawing/2014/main" id="{C067F89D-35B3-432E-BB59-D27AC06DF423}"/>
                </a:ext>
              </a:extLst>
            </p:cNvPr>
            <p:cNvSpPr>
              <a:spLocks/>
            </p:cNvSpPr>
            <p:nvPr/>
          </p:nvSpPr>
          <p:spPr>
            <a:xfrm>
              <a:off x="1314450" y="4295774"/>
              <a:ext cx="7905750" cy="1314451"/>
            </a:xfrm>
            <a:prstGeom prst="rect">
              <a:avLst/>
            </a:prstGeom>
            <a:noFill/>
            <a:ln w="0">
              <a:noFill/>
              <a:prstDash val="solid"/>
            </a:ln>
          </p:spPr>
          <p:txBody>
            <a:bodyPr/>
            <a:lstStyle/>
            <a:p>
              <a:pPr>
                <a:buNone/>
                <a:defRPr sz="1275" b="0">
                  <a:solidFill>
                    <a:srgbClr val="203044"/>
                  </a:solidFill>
                  <a:latin typeface="Aptos"/>
                  <a:ea typeface="Aptos"/>
                  <a:cs typeface="Aptos"/>
                </a:defRPr>
              </a:pPr>
              <a:r>
                <a:rPr sz="2000" dirty="0">
                  <a:solidFill>
                    <a:srgbClr val="203044"/>
                  </a:solidFill>
                  <a:latin typeface="Aptos"/>
                  <a:ea typeface="Aptos"/>
                  <a:cs typeface="Aptos"/>
                </a:rPr>
                <a:t>As a group, </a:t>
              </a:r>
              <a:r>
                <a:rPr lang="en-US" sz="2000" dirty="0">
                  <a:solidFill>
                    <a:srgbClr val="203044"/>
                  </a:solidFill>
                  <a:latin typeface="Aptos"/>
                  <a:ea typeface="Aptos"/>
                  <a:cs typeface="Aptos"/>
                </a:rPr>
                <a:t>be ready to share</a:t>
              </a:r>
              <a:r>
                <a:rPr sz="2000" dirty="0">
                  <a:solidFill>
                    <a:srgbClr val="203044"/>
                  </a:solidFill>
                  <a:latin typeface="Aptos"/>
                  <a:ea typeface="Aptos"/>
                  <a:cs typeface="Aptos"/>
                </a:rPr>
                <a:t>:</a:t>
              </a:r>
            </a:p>
            <a:p>
              <a:pPr marL="342900" indent="-342900">
                <a:buFont typeface="Arial" panose="020B0604020202020204" pitchFamily="34" charset="0"/>
                <a:buChar char="•"/>
                <a:defRPr sz="1275" b="0">
                  <a:solidFill>
                    <a:srgbClr val="203044"/>
                  </a:solidFill>
                  <a:latin typeface="Aptos"/>
                  <a:ea typeface="Aptos"/>
                  <a:cs typeface="Aptos"/>
                </a:defRPr>
              </a:pPr>
              <a:r>
                <a:rPr sz="2000" b="0" dirty="0">
                  <a:solidFill>
                    <a:srgbClr val="203044"/>
                  </a:solidFill>
                  <a:latin typeface="Aptos"/>
                  <a:ea typeface="Aptos"/>
                  <a:cs typeface="Aptos"/>
                </a:rPr>
                <a:t>Why it interests your group, and</a:t>
              </a:r>
            </a:p>
            <a:p>
              <a:pPr marL="342900" indent="-342900">
                <a:buFont typeface="Arial" panose="020B0604020202020204" pitchFamily="34" charset="0"/>
                <a:buChar char="•"/>
                <a:defRPr sz="1275" b="0">
                  <a:solidFill>
                    <a:srgbClr val="203044"/>
                  </a:solidFill>
                  <a:latin typeface="Aptos"/>
                  <a:ea typeface="Aptos"/>
                  <a:cs typeface="Aptos"/>
                </a:defRPr>
              </a:pPr>
              <a:r>
                <a:rPr sz="2000" b="0" dirty="0">
                  <a:solidFill>
                    <a:srgbClr val="203044"/>
                  </a:solidFill>
                  <a:latin typeface="Aptos"/>
                  <a:ea typeface="Aptos"/>
                  <a:cs typeface="Aptos"/>
                </a:rPr>
                <a:t>What kinds of data or health questions it might involve</a:t>
              </a:r>
            </a:p>
          </p:txBody>
        </p:sp>
        <p:sp>
          <p:nvSpPr>
            <p:cNvPr id="22" name="step-num-bg-0">
              <a:extLst>
                <a:ext uri="{FF2B5EF4-FFF2-40B4-BE49-F238E27FC236}">
                  <a16:creationId xmlns:a16="http://schemas.microsoft.com/office/drawing/2014/main" id="{5F382388-857E-1E02-7556-603F2CBE781F}"/>
                </a:ext>
              </a:extLst>
            </p:cNvPr>
            <p:cNvSpPr>
              <a:spLocks/>
            </p:cNvSpPr>
            <p:nvPr/>
          </p:nvSpPr>
          <p:spPr>
            <a:xfrm>
              <a:off x="685800" y="4610101"/>
              <a:ext cx="400050" cy="400050"/>
            </a:xfrm>
            <a:prstGeom prst="ellipse">
              <a:avLst/>
            </a:prstGeom>
            <a:solidFill>
              <a:srgbClr val="4E5F72"/>
            </a:solidFill>
            <a:ln w="9525">
              <a:solidFill>
                <a:srgbClr val="4E5F72"/>
              </a:solidFill>
              <a:prstDash val="solid"/>
            </a:ln>
          </p:spPr>
          <p:txBody>
            <a:bodyPr anchor="ctr"/>
            <a:lstStyle/>
            <a:p>
              <a:pPr algn="ctr">
                <a:buNone/>
              </a:pPr>
              <a:r>
                <a:rPr lang="en-US" dirty="0">
                  <a:solidFill>
                    <a:schemeClr val="bg1"/>
                  </a:solidFill>
                </a:rPr>
                <a:t>2</a:t>
              </a:r>
              <a:endParaRPr dirty="0">
                <a:solidFill>
                  <a:schemeClr val="bg1"/>
                </a:solidFill>
              </a:endParaRPr>
            </a:p>
          </p:txBody>
        </p:sp>
      </p:grpSp>
    </p:spTree>
    <p:extLst>
      <p:ext uri="{BB962C8B-B14F-4D97-AF65-F5344CB8AC3E}">
        <p14:creationId xmlns:p14="http://schemas.microsoft.com/office/powerpoint/2010/main" val="394348504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 dockstate="right" visibility="0" width="35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8D67C760-CFEA-8A43-849B-9AAE03CB3231}">
  <we:reference id="wa200010001" version="1.0.0.1" store="en-US" storeType="OMEX"/>
  <we:alternateReferences>
    <we:reference id="WA200010001" version="1.0.0.1" store="" storeType="OMEX"/>
  </we:alternateReferences>
  <we:properties>
    <we:property name="claude.fileId" value="&quot;4da42a2b-116e-4d33-a4da-5ef9f71e4e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773B7F1-0807-954A-8884-E28F6EAA0C77}">
  <we:reference id="wa200005566" version="3.0.1.2" store="en-US" storeType="OMEX"/>
  <we:alternateReferences>
    <we:reference id="wa200005566" version="3.0.1.2" store="wa200005566"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68BF7451-5EDA-524A-8129-91EA8DC89298}">
  <we:reference id="wa200010215" version="2.0.0.0" store="en-US" storeType="OMEX"/>
  <we:alternateReferences>
    <we:reference id="WA200010215" version="2.0.0.0" store="WA200010215" storeType="OMEX"/>
  </we:alternateReferences>
  <we:properties>
    <we:property name="bps.codex_control.document_id" value="&quot;94c864cd-a821-4637-a3fd-dc250e98d9f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1112</TotalTime>
  <Words>1055</Words>
  <Application>Microsoft Macintosh PowerPoint</Application>
  <DocSecurity>0</DocSecurity>
  <PresentationFormat>Widescreen</PresentationFormat>
  <Paragraphs>172</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Eurostile</vt:lpstr>
      <vt:lpstr>Georgia</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Brad Cannell</cp:lastModifiedBy>
  <cp:revision>12</cp:revision>
  <dcterms:created xsi:type="dcterms:W3CDTF">2026-08-18T16:00:46Z</dcterms:created>
  <dcterms:modified xsi:type="dcterms:W3CDTF">2026-08-22T17:35:00Z</dcterms:modified>
</cp:coreProperties>
</file>