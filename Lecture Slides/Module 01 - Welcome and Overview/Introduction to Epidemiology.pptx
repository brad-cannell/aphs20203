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3E2069BD.xml" ContentType="application/vnd.ms-powerpoint.comments+xml"/>
  <Override PartName="/ppt/notesSlides/notesSlide2.xml" ContentType="application/vnd.openxmlformats-officedocument.presentationml.notesSlide+xml"/>
  <Override PartName="/ppt/comments/modernComment_101_7F125258.xml" ContentType="application/vnd.ms-powerpoint.comments+xml"/>
  <Override PartName="/ppt/notesSlides/notesSlide3.xml" ContentType="application/vnd.openxmlformats-officedocument.presentationml.notesSlide+xml"/>
  <Override PartName="/ppt/comments/modernComment_102_5EB911.xml" ContentType="application/vnd.ms-powerpoint.comments+xml"/>
  <Override PartName="/ppt/notesSlides/notesSlide4.xml" ContentType="application/vnd.openxmlformats-officedocument.presentationml.notesSlide+xml"/>
  <Override PartName="/ppt/comments/modernComment_103_5EB911.xml" ContentType="application/vnd.ms-powerpoint.comments+xml"/>
  <Override PartName="/ppt/notesSlides/notesSlide5.xml" ContentType="application/vnd.openxmlformats-officedocument.presentationml.notesSlide+xml"/>
  <Override PartName="/ppt/comments/modernComment_104_27FB59DD.xml" ContentType="application/vnd.ms-powerpoint.comments+xml"/>
  <Override PartName="/ppt/notesSlides/notesSlide6.xml" ContentType="application/vnd.openxmlformats-officedocument.presentationml.notesSlide+xml"/>
  <Override PartName="/ppt/comments/modernComment_105_27FB59DD.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0B_67903BE9.xml" ContentType="application/vnd.ms-powerpoint.comments+xml"/>
  <Override PartName="/ppt/notesSlides/notesSlide13.xml" ContentType="application/vnd.openxmlformats-officedocument.presentationml.notesSlide+xml"/>
  <Override PartName="/ppt/comments/modernComment_10C_67903BE9.xml" ContentType="application/vnd.ms-powerpoint.comments+xml"/>
  <Override PartName="/ppt/notesSlides/notesSlide14.xml" ContentType="application/vnd.openxmlformats-officedocument.presentationml.notesSlide+xml"/>
  <Override PartName="/ppt/comments/modernComment_10D_7F7524A2.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0F_27FB59DD.xml" ContentType="application/vnd.ms-powerpoint.comments+xml"/>
  <Override PartName="/ppt/notesSlides/notesSlide17.xml" ContentType="application/vnd.openxmlformats-officedocument.presentationml.notesSlide+xml"/>
  <Override PartName="/ppt/comments/modernComment_110_27FB59DD.xml" ContentType="application/vnd.ms-powerpoint.comments+xml"/>
  <Override PartName="/ppt/notesSlides/notesSlide18.xml" ContentType="application/vnd.openxmlformats-officedocument.presentationml.notesSlide+xml"/>
  <Override PartName="/ppt/comments/modernComment_111_27FB59DD.xml" ContentType="application/vnd.ms-powerpoint.comments+xml"/>
  <Override PartName="/ppt/notesSlides/notesSlide19.xml" ContentType="application/vnd.openxmlformats-officedocument.presentationml.notesSlide+xml"/>
  <Override PartName="/ppt/comments/modernComment_112_7F7524A2.xml" ContentType="application/vnd.ms-powerpoint.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115_27FB59DD.xml" ContentType="application/vnd.ms-powerpoint.comments+xml"/>
  <Override PartName="/ppt/notesSlides/notesSlide23.xml" ContentType="application/vnd.openxmlformats-officedocument.presentationml.notesSlide+xml"/>
  <Override PartName="/ppt/comments/modernComment_116_5EB911.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modernComment_118_4908FFDD.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481305-2E86-C1F5-196F-FC22AD6E8B4E}" name="Brad Cannell" initials="BC" userId="S::brad.cannell@epiworkbench.onmicrosoft.com::2c64010c-28b6-4193-8c3d-a42da6da8a3e" providerId="AD"/>
  <p188:author id="{62F690B0-08F1-0490-B6AF-99D30F05E286}" name="Cannell, Brad" initials="CB" userId="S::BRAD.CANNELL@tcu.edu::c92bab75-946b-4faa-b131-67ea77c68b75"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24"/>
    <p:restoredTop sz="78275"/>
  </p:normalViewPr>
  <p:slideViewPr>
    <p:cSldViewPr snapToGrid="0">
      <p:cViewPr varScale="1">
        <p:scale>
          <a:sx n="124" d="100"/>
          <a:sy n="124" d="100"/>
        </p:scale>
        <p:origin x="200"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8/10/relationships/authors" Target="authors.xml"/><Relationship Id="rId8" Type="http://schemas.openxmlformats.org/officeDocument/2006/relationships/slide" Target="slides/slide7.xml"/></Relationships>
</file>

<file path=ppt/comments/modernComment_10B_67903BE9.xml><?xml version="1.0" encoding="utf-8"?>
<p188:cmLst xmlns:a="http://schemas.openxmlformats.org/drawingml/2006/main" xmlns:r="http://schemas.openxmlformats.org/officeDocument/2006/relationships" xmlns:p188="http://schemas.microsoft.com/office/powerpoint/2018/8/main">
  <p188:cm id="{B141A428-82A1-704F-B1FC-8FA07C52BE5E}" authorId="{0D481305-2E86-C1F5-196F-FC22AD6E8B4E}" created="2026-08-22T18:12:47.832">
    <pc:sldMkLst xmlns:pc="http://schemas.microsoft.com/office/powerpoint/2013/main/command">
      <pc:docMk/>
      <pc:sldMk cId="1737505769" sldId="267"/>
    </pc:sldMkLst>
    <p188:txBody>
      <a:bodyPr/>
      <a:lstStyle/>
      <a:p>
        <a:r>
          <a:rPr lang="en-US"/>
          <a:t>Discussion: No need to memorize these. But, let's talk about why they are important.</a:t>
        </a:r>
      </a:p>
    </p188:txBody>
  </p188:cm>
</p188:cmLst>
</file>

<file path=ppt/comments/modernComment_10C_67903BE9.xml><?xml version="1.0" encoding="utf-8"?>
<p188:cmLst xmlns:a="http://schemas.openxmlformats.org/drawingml/2006/main" xmlns:r="http://schemas.openxmlformats.org/officeDocument/2006/relationships" xmlns:p188="http://schemas.microsoft.com/office/powerpoint/2018/8/main">
  <p188:cm id="{5121E0CC-BE2D-BB4A-885D-2B2CE7EC9A58}" authorId="{0D481305-2E86-C1F5-196F-FC22AD6E8B4E}" created="2026-08-22T18:13:13.023">
    <pc:sldMkLst xmlns:pc="http://schemas.microsoft.com/office/powerpoint/2013/main/command">
      <pc:docMk/>
      <pc:sldMk cId="1737505769" sldId="268"/>
    </pc:sldMkLst>
    <p188:txBody>
      <a:bodyPr/>
      <a:lstStyle/>
      <a:p>
        <a:r>
          <a:rPr lang="en-US"/>
          <a:t>We can probably drop this slide.</a:t>
        </a:r>
      </a:p>
    </p188:txBody>
  </p188:cm>
</p188:cmLst>
</file>

<file path=ppt/comments/modernComment_10D_7F7524A2.xml><?xml version="1.0" encoding="utf-8"?>
<p188:cmLst xmlns:a="http://schemas.openxmlformats.org/drawingml/2006/main" xmlns:r="http://schemas.openxmlformats.org/officeDocument/2006/relationships" xmlns:p188="http://schemas.microsoft.com/office/powerpoint/2018/8/main">
  <p188:cm id="{3C7710A7-F9EC-2449-8C8D-F9B7263E9D6D}" authorId="{0D481305-2E86-C1F5-196F-FC22AD6E8B4E}" created="2026-08-22T18:13:42.139">
    <pc:sldMkLst xmlns:pc="http://schemas.microsoft.com/office/powerpoint/2013/main/command">
      <pc:docMk/>
      <pc:sldMk cId="2138383522" sldId="269"/>
    </pc:sldMkLst>
    <p188:txBody>
      <a:bodyPr/>
      <a:lstStyle/>
      <a:p>
        <a:r>
          <a:rPr lang="en-US"/>
          <a:t>Drop?</a:t>
        </a:r>
      </a:p>
    </p188:txBody>
  </p188:cm>
</p188:cmLst>
</file>

<file path=ppt/comments/modernComment_10F_27FB59DD.xml><?xml version="1.0" encoding="utf-8"?>
<p188:cmLst xmlns:a="http://schemas.openxmlformats.org/drawingml/2006/main" xmlns:r="http://schemas.openxmlformats.org/officeDocument/2006/relationships" xmlns:p188="http://schemas.microsoft.com/office/powerpoint/2018/8/main">
  <p188:cm id="{4601267F-54BF-A64E-8DE3-5CBBD8B25A31}" authorId="{0D481305-2E86-C1F5-196F-FC22AD6E8B4E}" created="2026-08-22T18:14:17.578">
    <pc:sldMkLst xmlns:pc="http://schemas.microsoft.com/office/powerpoint/2013/main/command">
      <pc:docMk/>
      <pc:sldMk cId="670783965" sldId="271"/>
    </pc:sldMkLst>
    <p188:txBody>
      <a:bodyPr/>
      <a:lstStyle/>
      <a:p>
        <a:r>
          <a:rPr lang="en-US"/>
          <a:t>Use my own graphics?</a:t>
        </a:r>
      </a:p>
    </p188:txBody>
  </p188:cm>
</p188:cmLst>
</file>

<file path=ppt/comments/modernComment_100_3E2069BD.xml><?xml version="1.0" encoding="utf-8"?>
<p188:cmLst xmlns:a="http://schemas.openxmlformats.org/drawingml/2006/main" xmlns:r="http://schemas.openxmlformats.org/officeDocument/2006/relationships" xmlns:p188="http://schemas.microsoft.com/office/powerpoint/2018/8/main">
  <p188:cm id="{A17C3DC4-FBA9-1F47-B448-C9315C6B6EB1}" authorId="{0D481305-2E86-C1F5-196F-FC22AD6E8B4E}" created="2026-08-22T18:20:10.379">
    <pc:sldMkLst xmlns:pc="http://schemas.microsoft.com/office/powerpoint/2013/main/command">
      <pc:docMk/>
      <pc:sldMk cId="1042311613" sldId="256"/>
    </pc:sldMkLst>
    <p188:txBody>
      <a:bodyPr/>
      <a:lstStyle/>
      <a:p>
        <a:r>
          <a:rPr lang="en-US"/>
          <a:t>I want to avoid creating PowerPoint slides that restate the textbook's content. Instead, add additional depth, a real-world example, an exercise, and a Poll Everywhere question that will generate discussion.</a:t>
        </a:r>
      </a:p>
    </p188:txBody>
  </p188:cm>
</p188:cmLst>
</file>

<file path=ppt/comments/modernComment_101_7F125258.xml><?xml version="1.0" encoding="utf-8"?>
<p188:cmLst xmlns:a="http://schemas.openxmlformats.org/drawingml/2006/main" xmlns:r="http://schemas.openxmlformats.org/officeDocument/2006/relationships" xmlns:p188="http://schemas.microsoft.com/office/powerpoint/2018/8/main">
  <p188:cm id="{9A2725FB-6D61-6942-9DC5-3D2F0A91F031}" authorId="{0D481305-2E86-C1F5-196F-FC22AD6E8B4E}" created="2026-08-22T18:08:52.810">
    <pc:sldMkLst xmlns:pc="http://schemas.microsoft.com/office/powerpoint/2013/main/command">
      <pc:docMk/>
      <pc:sldMk cId="2131907160" sldId="257"/>
    </pc:sldMkLst>
    <p188:txBody>
      <a:bodyPr/>
      <a:lstStyle/>
      <a:p>
        <a:r>
          <a:rPr lang="en-US"/>
          <a:t>By the end of the semester, I want learners to:
- Define epidemiology and key associated terminology.
- Understand the difference between association, prediction, and causation.
- Understand RMSCC and multi-causality.
- Understand why anecdotes are weak evidence.
- Understand that education is sometimes necessary and rarely sufficient.</a:t>
        </a:r>
      </a:p>
    </p188:txBody>
  </p188:cm>
</p188:cmLst>
</file>

<file path=ppt/comments/modernComment_102_5EB911.xml><?xml version="1.0" encoding="utf-8"?>
<p188:cmLst xmlns:a="http://schemas.openxmlformats.org/drawingml/2006/main" xmlns:r="http://schemas.openxmlformats.org/officeDocument/2006/relationships" xmlns:p188="http://schemas.microsoft.com/office/powerpoint/2018/8/main">
  <p188:cm id="{BE4FF273-FDE1-ED42-B173-E9A9F2BFE6CE}" authorId="{62F690B0-08F1-0490-B6AF-99D30F05E286}" created="2026-08-22T02:55:36.622">
    <pc:sldMkLst xmlns:pc="http://schemas.microsoft.com/office/powerpoint/2013/main/command">
      <pc:docMk/>
      <pc:sldMk cId="6207761" sldId="258"/>
    </pc:sldMkLst>
    <p188:txBody>
      <a:bodyPr/>
      <a:lstStyle/>
      <a:p>
        <a:r>
          <a:rPr lang="en-US"/>
          <a:t>Replace with Poll Anywhere</a:t>
        </a:r>
      </a:p>
    </p188:txBody>
  </p188:cm>
</p188:cmLst>
</file>

<file path=ppt/comments/modernComment_103_5EB911.xml><?xml version="1.0" encoding="utf-8"?>
<p188:cmLst xmlns:a="http://schemas.openxmlformats.org/drawingml/2006/main" xmlns:r="http://schemas.openxmlformats.org/officeDocument/2006/relationships" xmlns:p188="http://schemas.microsoft.com/office/powerpoint/2018/8/main">
  <p188:cm id="{9FCB9BCA-2C94-3C4A-9598-ECB64098C463}" authorId="{62F690B0-08F1-0490-B6AF-99D30F05E286}" created="2026-08-22T02:55:49.498">
    <pc:sldMkLst xmlns:pc="http://schemas.microsoft.com/office/powerpoint/2013/main/command">
      <pc:docMk/>
      <pc:sldMk cId="6207761" sldId="259"/>
    </pc:sldMkLst>
    <p188:replyLst>
      <p188:reply id="{7AE13788-0AE8-6445-A7BE-0636959946E2}" authorId="{0D481305-2E86-C1F5-196F-FC22AD6E8B4E}" created="2026-08-22T18:10:51.123">
        <p188:txBody>
          <a:bodyPr/>
          <a:lstStyle/>
          <a:p>
            <a:r>
              <a:rPr lang="en-US"/>
              <a:t>Drop this question.</a:t>
            </a:r>
          </a:p>
        </p188:txBody>
      </p188:reply>
    </p188:replyLst>
    <p188:txBody>
      <a:bodyPr/>
      <a:lstStyle/>
      <a:p>
        <a:r>
          <a:rPr lang="en-US"/>
          <a:t>Replace with Poll Anywhere</a:t>
        </a:r>
      </a:p>
    </p188:txBody>
  </p188:cm>
</p188:cmLst>
</file>

<file path=ppt/comments/modernComment_104_27FB59DD.xml><?xml version="1.0" encoding="utf-8"?>
<p188:cmLst xmlns:a="http://schemas.openxmlformats.org/drawingml/2006/main" xmlns:r="http://schemas.openxmlformats.org/officeDocument/2006/relationships" xmlns:p188="http://schemas.microsoft.com/office/powerpoint/2018/8/main">
  <p188:cm id="{242FAD0B-544D-D54A-84CC-9555B51ECC22}" authorId="{62F690B0-08F1-0490-B6AF-99D30F05E286}" created="2026-08-22T02:56:18.655">
    <pc:sldMkLst xmlns:pc="http://schemas.microsoft.com/office/powerpoint/2013/main/command">
      <pc:docMk/>
      <pc:sldMk cId="670783965" sldId="260"/>
    </pc:sldMkLst>
    <p188:txBody>
      <a:bodyPr/>
      <a:lstStyle/>
      <a:p>
        <a:r>
          <a:rPr lang="en-US"/>
          <a:t>I'm not sure what this slide does.</a:t>
        </a:r>
      </a:p>
    </p188:txBody>
  </p188:cm>
</p188:cmLst>
</file>

<file path=ppt/comments/modernComment_105_27FB59DD.xml><?xml version="1.0" encoding="utf-8"?>
<p188:cmLst xmlns:a="http://schemas.openxmlformats.org/drawingml/2006/main" xmlns:r="http://schemas.openxmlformats.org/officeDocument/2006/relationships" xmlns:p188="http://schemas.microsoft.com/office/powerpoint/2018/8/main">
  <p188:cm id="{5C48722E-F584-C448-BA54-5B3D0C8BC4A2}" authorId="{0D481305-2E86-C1F5-196F-FC22AD6E8B4E}" created="2026-08-22T18:11:19.271">
    <pc:sldMkLst xmlns:pc="http://schemas.microsoft.com/office/powerpoint/2013/main/command">
      <pc:docMk/>
      <pc:sldMk cId="670783965" sldId="261"/>
    </pc:sldMkLst>
    <p188:txBody>
      <a:bodyPr/>
      <a:lstStyle/>
      <a:p>
        <a:r>
          <a:rPr lang="en-US"/>
          <a:t>Update the graphic</a:t>
        </a:r>
      </a:p>
    </p188:txBody>
  </p188:cm>
</p188:cmLst>
</file>

<file path=ppt/comments/modernComment_110_27FB59DD.xml><?xml version="1.0" encoding="utf-8"?>
<p188:cmLst xmlns:a="http://schemas.openxmlformats.org/drawingml/2006/main" xmlns:r="http://schemas.openxmlformats.org/officeDocument/2006/relationships" xmlns:p188="http://schemas.microsoft.com/office/powerpoint/2018/8/main">
  <p188:cm id="{8CBACEC8-167F-BD44-9935-B3A846E0450B}" authorId="{0D481305-2E86-C1F5-196F-FC22AD6E8B4E}" created="2026-08-22T18:14:35.663">
    <pc:sldMkLst xmlns:pc="http://schemas.microsoft.com/office/powerpoint/2013/main/command">
      <pc:docMk/>
      <pc:sldMk cId="670783965" sldId="272"/>
    </pc:sldMkLst>
    <p188:txBody>
      <a:bodyPr/>
      <a:lstStyle/>
      <a:p>
        <a:r>
          <a:rPr lang="en-US"/>
          <a:t>Use my own graphics, or maybe an interactive map online.</a:t>
        </a:r>
      </a:p>
    </p188:txBody>
  </p188:cm>
</p188:cmLst>
</file>

<file path=ppt/comments/modernComment_111_27FB59DD.xml><?xml version="1.0" encoding="utf-8"?>
<p188:cmLst xmlns:a="http://schemas.openxmlformats.org/drawingml/2006/main" xmlns:r="http://schemas.openxmlformats.org/officeDocument/2006/relationships" xmlns:p188="http://schemas.microsoft.com/office/powerpoint/2018/8/main">
  <p188:cm id="{B87A320C-DC40-B245-9886-F6122BC872E0}" authorId="{0D481305-2E86-C1F5-196F-FC22AD6E8B4E}" created="2026-08-22T18:14:48.834">
    <pc:sldMkLst xmlns:pc="http://schemas.microsoft.com/office/powerpoint/2013/main/command">
      <pc:docMk/>
      <pc:sldMk cId="670783965" sldId="273"/>
    </pc:sldMkLst>
    <p188:txBody>
      <a:bodyPr/>
      <a:lstStyle/>
      <a:p>
        <a:r>
          <a:rPr lang="en-US"/>
          <a:t>Use my own graphic?</a:t>
        </a:r>
      </a:p>
    </p188:txBody>
  </p188:cm>
</p188:cmLst>
</file>

<file path=ppt/comments/modernComment_112_7F7524A2.xml><?xml version="1.0" encoding="utf-8"?>
<p188:cmLst xmlns:a="http://schemas.openxmlformats.org/drawingml/2006/main" xmlns:r="http://schemas.openxmlformats.org/officeDocument/2006/relationships" xmlns:p188="http://schemas.microsoft.com/office/powerpoint/2018/8/main">
  <p188:cm id="{5BC3F22C-E0C3-9949-8BCC-96560E9EB71B}" authorId="{0D481305-2E86-C1F5-196F-FC22AD6E8B4E}" created="2026-08-22T18:15:24.009">
    <pc:sldMkLst xmlns:pc="http://schemas.microsoft.com/office/powerpoint/2013/main/command">
      <pc:docMk/>
      <pc:sldMk cId="2138383522" sldId="274"/>
    </pc:sldMkLst>
    <p188:txBody>
      <a:bodyPr/>
      <a:lstStyle/>
      <a:p>
        <a:r>
          <a:rPr lang="en-US"/>
          <a:t>Create a Poll Everywhere question</a:t>
        </a:r>
      </a:p>
    </p188:txBody>
  </p188:cm>
</p188:cmLst>
</file>

<file path=ppt/comments/modernComment_115_27FB59DD.xml><?xml version="1.0" encoding="utf-8"?>
<p188:cmLst xmlns:a="http://schemas.openxmlformats.org/drawingml/2006/main" xmlns:r="http://schemas.openxmlformats.org/officeDocument/2006/relationships" xmlns:p188="http://schemas.microsoft.com/office/powerpoint/2018/8/main">
  <p188:cm id="{274AAEAF-EEAC-8C4D-AF1C-526420D750FA}" authorId="{0D481305-2E86-C1F5-196F-FC22AD6E8B4E}" created="2026-08-22T18:16:36.182">
    <pc:sldMkLst xmlns:pc="http://schemas.microsoft.com/office/powerpoint/2013/main/command">
      <pc:docMk/>
      <pc:sldMk cId="670783965" sldId="277"/>
    </pc:sldMkLst>
    <p188:txBody>
      <a:bodyPr/>
      <a:lstStyle/>
      <a:p>
        <a:r>
          <a:rPr lang="en-US"/>
          <a:t>I'm not sure what the value of this slide is.</a:t>
        </a:r>
      </a:p>
    </p188:txBody>
  </p188:cm>
</p188:cmLst>
</file>

<file path=ppt/comments/modernComment_116_5EB911.xml><?xml version="1.0" encoding="utf-8"?>
<p188:cmLst xmlns:a="http://schemas.openxmlformats.org/drawingml/2006/main" xmlns:r="http://schemas.openxmlformats.org/officeDocument/2006/relationships" xmlns:p188="http://schemas.microsoft.com/office/powerpoint/2018/8/main">
  <p188:cm id="{84FE91CE-C6C1-7146-B3F4-DADE569A0E48}" authorId="{0D481305-2E86-C1F5-196F-FC22AD6E8B4E}" created="2026-08-22T18:16:46.819">
    <pc:sldMkLst xmlns:pc="http://schemas.microsoft.com/office/powerpoint/2013/main/command">
      <pc:docMk/>
      <pc:sldMk cId="6207761" sldId="278"/>
    </pc:sldMkLst>
    <p188:txBody>
      <a:bodyPr/>
      <a:lstStyle/>
      <a:p>
        <a:r>
          <a:rPr lang="en-US"/>
          <a:t>Poll Everywhere</a:t>
        </a:r>
      </a:p>
    </p188:txBody>
  </p188:cm>
</p188:cmLst>
</file>

<file path=ppt/comments/modernComment_118_4908FFDD.xml><?xml version="1.0" encoding="utf-8"?>
<p188:cmLst xmlns:a="http://schemas.openxmlformats.org/drawingml/2006/main" xmlns:r="http://schemas.openxmlformats.org/officeDocument/2006/relationships" xmlns:p188="http://schemas.microsoft.com/office/powerpoint/2018/8/main">
  <p188:cm id="{99F5F9A1-2F61-C74F-80BE-FE8DBA724F0B}" authorId="{0D481305-2E86-C1F5-196F-FC22AD6E8B4E}" created="2026-08-22T18:17:05.020">
    <pc:sldMkLst xmlns:pc="http://schemas.microsoft.com/office/powerpoint/2013/main/command">
      <pc:docMk/>
      <pc:sldMk cId="1225326557" sldId="280"/>
    </pc:sldMkLst>
    <p188:txBody>
      <a:bodyPr/>
      <a:lstStyle/>
      <a:p>
        <a:r>
          <a:rPr lang="en-US"/>
          <a:t>Poll Everywhere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13.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14.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15.</a:t>
            </a:r>
          </a:p>
          <a:p>
            <a:r>
              <a:t>- Inherited epidemiologic-triad figure and citation as embedded in the source slide.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16.</a:t>
            </a:r>
          </a:p>
          <a:p>
            <a:r>
              <a:t>- Inherited epidemiologic-triangle image as embedded in the source slide.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17.</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18.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19.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20.</a:t>
            </a:r>
          </a:p>
          <a:p>
            <a:r>
              <a:t>- Inherited book-cover image as embedded in the source slide.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21.</a:t>
            </a:r>
          </a:p>
          <a:p>
            <a:r>
              <a:t>- PBS LearningMedia, John Snow: Pioneer of Epidemiology, https://kera.pbslearningmedia.org/resource/envh10.sci.life.nathis.johnsnow/john-snow-pioneer-of-epidemiology/ (inherited link).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22.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23.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24.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25.</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26.</a:t>
            </a:r>
          </a:p>
          <a:p>
            <a:r>
              <a:t>- Inherited breast-cancer charts and visible source note as embedded in the source slide.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27.</a:t>
            </a:r>
          </a:p>
          <a:p>
            <a:r>
              <a:t>- Inherited map and visible source note as embedded in the source slide.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28.</a:t>
            </a:r>
          </a:p>
          <a:p>
            <a:r>
              <a:t>- Inherited time-series chart and visible source note as embedded in the source slide.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29.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30.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31.</a:t>
            </a:r>
          </a:p>
          <a:p>
            <a:r>
              <a:t>- Inherited epidemic illustration and annotations as embedded in the source slide.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32.</a:t>
            </a:r>
          </a:p>
          <a:p>
            <a:r>
              <a:t>- Inherited epidemics and pandemics timeline as embedded in the source slide.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33.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34.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35.</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36.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[Sources]</a:t>
            </a:r>
          </a:p>
          <a:p>
            <a:r>
              <a:rPr dirty="0"/>
              <a:t>- Yan Zhang, APHS 20203 W1-Overview and Epi </a:t>
            </a:r>
            <a:r>
              <a:rPr dirty="0" err="1"/>
              <a:t>Intro.pptx</a:t>
            </a:r>
            <a:r>
              <a:rPr dirty="0"/>
              <a:t>, source slide 37.</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Yan Zhang, APHS 20203 W1-Overview and Epi Intro.pptx, source slide 38.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3E2069BD.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7F125258.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5EB91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5EB91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27FB59DD.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27FB59DD.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kera.pbslearningmedia.org/resource/envh10.sci.life.nathis.johnsnow/john-snow-pioneer-of-epidemiology/"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0B_67903BE9.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C_67903BE9.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0D_7F7524A2.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0F_27FB59DD.xm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microsoft.com/office/2018/10/relationships/comments" Target="../comments/modernComment_110_27FB59DD.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8.xml.rels><?xml version="1.0" encoding="UTF-8" standalone="yes"?>
<Relationships xmlns="http://schemas.openxmlformats.org/package/2006/relationships"><Relationship Id="rId3" Type="http://schemas.microsoft.com/office/2018/10/relationships/comments" Target="../comments/modernComment_111_27FB59DD.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112_7F7524A2.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15_27FB59DD.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microsoft.com/office/2018/10/relationships/comments" Target="../comments/modernComment_116_5EB911.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118_4908FFDD.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E5F72"/>
        </a:solidFill>
        <a:effectLst/>
      </p:bgPr>
    </p:bg>
    <p:spTree>
      <p:nvGrpSpPr>
        <p:cNvPr id="1" name=""/>
        <p:cNvGrpSpPr/>
        <p:nvPr/>
      </p:nvGrpSpPr>
      <p:grpSpPr>
        <a:xfrm>
          <a:off x="0" y="0"/>
          <a:ext cx="0" cy="0"/>
          <a:chOff x="0" y="0"/>
          <a:chExt cx="0" cy="0"/>
        </a:xfrm>
      </p:grpSpPr>
      <p:sp>
        <p:nvSpPr>
          <p:cNvPr id="6" name="title-accent">
            <a:extLst>
              <a:ext uri="{FF2B5EF4-FFF2-40B4-BE49-F238E27FC236}">
                <a16:creationId xmlns:a16="http://schemas.microsoft.com/office/drawing/2014/main" id="{674AF127-BC62-4EFF-8747-DF5B0C6B18F4}"/>
              </a:ext>
            </a:extLst>
          </p:cNvPr>
          <p:cNvSpPr>
            <a:spLocks noGrp="1"/>
          </p:cNvSpPr>
          <p:nvPr/>
        </p:nvSpPr>
        <p:spPr>
          <a:xfrm>
            <a:off x="685800" y="1619250"/>
            <a:ext cx="1143000" cy="76200"/>
          </a:xfrm>
          <a:prstGeom prst="rect">
            <a:avLst/>
          </a:prstGeom>
          <a:solidFill>
            <a:srgbClr val="FFD662"/>
          </a:solidFill>
          <a:ln w="0">
            <a:noFill/>
            <a:prstDash val="solid"/>
          </a:ln>
        </p:spPr>
        <p:txBody>
          <a:bodyPr/>
          <a:lstStyle/>
          <a:p>
            <a:endParaRPr lang="en-US"/>
          </a:p>
        </p:txBody>
      </p:sp>
      <p:sp>
        <p:nvSpPr>
          <p:cNvPr id="3" name="title">
            <a:extLst>
              <a:ext uri="{FF2B5EF4-FFF2-40B4-BE49-F238E27FC236}">
                <a16:creationId xmlns:a16="http://schemas.microsoft.com/office/drawing/2014/main" id="{43A84CA3-0FF4-40E5-B490-B92A8B3D00A2}"/>
              </a:ext>
            </a:extLst>
          </p:cNvPr>
          <p:cNvSpPr>
            <a:spLocks noGrp="1"/>
          </p:cNvSpPr>
          <p:nvPr/>
        </p:nvSpPr>
        <p:spPr>
          <a:xfrm>
            <a:off x="685800" y="2095500"/>
            <a:ext cx="6858000" cy="1619250"/>
          </a:xfrm>
          <a:prstGeom prst="rect">
            <a:avLst/>
          </a:prstGeom>
          <a:noFill/>
          <a:ln w="0">
            <a:noFill/>
            <a:prstDash val="solid"/>
          </a:ln>
        </p:spPr>
        <p:txBody>
          <a:bodyPr/>
          <a:lstStyle/>
          <a:p>
            <a:pPr>
              <a:buNone/>
              <a:defRPr sz="4200" b="1">
                <a:solidFill>
                  <a:srgbClr val="FFFFFF"/>
                </a:solidFill>
                <a:latin typeface="Aptos"/>
                <a:ea typeface="Aptos"/>
                <a:cs typeface="Aptos"/>
              </a:defRPr>
            </a:pPr>
            <a:r>
              <a:rPr sz="4200" b="1">
                <a:solidFill>
                  <a:srgbClr val="FFFFFF"/>
                </a:solidFill>
                <a:latin typeface="Aptos"/>
                <a:ea typeface="Aptos"/>
                <a:cs typeface="Aptos"/>
              </a:rPr>
              <a:t>Introduction to</a:t>
            </a:r>
          </a:p>
          <a:p>
            <a:pPr>
              <a:buNone/>
              <a:defRPr sz="4200" b="1">
                <a:solidFill>
                  <a:srgbClr val="FFFFFF"/>
                </a:solidFill>
                <a:latin typeface="Aptos"/>
                <a:ea typeface="Aptos"/>
                <a:cs typeface="Aptos"/>
              </a:defRPr>
            </a:pPr>
            <a:r>
              <a:rPr sz="4200" b="1">
                <a:solidFill>
                  <a:srgbClr val="FFFFFF"/>
                </a:solidFill>
                <a:latin typeface="Aptos"/>
                <a:ea typeface="Aptos"/>
                <a:cs typeface="Aptos"/>
              </a:rPr>
              <a:t>Epidemiology</a:t>
            </a:r>
          </a:p>
        </p:txBody>
      </p:sp>
      <p:sp>
        <p:nvSpPr>
          <p:cNvPr id="4" name="subtitle">
            <a:extLst>
              <a:ext uri="{FF2B5EF4-FFF2-40B4-BE49-F238E27FC236}">
                <a16:creationId xmlns:a16="http://schemas.microsoft.com/office/drawing/2014/main" id="{73518634-7531-4943-85FA-C06F283228BD}"/>
              </a:ext>
            </a:extLst>
          </p:cNvPr>
          <p:cNvSpPr>
            <a:spLocks noGrp="1"/>
          </p:cNvSpPr>
          <p:nvPr/>
        </p:nvSpPr>
        <p:spPr>
          <a:xfrm>
            <a:off x="685800" y="4000500"/>
            <a:ext cx="6191250" cy="647700"/>
          </a:xfrm>
          <a:prstGeom prst="rect">
            <a:avLst/>
          </a:prstGeom>
          <a:noFill/>
          <a:ln w="0">
            <a:noFill/>
            <a:prstDash val="solid"/>
          </a:ln>
        </p:spPr>
        <p:txBody>
          <a:bodyPr/>
          <a:lstStyle/>
          <a:p>
            <a:pPr>
              <a:buNone/>
              <a:defRPr sz="1800">
                <a:solidFill>
                  <a:srgbClr val="E8EDF3"/>
                </a:solidFill>
                <a:latin typeface="Aptos"/>
                <a:ea typeface="Aptos"/>
                <a:cs typeface="Aptos"/>
              </a:defRPr>
            </a:pPr>
            <a:r>
              <a:rPr sz="1800">
                <a:solidFill>
                  <a:srgbClr val="E8EDF3"/>
                </a:solidFill>
                <a:latin typeface="Aptos"/>
                <a:ea typeface="Aptos"/>
                <a:cs typeface="Aptos"/>
              </a:rPr>
              <a:t>APHS 20203 • Epidemiology &amp; Biostatistics</a:t>
            </a:r>
          </a:p>
        </p:txBody>
      </p:sp>
    </p:spTree>
    <p:extLst>
      <p:ext uri="{BB962C8B-B14F-4D97-AF65-F5344CB8AC3E}">
        <p14:creationId xmlns:p14="http://schemas.microsoft.com/office/powerpoint/2010/main" val="1042311613"/>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mplate-label">
            <a:extLst>
              <a:ext uri="{FF2B5EF4-FFF2-40B4-BE49-F238E27FC236}">
                <a16:creationId xmlns:a16="http://schemas.microsoft.com/office/drawing/2014/main" id="{B0F49812-1D84-4BEA-94D8-7AD16DD94250}"/>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E7873D90-5C99-46CB-BCEA-736AA6BC72E0}"/>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519B1F5D-F247-4BFF-9D35-45243C820C69}"/>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BF353E76-3067-4574-B2CE-2D69330A941E}"/>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LEARNING OBJECTIVES</a:t>
            </a:r>
          </a:p>
        </p:txBody>
      </p:sp>
      <p:sp>
        <p:nvSpPr>
          <p:cNvPr id="5" name="slide-number">
            <a:extLst>
              <a:ext uri="{FF2B5EF4-FFF2-40B4-BE49-F238E27FC236}">
                <a16:creationId xmlns:a16="http://schemas.microsoft.com/office/drawing/2014/main" id="{2512490C-E1E2-45A2-A4FB-8EEFE4F292FD}"/>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12</a:t>
            </a:r>
          </a:p>
        </p:txBody>
      </p:sp>
      <p:sp>
        <p:nvSpPr>
          <p:cNvPr id="6" name="title">
            <a:extLst>
              <a:ext uri="{FF2B5EF4-FFF2-40B4-BE49-F238E27FC236}">
                <a16:creationId xmlns:a16="http://schemas.microsoft.com/office/drawing/2014/main" id="{C665E3B9-48BB-4C32-A804-143F93F582BD}"/>
              </a:ext>
            </a:extLst>
          </p:cNvPr>
          <p:cNvSpPr>
            <a:spLocks noGrp="1"/>
          </p:cNvSpPr>
          <p:nvPr/>
        </p:nvSpPr>
        <p:spPr>
          <a:xfrm>
            <a:off x="685800" y="1162050"/>
            <a:ext cx="9334500" cy="476250"/>
          </a:xfrm>
          <a:prstGeom prst="rect">
            <a:avLst/>
          </a:prstGeom>
          <a:noFill/>
          <a:ln w="0">
            <a:noFill/>
            <a:prstDash val="solid"/>
          </a:ln>
        </p:spPr>
        <p:txBody>
          <a:bodyPr/>
          <a:lstStyle/>
          <a:p>
            <a:pPr>
              <a:buNone/>
              <a:defRPr sz="2625" b="1">
                <a:solidFill>
                  <a:srgbClr val="203044"/>
                </a:solidFill>
                <a:latin typeface="Aptos"/>
                <a:ea typeface="Aptos"/>
                <a:cs typeface="Aptos"/>
              </a:defRPr>
            </a:pPr>
            <a:r>
              <a:rPr sz="2625" b="1">
                <a:solidFill>
                  <a:srgbClr val="203044"/>
                </a:solidFill>
                <a:latin typeface="Aptos"/>
                <a:ea typeface="Aptos"/>
                <a:cs typeface="Aptos"/>
              </a:rPr>
              <a:t>Learning objectives</a:t>
            </a:r>
          </a:p>
        </p:txBody>
      </p:sp>
      <p:sp>
        <p:nvSpPr>
          <p:cNvPr id="7" name="intro">
            <a:extLst>
              <a:ext uri="{FF2B5EF4-FFF2-40B4-BE49-F238E27FC236}">
                <a16:creationId xmlns:a16="http://schemas.microsoft.com/office/drawing/2014/main" id="{E356BA7F-7682-4F9D-92B3-4F1FF06936AE}"/>
              </a:ext>
            </a:extLst>
          </p:cNvPr>
          <p:cNvSpPr>
            <a:spLocks noGrp="1"/>
          </p:cNvSpPr>
          <p:nvPr/>
        </p:nvSpPr>
        <p:spPr>
          <a:xfrm>
            <a:off x="685800" y="1952625"/>
            <a:ext cx="9334500" cy="419100"/>
          </a:xfrm>
          <a:prstGeom prst="rect">
            <a:avLst/>
          </a:prstGeom>
          <a:noFill/>
          <a:ln w="0">
            <a:noFill/>
            <a:prstDash val="solid"/>
          </a:ln>
        </p:spPr>
        <p:txBody>
          <a:bodyPr/>
          <a:lstStyle/>
          <a:p>
            <a:pPr>
              <a:buNone/>
              <a:defRPr sz="1650" b="1">
                <a:solidFill>
                  <a:srgbClr val="26364A"/>
                </a:solidFill>
                <a:latin typeface="Aptos"/>
                <a:ea typeface="Aptos"/>
                <a:cs typeface="Aptos"/>
              </a:defRPr>
            </a:pPr>
            <a:r>
              <a:rPr sz="1650" b="1">
                <a:solidFill>
                  <a:srgbClr val="26364A"/>
                </a:solidFill>
                <a:latin typeface="Aptos"/>
                <a:ea typeface="Aptos"/>
                <a:cs typeface="Aptos"/>
              </a:rPr>
              <a:t>Unpack the definition and assumptions of epidemiology</a:t>
            </a:r>
          </a:p>
        </p:txBody>
      </p:sp>
      <p:sp>
        <p:nvSpPr>
          <p:cNvPr id="8" name="objective-dot-0">
            <a:extLst>
              <a:ext uri="{FF2B5EF4-FFF2-40B4-BE49-F238E27FC236}">
                <a16:creationId xmlns:a16="http://schemas.microsoft.com/office/drawing/2014/main" id="{D05A112C-D50E-4971-9AE1-59B550A62870}"/>
              </a:ext>
            </a:extLst>
          </p:cNvPr>
          <p:cNvSpPr>
            <a:spLocks noGrp="1"/>
          </p:cNvSpPr>
          <p:nvPr/>
        </p:nvSpPr>
        <p:spPr>
          <a:xfrm>
            <a:off x="685800" y="2714625"/>
            <a:ext cx="323850" cy="323850"/>
          </a:xfrm>
          <a:prstGeom prst="ellipse">
            <a:avLst/>
          </a:prstGeom>
          <a:solidFill>
            <a:srgbClr val="FFD662"/>
          </a:solidFill>
          <a:ln w="9525">
            <a:solidFill>
              <a:srgbClr val="FFD662"/>
            </a:solidFill>
            <a:prstDash val="solid"/>
          </a:ln>
        </p:spPr>
        <p:txBody>
          <a:bodyPr lIns="0" tIns="0" rIns="0" bIns="0" anchor="ctr">
            <a:noAutofit/>
          </a:bodyPr>
          <a:lstStyle/>
          <a:p>
            <a:pPr algn="ctr">
              <a:defRPr sz="1200" b="1">
                <a:solidFill>
                  <a:srgbClr val="203044"/>
                </a:solidFill>
                <a:latin typeface="Aptos"/>
                <a:ea typeface="Aptos"/>
                <a:cs typeface="Aptos"/>
              </a:defRPr>
            </a:pPr>
            <a:r>
              <a:rPr sz="1200" b="1" dirty="0">
                <a:solidFill>
                  <a:srgbClr val="203044"/>
                </a:solidFill>
                <a:latin typeface="Aptos"/>
                <a:ea typeface="Aptos"/>
                <a:cs typeface="Aptos"/>
              </a:rPr>
              <a:t>1</a:t>
            </a:r>
          </a:p>
        </p:txBody>
      </p:sp>
      <p:sp>
        <p:nvSpPr>
          <p:cNvPr id="10" name="objective-0">
            <a:extLst>
              <a:ext uri="{FF2B5EF4-FFF2-40B4-BE49-F238E27FC236}">
                <a16:creationId xmlns:a16="http://schemas.microsoft.com/office/drawing/2014/main" id="{F919A703-D612-4AE4-AF57-587222812877}"/>
              </a:ext>
            </a:extLst>
          </p:cNvPr>
          <p:cNvSpPr>
            <a:spLocks noGrp="1"/>
          </p:cNvSpPr>
          <p:nvPr/>
        </p:nvSpPr>
        <p:spPr>
          <a:xfrm>
            <a:off x="1219200" y="2695575"/>
            <a:ext cx="8382000" cy="438150"/>
          </a:xfrm>
          <a:prstGeom prst="rect">
            <a:avLst/>
          </a:prstGeom>
          <a:noFill/>
          <a:ln w="0">
            <a:noFill/>
            <a:prstDash val="solid"/>
          </a:ln>
        </p:spPr>
        <p:txBody>
          <a:bodyPr>
            <a:normAutofit/>
          </a:bodyPr>
          <a:lstStyle/>
          <a:p>
            <a:pPr>
              <a:buNone/>
              <a:defRPr sz="1800" b="1">
                <a:solidFill>
                  <a:srgbClr val="26364A"/>
                </a:solidFill>
                <a:latin typeface="Aptos"/>
                <a:ea typeface="Aptos"/>
                <a:cs typeface="Aptos"/>
              </a:defRPr>
            </a:pPr>
            <a:r>
              <a:rPr sz="1800" b="1" dirty="0">
                <a:solidFill>
                  <a:srgbClr val="26364A"/>
                </a:solidFill>
                <a:latin typeface="Aptos"/>
                <a:ea typeface="Aptos"/>
                <a:cs typeface="Aptos"/>
              </a:rPr>
              <a:t>Identify </a:t>
            </a:r>
            <a:r>
              <a:rPr lang="en-US" sz="1800" b="1" dirty="0">
                <a:solidFill>
                  <a:srgbClr val="26364A"/>
                </a:solidFill>
                <a:latin typeface="Aptos"/>
                <a:ea typeface="Aptos"/>
                <a:cs typeface="Aptos"/>
              </a:rPr>
              <a:t>key events in the history of </a:t>
            </a:r>
            <a:r>
              <a:rPr sz="1800" b="1" dirty="0">
                <a:solidFill>
                  <a:srgbClr val="26364A"/>
                </a:solidFill>
                <a:latin typeface="Aptos"/>
                <a:ea typeface="Aptos"/>
                <a:cs typeface="Aptos"/>
              </a:rPr>
              <a:t>epidemiology</a:t>
            </a:r>
          </a:p>
        </p:txBody>
      </p:sp>
      <p:sp>
        <p:nvSpPr>
          <p:cNvPr id="11" name="objective-dot-1">
            <a:extLst>
              <a:ext uri="{FF2B5EF4-FFF2-40B4-BE49-F238E27FC236}">
                <a16:creationId xmlns:a16="http://schemas.microsoft.com/office/drawing/2014/main" id="{B26EA177-A1D6-47BC-8CA2-DA176C0C5EC9}"/>
              </a:ext>
            </a:extLst>
          </p:cNvPr>
          <p:cNvSpPr>
            <a:spLocks noGrp="1"/>
          </p:cNvSpPr>
          <p:nvPr/>
        </p:nvSpPr>
        <p:spPr>
          <a:xfrm>
            <a:off x="685800" y="3714750"/>
            <a:ext cx="323850" cy="323850"/>
          </a:xfrm>
          <a:prstGeom prst="ellipse">
            <a:avLst/>
          </a:prstGeom>
          <a:solidFill>
            <a:srgbClr val="FFD662"/>
          </a:solidFill>
          <a:ln w="9525">
            <a:solidFill>
              <a:srgbClr val="FFD662"/>
            </a:solidFill>
            <a:prstDash val="solid"/>
          </a:ln>
        </p:spPr>
        <p:txBody>
          <a:bodyPr lIns="0" tIns="0" rIns="0" bIns="0" anchor="ctr">
            <a:noAutofit/>
          </a:bodyPr>
          <a:lstStyle/>
          <a:p>
            <a:pPr algn="ctr">
              <a:defRPr sz="1200" b="1">
                <a:solidFill>
                  <a:srgbClr val="203044"/>
                </a:solidFill>
                <a:latin typeface="Aptos"/>
                <a:ea typeface="Aptos"/>
                <a:cs typeface="Aptos"/>
              </a:defRPr>
            </a:pPr>
            <a:r>
              <a:rPr sz="1200" b="1">
                <a:solidFill>
                  <a:srgbClr val="203044"/>
                </a:solidFill>
                <a:latin typeface="Aptos"/>
                <a:ea typeface="Aptos"/>
                <a:cs typeface="Aptos"/>
              </a:rPr>
              <a:t>2</a:t>
            </a:r>
          </a:p>
        </p:txBody>
      </p:sp>
      <p:sp>
        <p:nvSpPr>
          <p:cNvPr id="13" name="objective-1">
            <a:extLst>
              <a:ext uri="{FF2B5EF4-FFF2-40B4-BE49-F238E27FC236}">
                <a16:creationId xmlns:a16="http://schemas.microsoft.com/office/drawing/2014/main" id="{8A152A0B-1B94-406C-A52D-FD4E628F5C50}"/>
              </a:ext>
            </a:extLst>
          </p:cNvPr>
          <p:cNvSpPr>
            <a:spLocks noGrp="1"/>
          </p:cNvSpPr>
          <p:nvPr/>
        </p:nvSpPr>
        <p:spPr>
          <a:xfrm>
            <a:off x="1219200" y="3695700"/>
            <a:ext cx="8382000" cy="685800"/>
          </a:xfrm>
          <a:prstGeom prst="rect">
            <a:avLst/>
          </a:prstGeom>
          <a:noFill/>
          <a:ln w="0">
            <a:noFill/>
            <a:prstDash val="solid"/>
          </a:ln>
        </p:spPr>
        <p:txBody>
          <a:bodyPr>
            <a:normAutofit/>
          </a:bodyPr>
          <a:lstStyle/>
          <a:p>
            <a:pPr>
              <a:buNone/>
              <a:defRPr sz="1650" b="1">
                <a:solidFill>
                  <a:srgbClr val="26364A"/>
                </a:solidFill>
                <a:latin typeface="Aptos"/>
                <a:ea typeface="Aptos"/>
                <a:cs typeface="Aptos"/>
              </a:defRPr>
            </a:pPr>
            <a:r>
              <a:rPr sz="1650" b="1">
                <a:solidFill>
                  <a:srgbClr val="26364A"/>
                </a:solidFill>
                <a:latin typeface="Aptos"/>
                <a:ea typeface="Aptos"/>
                <a:cs typeface="Aptos"/>
              </a:rPr>
              <a:t>Distinguish between disease distribution patterns: epidemics, endemics, and pandemics</a:t>
            </a:r>
          </a:p>
        </p:txBody>
      </p:sp>
      <p:sp>
        <p:nvSpPr>
          <p:cNvPr id="14" name="objective-dot-2">
            <a:extLst>
              <a:ext uri="{FF2B5EF4-FFF2-40B4-BE49-F238E27FC236}">
                <a16:creationId xmlns:a16="http://schemas.microsoft.com/office/drawing/2014/main" id="{DCD3B054-6ADA-400C-9E4A-2F41829A98F6}"/>
              </a:ext>
            </a:extLst>
          </p:cNvPr>
          <p:cNvSpPr>
            <a:spLocks noGrp="1"/>
          </p:cNvSpPr>
          <p:nvPr/>
        </p:nvSpPr>
        <p:spPr>
          <a:xfrm>
            <a:off x="685800" y="4857750"/>
            <a:ext cx="323850" cy="323850"/>
          </a:xfrm>
          <a:prstGeom prst="ellipse">
            <a:avLst/>
          </a:prstGeom>
          <a:solidFill>
            <a:srgbClr val="FFD662"/>
          </a:solidFill>
          <a:ln w="9525">
            <a:solidFill>
              <a:srgbClr val="FFD662"/>
            </a:solidFill>
            <a:prstDash val="solid"/>
          </a:ln>
        </p:spPr>
        <p:txBody>
          <a:bodyPr lIns="0" tIns="0" rIns="0" bIns="0" anchor="ctr">
            <a:noAutofit/>
          </a:bodyPr>
          <a:lstStyle/>
          <a:p>
            <a:pPr algn="ctr">
              <a:defRPr sz="1200" b="1">
                <a:solidFill>
                  <a:srgbClr val="203044"/>
                </a:solidFill>
                <a:latin typeface="Aptos"/>
                <a:ea typeface="Aptos"/>
                <a:cs typeface="Aptos"/>
              </a:defRPr>
            </a:pPr>
            <a:r>
              <a:rPr sz="1200" b="1">
                <a:solidFill>
                  <a:srgbClr val="203044"/>
                </a:solidFill>
                <a:latin typeface="Aptos"/>
                <a:ea typeface="Aptos"/>
                <a:cs typeface="Aptos"/>
              </a:rPr>
              <a:t>3</a:t>
            </a:r>
          </a:p>
        </p:txBody>
      </p:sp>
      <p:sp>
        <p:nvSpPr>
          <p:cNvPr id="16" name="objective-2">
            <a:extLst>
              <a:ext uri="{FF2B5EF4-FFF2-40B4-BE49-F238E27FC236}">
                <a16:creationId xmlns:a16="http://schemas.microsoft.com/office/drawing/2014/main" id="{6728F28F-950B-4DDC-98B4-25569BF2F58D}"/>
              </a:ext>
            </a:extLst>
          </p:cNvPr>
          <p:cNvSpPr>
            <a:spLocks noGrp="1"/>
          </p:cNvSpPr>
          <p:nvPr/>
        </p:nvSpPr>
        <p:spPr>
          <a:xfrm>
            <a:off x="1219200" y="4838700"/>
            <a:ext cx="8382000" cy="438150"/>
          </a:xfrm>
          <a:prstGeom prst="rect">
            <a:avLst/>
          </a:prstGeom>
          <a:noFill/>
          <a:ln w="0">
            <a:noFill/>
            <a:prstDash val="solid"/>
          </a:ln>
        </p:spPr>
        <p:txBody>
          <a:bodyPr>
            <a:normAutofit/>
          </a:bodyPr>
          <a:lstStyle/>
          <a:p>
            <a:pPr>
              <a:buNone/>
              <a:defRPr sz="1800" b="1">
                <a:solidFill>
                  <a:srgbClr val="26364A"/>
                </a:solidFill>
                <a:latin typeface="Aptos"/>
                <a:ea typeface="Aptos"/>
                <a:cs typeface="Aptos"/>
              </a:defRPr>
            </a:pPr>
            <a:r>
              <a:rPr sz="1800" b="1">
                <a:solidFill>
                  <a:srgbClr val="26364A"/>
                </a:solidFill>
                <a:latin typeface="Aptos"/>
                <a:ea typeface="Aptos"/>
                <a:cs typeface="Aptos"/>
              </a:rPr>
              <a:t>Describe at least three uses of epidemiology</a:t>
            </a:r>
          </a:p>
        </p:txBody>
      </p:sp>
    </p:spTree>
    <p:extLst>
      <p:ext uri="{BB962C8B-B14F-4D97-AF65-F5344CB8AC3E}">
        <p14:creationId xmlns:p14="http://schemas.microsoft.com/office/powerpoint/2010/main" val="213190716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emplate-label">
            <a:extLst>
              <a:ext uri="{FF2B5EF4-FFF2-40B4-BE49-F238E27FC236}">
                <a16:creationId xmlns:a16="http://schemas.microsoft.com/office/drawing/2014/main" id="{D37C8A68-70F1-4D9B-AD11-F6B8F4C5FD4A}"/>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648793-2D85-4051-82E7-CD63A4BD8699}"/>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7C1277DC-1885-4C95-AC0F-176D00A840C2}"/>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CBB093EB-7C58-4256-813B-3BCED3ED263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CHECK FOR UNDERSTANDING</a:t>
            </a:r>
          </a:p>
        </p:txBody>
      </p:sp>
      <p:sp>
        <p:nvSpPr>
          <p:cNvPr id="5" name="slide-number">
            <a:extLst>
              <a:ext uri="{FF2B5EF4-FFF2-40B4-BE49-F238E27FC236}">
                <a16:creationId xmlns:a16="http://schemas.microsoft.com/office/drawing/2014/main" id="{162DE736-C6D4-4D25-8311-EE34F939D48D}"/>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13</a:t>
            </a:r>
          </a:p>
        </p:txBody>
      </p:sp>
      <p:sp>
        <p:nvSpPr>
          <p:cNvPr id="6" name="title">
            <a:extLst>
              <a:ext uri="{FF2B5EF4-FFF2-40B4-BE49-F238E27FC236}">
                <a16:creationId xmlns:a16="http://schemas.microsoft.com/office/drawing/2014/main" id="{C659B037-8B3B-4C95-BB63-4A8E1AA20107}"/>
              </a:ext>
            </a:extLst>
          </p:cNvPr>
          <p:cNvSpPr>
            <a:spLocks noGrp="1"/>
          </p:cNvSpPr>
          <p:nvPr/>
        </p:nvSpPr>
        <p:spPr>
          <a:xfrm>
            <a:off x="685800" y="1162050"/>
            <a:ext cx="8572500" cy="476250"/>
          </a:xfrm>
          <a:prstGeom prst="rect">
            <a:avLst/>
          </a:prstGeom>
          <a:noFill/>
          <a:ln w="0">
            <a:noFill/>
            <a:prstDash val="solid"/>
          </a:ln>
        </p:spPr>
        <p:txBody>
          <a:bodyPr/>
          <a:lstStyle/>
          <a:p>
            <a:pPr>
              <a:buNone/>
              <a:defRPr sz="2700" b="1">
                <a:solidFill>
                  <a:srgbClr val="203044"/>
                </a:solidFill>
                <a:latin typeface="Aptos"/>
                <a:ea typeface="Aptos"/>
                <a:cs typeface="Aptos"/>
              </a:defRPr>
            </a:pPr>
            <a:r>
              <a:rPr sz="2700" b="1">
                <a:solidFill>
                  <a:srgbClr val="203044"/>
                </a:solidFill>
                <a:latin typeface="Aptos"/>
                <a:ea typeface="Aptos"/>
                <a:cs typeface="Aptos"/>
              </a:rPr>
              <a:t>Exercise</a:t>
            </a:r>
          </a:p>
        </p:txBody>
      </p:sp>
      <p:sp>
        <p:nvSpPr>
          <p:cNvPr id="7" name="step-num-bg-0">
            <a:extLst>
              <a:ext uri="{FF2B5EF4-FFF2-40B4-BE49-F238E27FC236}">
                <a16:creationId xmlns:a16="http://schemas.microsoft.com/office/drawing/2014/main" id="{A222FB55-1171-4632-B149-8F3A992E8554}"/>
              </a:ext>
            </a:extLst>
          </p:cNvPr>
          <p:cNvSpPr>
            <a:spLocks noGrp="1"/>
          </p:cNvSpPr>
          <p:nvPr/>
        </p:nvSpPr>
        <p:spPr>
          <a:xfrm>
            <a:off x="685800" y="2028825"/>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9" name="step-0">
            <a:extLst>
              <a:ext uri="{FF2B5EF4-FFF2-40B4-BE49-F238E27FC236}">
                <a16:creationId xmlns:a16="http://schemas.microsoft.com/office/drawing/2014/main" id="{2A9CC6D4-0C75-4B57-803D-C3704901ABA7}"/>
              </a:ext>
            </a:extLst>
          </p:cNvPr>
          <p:cNvSpPr>
            <a:spLocks noGrp="1"/>
          </p:cNvSpPr>
          <p:nvPr/>
        </p:nvSpPr>
        <p:spPr>
          <a:xfrm>
            <a:off x="1314450" y="2000250"/>
            <a:ext cx="9906000" cy="714375"/>
          </a:xfrm>
          <a:prstGeom prst="rect">
            <a:avLst/>
          </a:prstGeom>
          <a:noFill/>
          <a:ln w="0">
            <a:noFill/>
            <a:prstDash val="solid"/>
          </a:ln>
        </p:spPr>
        <p:txBody>
          <a:bodyPr anchor="t">
            <a:normAutofit/>
          </a:bodyPr>
          <a:lstStyle/>
          <a:p>
            <a:pPr>
              <a:lnSpc>
                <a:spcPct val="105000"/>
              </a:lnSpc>
              <a:buNone/>
              <a:defRPr sz="1725" b="0">
                <a:solidFill>
                  <a:srgbClr val="26364A"/>
                </a:solidFill>
                <a:latin typeface="Aptos"/>
                <a:ea typeface="Aptos"/>
                <a:cs typeface="Aptos"/>
              </a:defRPr>
            </a:pPr>
            <a:r>
              <a:rPr sz="1725" b="0">
                <a:solidFill>
                  <a:srgbClr val="26364A"/>
                </a:solidFill>
                <a:latin typeface="Aptos"/>
                <a:ea typeface="Aptos"/>
                <a:cs typeface="Aptos"/>
              </a:rPr>
              <a:t>All of the following illustrate the purpose of epidemiology in public health, except</a:t>
            </a:r>
          </a:p>
        </p:txBody>
      </p:sp>
      <p:sp>
        <p:nvSpPr>
          <p:cNvPr id="10" name="step-num-bg-1">
            <a:extLst>
              <a:ext uri="{FF2B5EF4-FFF2-40B4-BE49-F238E27FC236}">
                <a16:creationId xmlns:a16="http://schemas.microsoft.com/office/drawing/2014/main" id="{EB34FC12-D67E-43AE-A1D7-38DDE6D52DE3}"/>
              </a:ext>
            </a:extLst>
          </p:cNvPr>
          <p:cNvSpPr>
            <a:spLocks noGrp="1"/>
          </p:cNvSpPr>
          <p:nvPr/>
        </p:nvSpPr>
        <p:spPr>
          <a:xfrm>
            <a:off x="685800" y="3219450"/>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2" name="step-1">
            <a:extLst>
              <a:ext uri="{FF2B5EF4-FFF2-40B4-BE49-F238E27FC236}">
                <a16:creationId xmlns:a16="http://schemas.microsoft.com/office/drawing/2014/main" id="{04B12E8E-B377-411A-BD0F-3AE4C6F3F5AF}"/>
              </a:ext>
            </a:extLst>
          </p:cNvPr>
          <p:cNvSpPr>
            <a:spLocks noGrp="1"/>
          </p:cNvSpPr>
          <p:nvPr/>
        </p:nvSpPr>
        <p:spPr>
          <a:xfrm>
            <a:off x="1314450" y="3190875"/>
            <a:ext cx="9906000" cy="904875"/>
          </a:xfrm>
          <a:prstGeom prst="rect">
            <a:avLst/>
          </a:prstGeom>
          <a:noFill/>
          <a:ln w="0">
            <a:noFill/>
            <a:prstDash val="solid"/>
          </a:ln>
        </p:spPr>
        <p:txBody>
          <a:bodyPr anchor="t">
            <a:normAutofit/>
          </a:bodyPr>
          <a:lstStyle/>
          <a:p>
            <a:pPr>
              <a:lnSpc>
                <a:spcPct val="105000"/>
              </a:lnSpc>
              <a:buNone/>
              <a:defRPr sz="1575" b="0">
                <a:solidFill>
                  <a:srgbClr val="26364A"/>
                </a:solidFill>
                <a:latin typeface="Aptos"/>
                <a:ea typeface="Aptos"/>
                <a:cs typeface="Aptos"/>
              </a:defRPr>
            </a:pPr>
            <a:r>
              <a:rPr sz="1575" b="0">
                <a:solidFill>
                  <a:srgbClr val="26364A"/>
                </a:solidFill>
                <a:latin typeface="Aptos"/>
                <a:ea typeface="Aptos"/>
                <a:cs typeface="Aptos"/>
              </a:rPr>
              <a:t>A. identifying populations who are at risk for certain diseases.</a:t>
            </a:r>
          </a:p>
          <a:p>
            <a:pPr>
              <a:lnSpc>
                <a:spcPct val="105000"/>
              </a:lnSpc>
              <a:buNone/>
              <a:defRPr sz="1575" b="0">
                <a:solidFill>
                  <a:srgbClr val="26364A"/>
                </a:solidFill>
                <a:latin typeface="Aptos"/>
                <a:ea typeface="Aptos"/>
                <a:cs typeface="Aptos"/>
              </a:defRPr>
            </a:pPr>
            <a:r>
              <a:rPr sz="1575" b="0">
                <a:solidFill>
                  <a:srgbClr val="26364A"/>
                </a:solidFill>
                <a:latin typeface="Aptos"/>
                <a:ea typeface="Aptos"/>
                <a:cs typeface="Aptos"/>
              </a:rPr>
              <a:t>B. assessing the effectiveness of interventions.</a:t>
            </a:r>
          </a:p>
        </p:txBody>
      </p:sp>
      <p:sp>
        <p:nvSpPr>
          <p:cNvPr id="13" name="step-num-bg-2">
            <a:extLst>
              <a:ext uri="{FF2B5EF4-FFF2-40B4-BE49-F238E27FC236}">
                <a16:creationId xmlns:a16="http://schemas.microsoft.com/office/drawing/2014/main" id="{E52969C1-D994-4841-9976-B9208BFCAA7B}"/>
              </a:ext>
            </a:extLst>
          </p:cNvPr>
          <p:cNvSpPr>
            <a:spLocks noGrp="1"/>
          </p:cNvSpPr>
          <p:nvPr/>
        </p:nvSpPr>
        <p:spPr>
          <a:xfrm>
            <a:off x="685800" y="4457700"/>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15" name="step-2">
            <a:extLst>
              <a:ext uri="{FF2B5EF4-FFF2-40B4-BE49-F238E27FC236}">
                <a16:creationId xmlns:a16="http://schemas.microsoft.com/office/drawing/2014/main" id="{C067F89D-35B3-432E-BB59-D27AC06DF423}"/>
              </a:ext>
            </a:extLst>
          </p:cNvPr>
          <p:cNvSpPr>
            <a:spLocks noGrp="1"/>
          </p:cNvSpPr>
          <p:nvPr/>
        </p:nvSpPr>
        <p:spPr>
          <a:xfrm>
            <a:off x="1314450" y="4429125"/>
            <a:ext cx="9906000" cy="904875"/>
          </a:xfrm>
          <a:prstGeom prst="rect">
            <a:avLst/>
          </a:prstGeom>
          <a:noFill/>
          <a:ln w="0">
            <a:noFill/>
            <a:prstDash val="solid"/>
          </a:ln>
        </p:spPr>
        <p:txBody>
          <a:bodyPr anchor="t">
            <a:normAutofit/>
          </a:bodyPr>
          <a:lstStyle/>
          <a:p>
            <a:pPr>
              <a:lnSpc>
                <a:spcPct val="105000"/>
              </a:lnSpc>
              <a:buNone/>
              <a:defRPr sz="1575" b="1">
                <a:solidFill>
                  <a:srgbClr val="26364A"/>
                </a:solidFill>
                <a:latin typeface="Aptos"/>
                <a:ea typeface="Aptos"/>
                <a:cs typeface="Aptos"/>
              </a:defRPr>
            </a:pPr>
            <a:r>
              <a:rPr sz="1575" b="1">
                <a:solidFill>
                  <a:srgbClr val="21409A"/>
                </a:solidFill>
                <a:latin typeface="Aptos"/>
                <a:ea typeface="Aptos"/>
                <a:cs typeface="Aptos"/>
              </a:rPr>
              <a:t>✓ C.</a:t>
            </a:r>
            <a:r>
              <a:rPr sz="1575" b="1">
                <a:solidFill>
                  <a:srgbClr val="26364A"/>
                </a:solidFill>
                <a:latin typeface="Aptos"/>
                <a:ea typeface="Aptos"/>
                <a:cs typeface="Aptos"/>
              </a:rPr>
              <a:t> providing treatment for patients in clinical settings.</a:t>
            </a:r>
          </a:p>
          <a:p>
            <a:pPr>
              <a:lnSpc>
                <a:spcPct val="105000"/>
              </a:lnSpc>
              <a:buNone/>
              <a:defRPr sz="1575" b="1">
                <a:solidFill>
                  <a:srgbClr val="26364A"/>
                </a:solidFill>
                <a:latin typeface="Aptos"/>
                <a:ea typeface="Aptos"/>
                <a:cs typeface="Aptos"/>
              </a:defRPr>
            </a:pPr>
            <a:r>
              <a:rPr sz="1575" b="1">
                <a:solidFill>
                  <a:srgbClr val="26364A"/>
                </a:solidFill>
                <a:latin typeface="Aptos"/>
                <a:ea typeface="Aptos"/>
                <a:cs typeface="Aptos"/>
              </a:rPr>
              <a:t>D. determining the importance of causes of illness</a:t>
            </a:r>
          </a:p>
        </p:txBody>
      </p:sp>
    </p:spTree>
    <p:extLst>
      <p:ext uri="{BB962C8B-B14F-4D97-AF65-F5344CB8AC3E}">
        <p14:creationId xmlns:p14="http://schemas.microsoft.com/office/powerpoint/2010/main" val="6207761"/>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emplate-label">
            <a:extLst>
              <a:ext uri="{FF2B5EF4-FFF2-40B4-BE49-F238E27FC236}">
                <a16:creationId xmlns:a16="http://schemas.microsoft.com/office/drawing/2014/main" id="{D37C8A68-70F1-4D9B-AD11-F6B8F4C5FD4A}"/>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648793-2D85-4051-82E7-CD63A4BD8699}"/>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7C1277DC-1885-4C95-AC0F-176D00A840C2}"/>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CBB093EB-7C58-4256-813B-3BCED3ED263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CHECK FOR UNDERSTANDING</a:t>
            </a:r>
          </a:p>
        </p:txBody>
      </p:sp>
      <p:sp>
        <p:nvSpPr>
          <p:cNvPr id="5" name="slide-number">
            <a:extLst>
              <a:ext uri="{FF2B5EF4-FFF2-40B4-BE49-F238E27FC236}">
                <a16:creationId xmlns:a16="http://schemas.microsoft.com/office/drawing/2014/main" id="{162DE736-C6D4-4D25-8311-EE34F939D48D}"/>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14</a:t>
            </a:r>
          </a:p>
        </p:txBody>
      </p:sp>
      <p:sp>
        <p:nvSpPr>
          <p:cNvPr id="6" name="title">
            <a:extLst>
              <a:ext uri="{FF2B5EF4-FFF2-40B4-BE49-F238E27FC236}">
                <a16:creationId xmlns:a16="http://schemas.microsoft.com/office/drawing/2014/main" id="{C659B037-8B3B-4C95-BB63-4A8E1AA20107}"/>
              </a:ext>
            </a:extLst>
          </p:cNvPr>
          <p:cNvSpPr>
            <a:spLocks noGrp="1"/>
          </p:cNvSpPr>
          <p:nvPr/>
        </p:nvSpPr>
        <p:spPr>
          <a:xfrm>
            <a:off x="685800" y="1162050"/>
            <a:ext cx="8572500" cy="476250"/>
          </a:xfrm>
          <a:prstGeom prst="rect">
            <a:avLst/>
          </a:prstGeom>
          <a:noFill/>
          <a:ln w="0">
            <a:noFill/>
            <a:prstDash val="solid"/>
          </a:ln>
        </p:spPr>
        <p:txBody>
          <a:bodyPr/>
          <a:lstStyle/>
          <a:p>
            <a:pPr>
              <a:buNone/>
              <a:defRPr sz="2700" b="1">
                <a:solidFill>
                  <a:srgbClr val="203044"/>
                </a:solidFill>
                <a:latin typeface="Aptos"/>
                <a:ea typeface="Aptos"/>
                <a:cs typeface="Aptos"/>
              </a:defRPr>
            </a:pPr>
            <a:r>
              <a:rPr sz="2700" b="1">
                <a:solidFill>
                  <a:srgbClr val="203044"/>
                </a:solidFill>
                <a:latin typeface="Aptos"/>
                <a:ea typeface="Aptos"/>
                <a:cs typeface="Aptos"/>
              </a:rPr>
              <a:t>Exercise</a:t>
            </a:r>
          </a:p>
        </p:txBody>
      </p:sp>
      <p:sp>
        <p:nvSpPr>
          <p:cNvPr id="7" name="step-num-bg-0">
            <a:extLst>
              <a:ext uri="{FF2B5EF4-FFF2-40B4-BE49-F238E27FC236}">
                <a16:creationId xmlns:a16="http://schemas.microsoft.com/office/drawing/2014/main" id="{A222FB55-1171-4632-B149-8F3A992E8554}"/>
              </a:ext>
            </a:extLst>
          </p:cNvPr>
          <p:cNvSpPr>
            <a:spLocks noGrp="1"/>
          </p:cNvSpPr>
          <p:nvPr/>
        </p:nvSpPr>
        <p:spPr>
          <a:xfrm>
            <a:off x="685800" y="1838325"/>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9" name="step-0">
            <a:extLst>
              <a:ext uri="{FF2B5EF4-FFF2-40B4-BE49-F238E27FC236}">
                <a16:creationId xmlns:a16="http://schemas.microsoft.com/office/drawing/2014/main" id="{2A9CC6D4-0C75-4B57-803D-C3704901ABA7}"/>
              </a:ext>
            </a:extLst>
          </p:cNvPr>
          <p:cNvSpPr>
            <a:spLocks noGrp="1"/>
          </p:cNvSpPr>
          <p:nvPr/>
        </p:nvSpPr>
        <p:spPr>
          <a:xfrm>
            <a:off x="1314450" y="1809750"/>
            <a:ext cx="9906000" cy="1476375"/>
          </a:xfrm>
          <a:prstGeom prst="rect">
            <a:avLst/>
          </a:prstGeom>
          <a:noFill/>
          <a:ln w="0">
            <a:noFill/>
            <a:prstDash val="solid"/>
          </a:ln>
        </p:spPr>
        <p:txBody>
          <a:bodyPr anchor="t">
            <a:normAutofit/>
          </a:bodyPr>
          <a:lstStyle/>
          <a:p>
            <a:pPr>
              <a:lnSpc>
                <a:spcPct val="105000"/>
              </a:lnSpc>
              <a:buNone/>
              <a:defRPr sz="1425" b="0">
                <a:solidFill>
                  <a:srgbClr val="26364A"/>
                </a:solidFill>
                <a:latin typeface="Aptos"/>
                <a:ea typeface="Aptos"/>
                <a:cs typeface="Aptos"/>
              </a:defRPr>
            </a:pPr>
            <a:r>
              <a:rPr sz="1425" b="0">
                <a:solidFill>
                  <a:srgbClr val="26364A"/>
                </a:solidFill>
                <a:latin typeface="Aptos"/>
                <a:ea typeface="Aptos"/>
                <a:cs typeface="Aptos"/>
              </a:rPr>
              <a:t>Epidemiologists use a model for studying infectious disease and its spread that involves the microbe that causes the disease, the organism that harbors the disease, and the external factors that cause or allow disease transmission. This is also known as</a:t>
            </a:r>
          </a:p>
        </p:txBody>
      </p:sp>
      <p:sp>
        <p:nvSpPr>
          <p:cNvPr id="10" name="step-num-bg-1">
            <a:extLst>
              <a:ext uri="{FF2B5EF4-FFF2-40B4-BE49-F238E27FC236}">
                <a16:creationId xmlns:a16="http://schemas.microsoft.com/office/drawing/2014/main" id="{EB34FC12-D67E-43AE-A1D7-38DDE6D52DE3}"/>
              </a:ext>
            </a:extLst>
          </p:cNvPr>
          <p:cNvSpPr>
            <a:spLocks noGrp="1"/>
          </p:cNvSpPr>
          <p:nvPr/>
        </p:nvSpPr>
        <p:spPr>
          <a:xfrm>
            <a:off x="685800" y="3695700"/>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2" name="step-1">
            <a:extLst>
              <a:ext uri="{FF2B5EF4-FFF2-40B4-BE49-F238E27FC236}">
                <a16:creationId xmlns:a16="http://schemas.microsoft.com/office/drawing/2014/main" id="{04B12E8E-B377-411A-BD0F-3AE4C6F3F5AF}"/>
              </a:ext>
            </a:extLst>
          </p:cNvPr>
          <p:cNvSpPr>
            <a:spLocks noGrp="1"/>
          </p:cNvSpPr>
          <p:nvPr/>
        </p:nvSpPr>
        <p:spPr>
          <a:xfrm>
            <a:off x="1314450" y="3667125"/>
            <a:ext cx="9906000" cy="781050"/>
          </a:xfrm>
          <a:prstGeom prst="rect">
            <a:avLst/>
          </a:prstGeom>
          <a:noFill/>
          <a:ln w="0">
            <a:noFill/>
            <a:prstDash val="solid"/>
          </a:ln>
        </p:spPr>
        <p:txBody>
          <a:bodyPr anchor="t">
            <a:normAutofit/>
          </a:bodyPr>
          <a:lstStyle/>
          <a:p>
            <a:pPr>
              <a:lnSpc>
                <a:spcPct val="105000"/>
              </a:lnSpc>
              <a:buNone/>
              <a:defRPr sz="1500" b="0">
                <a:solidFill>
                  <a:srgbClr val="26364A"/>
                </a:solidFill>
                <a:latin typeface="Aptos"/>
                <a:ea typeface="Aptos"/>
                <a:cs typeface="Aptos"/>
              </a:defRPr>
            </a:pPr>
            <a:r>
              <a:rPr sz="1500" b="0">
                <a:solidFill>
                  <a:srgbClr val="26364A"/>
                </a:solidFill>
                <a:latin typeface="Aptos"/>
                <a:ea typeface="Aptos"/>
                <a:cs typeface="Aptos"/>
              </a:rPr>
              <a:t>A. host, vector, and transmission.</a:t>
            </a:r>
          </a:p>
          <a:p>
            <a:pPr>
              <a:lnSpc>
                <a:spcPct val="105000"/>
              </a:lnSpc>
              <a:buNone/>
              <a:defRPr sz="1500" b="0">
                <a:solidFill>
                  <a:srgbClr val="26364A"/>
                </a:solidFill>
                <a:latin typeface="Aptos"/>
                <a:ea typeface="Aptos"/>
                <a:cs typeface="Aptos"/>
              </a:defRPr>
            </a:pPr>
            <a:r>
              <a:rPr sz="1500" b="0">
                <a:solidFill>
                  <a:srgbClr val="26364A"/>
                </a:solidFill>
                <a:latin typeface="Aptos"/>
                <a:ea typeface="Aptos"/>
                <a:cs typeface="Aptos"/>
              </a:rPr>
              <a:t>B. transmission, host, and environment.</a:t>
            </a:r>
          </a:p>
        </p:txBody>
      </p:sp>
      <p:sp>
        <p:nvSpPr>
          <p:cNvPr id="13" name="step-num-bg-2">
            <a:extLst>
              <a:ext uri="{FF2B5EF4-FFF2-40B4-BE49-F238E27FC236}">
                <a16:creationId xmlns:a16="http://schemas.microsoft.com/office/drawing/2014/main" id="{E52969C1-D994-4841-9976-B9208BFCAA7B}"/>
              </a:ext>
            </a:extLst>
          </p:cNvPr>
          <p:cNvSpPr>
            <a:spLocks noGrp="1"/>
          </p:cNvSpPr>
          <p:nvPr/>
        </p:nvSpPr>
        <p:spPr>
          <a:xfrm>
            <a:off x="685800" y="4791075"/>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15" name="step-2">
            <a:extLst>
              <a:ext uri="{FF2B5EF4-FFF2-40B4-BE49-F238E27FC236}">
                <a16:creationId xmlns:a16="http://schemas.microsoft.com/office/drawing/2014/main" id="{C067F89D-35B3-432E-BB59-D27AC06DF423}"/>
              </a:ext>
            </a:extLst>
          </p:cNvPr>
          <p:cNvSpPr>
            <a:spLocks noGrp="1"/>
          </p:cNvSpPr>
          <p:nvPr/>
        </p:nvSpPr>
        <p:spPr>
          <a:xfrm>
            <a:off x="1314450" y="4762500"/>
            <a:ext cx="9906000" cy="781050"/>
          </a:xfrm>
          <a:prstGeom prst="rect">
            <a:avLst/>
          </a:prstGeom>
          <a:noFill/>
          <a:ln w="0">
            <a:noFill/>
            <a:prstDash val="solid"/>
          </a:ln>
        </p:spPr>
        <p:txBody>
          <a:bodyPr anchor="t">
            <a:normAutofit/>
          </a:bodyPr>
          <a:lstStyle/>
          <a:p>
            <a:pPr>
              <a:lnSpc>
                <a:spcPct val="105000"/>
              </a:lnSpc>
              <a:buNone/>
              <a:defRPr sz="1500" b="1">
                <a:solidFill>
                  <a:srgbClr val="26364A"/>
                </a:solidFill>
                <a:latin typeface="Aptos"/>
                <a:ea typeface="Aptos"/>
                <a:cs typeface="Aptos"/>
              </a:defRPr>
            </a:pPr>
            <a:r>
              <a:rPr sz="1500" b="1">
                <a:solidFill>
                  <a:srgbClr val="21409A"/>
                </a:solidFill>
                <a:latin typeface="Aptos"/>
                <a:ea typeface="Aptos"/>
                <a:cs typeface="Aptos"/>
              </a:rPr>
              <a:t>✓ C.</a:t>
            </a:r>
            <a:r>
              <a:rPr sz="1500" b="1">
                <a:solidFill>
                  <a:srgbClr val="26364A"/>
                </a:solidFill>
                <a:latin typeface="Aptos"/>
                <a:ea typeface="Aptos"/>
                <a:cs typeface="Aptos"/>
              </a:rPr>
              <a:t> organism, transmission, and environment.</a:t>
            </a:r>
          </a:p>
          <a:p>
            <a:pPr>
              <a:lnSpc>
                <a:spcPct val="105000"/>
              </a:lnSpc>
              <a:buNone/>
              <a:defRPr sz="1500" b="1">
                <a:solidFill>
                  <a:srgbClr val="26364A"/>
                </a:solidFill>
                <a:latin typeface="Aptos"/>
                <a:ea typeface="Aptos"/>
                <a:cs typeface="Aptos"/>
              </a:defRPr>
            </a:pPr>
            <a:r>
              <a:rPr sz="1500" b="1">
                <a:solidFill>
                  <a:srgbClr val="26364A"/>
                </a:solidFill>
                <a:latin typeface="Aptos"/>
                <a:ea typeface="Aptos"/>
                <a:cs typeface="Aptos"/>
              </a:rPr>
              <a:t>D. host, agent, and environment.</a:t>
            </a:r>
          </a:p>
        </p:txBody>
      </p:sp>
    </p:spTree>
    <p:extLst>
      <p:ext uri="{BB962C8B-B14F-4D97-AF65-F5344CB8AC3E}">
        <p14:creationId xmlns:p14="http://schemas.microsoft.com/office/powerpoint/2010/main" val="6207761"/>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mplate-label">
            <a:extLst>
              <a:ext uri="{FF2B5EF4-FFF2-40B4-BE49-F238E27FC236}">
                <a16:creationId xmlns:a16="http://schemas.microsoft.com/office/drawing/2014/main" id="{E60B7CE5-EF2B-4026-8219-7458C00DA56C}"/>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B0419E-C5B8-4DE1-A8F4-7EA3492EE8D6}"/>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206B839E-C302-4915-B8AB-7F43BC265118}"/>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3FC5FC40-9B2E-4F9B-BAFE-FF33B14D726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DEFINITION</a:t>
            </a:r>
          </a:p>
        </p:txBody>
      </p:sp>
      <p:sp>
        <p:nvSpPr>
          <p:cNvPr id="5" name="slide-number">
            <a:extLst>
              <a:ext uri="{FF2B5EF4-FFF2-40B4-BE49-F238E27FC236}">
                <a16:creationId xmlns:a16="http://schemas.microsoft.com/office/drawing/2014/main" id="{9E9313E4-4510-421C-842F-02F7B7556456}"/>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15</a:t>
            </a:r>
          </a:p>
        </p:txBody>
      </p:sp>
      <p:sp>
        <p:nvSpPr>
          <p:cNvPr id="6" name="title">
            <a:extLst>
              <a:ext uri="{FF2B5EF4-FFF2-40B4-BE49-F238E27FC236}">
                <a16:creationId xmlns:a16="http://schemas.microsoft.com/office/drawing/2014/main" id="{312ED333-B76B-4A23-872C-F1552FF78E09}"/>
              </a:ext>
            </a:extLst>
          </p:cNvPr>
          <p:cNvSpPr>
            <a:spLocks noGrp="1"/>
          </p:cNvSpPr>
          <p:nvPr/>
        </p:nvSpPr>
        <p:spPr>
          <a:xfrm>
            <a:off x="685800" y="1162050"/>
            <a:ext cx="3905250" cy="876300"/>
          </a:xfrm>
          <a:prstGeom prst="rect">
            <a:avLst/>
          </a:prstGeom>
          <a:noFill/>
          <a:ln w="0">
            <a:noFill/>
            <a:prstDash val="solid"/>
          </a:ln>
        </p:spPr>
        <p:txBody>
          <a:bodyPr/>
          <a:lstStyle/>
          <a:p>
            <a:pPr>
              <a:buNone/>
              <a:defRPr sz="2550" b="1">
                <a:solidFill>
                  <a:srgbClr val="203044"/>
                </a:solidFill>
                <a:latin typeface="Aptos"/>
                <a:ea typeface="Aptos"/>
                <a:cs typeface="Aptos"/>
              </a:defRPr>
            </a:pPr>
            <a:r>
              <a:rPr sz="2550" b="1">
                <a:solidFill>
                  <a:srgbClr val="203044"/>
                </a:solidFill>
                <a:latin typeface="Aptos"/>
                <a:ea typeface="Aptos"/>
                <a:cs typeface="Aptos"/>
              </a:rPr>
              <a:t>What is Epidemiology?</a:t>
            </a:r>
          </a:p>
        </p:txBody>
      </p:sp>
      <p:sp>
        <p:nvSpPr>
          <p:cNvPr id="7" name="body">
            <a:extLst>
              <a:ext uri="{FF2B5EF4-FFF2-40B4-BE49-F238E27FC236}">
                <a16:creationId xmlns:a16="http://schemas.microsoft.com/office/drawing/2014/main" id="{578B2320-8FC6-4B1E-87EA-2DCA805B779D}"/>
              </a:ext>
            </a:extLst>
          </p:cNvPr>
          <p:cNvSpPr>
            <a:spLocks noGrp="1"/>
          </p:cNvSpPr>
          <p:nvPr/>
        </p:nvSpPr>
        <p:spPr>
          <a:xfrm>
            <a:off x="685800" y="2047875"/>
            <a:ext cx="4095750" cy="3000375"/>
          </a:xfrm>
          <a:prstGeom prst="rect">
            <a:avLst/>
          </a:prstGeom>
          <a:noFill/>
          <a:ln w="0">
            <a:noFill/>
            <a:prstDash val="solid"/>
          </a:ln>
        </p:spPr>
        <p:txBody>
          <a:bodyPr anchor="t">
            <a:normAutofit/>
          </a:bodyPr>
          <a:lstStyle/>
          <a:p>
            <a:pPr>
              <a:lnSpc>
                <a:spcPct val="102000"/>
              </a:lnSpc>
              <a:buNone/>
              <a:defRPr sz="1275">
                <a:solidFill>
                  <a:srgbClr val="26364A"/>
                </a:solidFill>
                <a:latin typeface="Aptos"/>
                <a:ea typeface="Aptos"/>
                <a:cs typeface="Aptos"/>
              </a:defRPr>
            </a:pPr>
            <a:r>
              <a:rPr sz="1275" b="1">
                <a:solidFill>
                  <a:srgbClr val="26364A"/>
                </a:solidFill>
                <a:latin typeface="Aptos"/>
                <a:ea typeface="Aptos"/>
                <a:cs typeface="Aptos"/>
              </a:rPr>
              <a:t>EPIDEMIOLOGY</a:t>
            </a:r>
          </a:p>
          <a:p>
            <a:pPr>
              <a:lnSpc>
                <a:spcPct val="102000"/>
              </a:lnSpc>
              <a:buNone/>
              <a:defRPr sz="1275">
                <a:solidFill>
                  <a:srgbClr val="26364A"/>
                </a:solidFill>
                <a:latin typeface="Aptos"/>
                <a:ea typeface="Aptos"/>
                <a:cs typeface="Aptos"/>
              </a:defRPr>
            </a:pPr>
            <a:r>
              <a:rPr sz="1275">
                <a:solidFill>
                  <a:srgbClr val="26364A"/>
                </a:solidFill>
                <a:latin typeface="Aptos"/>
                <a:ea typeface="Aptos"/>
                <a:cs typeface="Aptos"/>
              </a:rPr>
              <a:t>epi -- “on, upon”</a:t>
            </a:r>
          </a:p>
          <a:p>
            <a:pPr>
              <a:lnSpc>
                <a:spcPct val="102000"/>
              </a:lnSpc>
              <a:buNone/>
              <a:defRPr sz="1275">
                <a:solidFill>
                  <a:srgbClr val="26364A"/>
                </a:solidFill>
                <a:latin typeface="Aptos"/>
                <a:ea typeface="Aptos"/>
                <a:cs typeface="Aptos"/>
              </a:defRPr>
            </a:pPr>
            <a:r>
              <a:rPr sz="1275">
                <a:solidFill>
                  <a:srgbClr val="26364A"/>
                </a:solidFill>
                <a:latin typeface="Aptos"/>
                <a:ea typeface="Aptos"/>
                <a:cs typeface="Aptos"/>
              </a:rPr>
              <a:t>demo -- “people”</a:t>
            </a:r>
          </a:p>
          <a:p>
            <a:pPr>
              <a:lnSpc>
                <a:spcPct val="102000"/>
              </a:lnSpc>
              <a:buNone/>
              <a:defRPr sz="1275">
                <a:solidFill>
                  <a:srgbClr val="26364A"/>
                </a:solidFill>
                <a:latin typeface="Aptos"/>
                <a:ea typeface="Aptos"/>
                <a:cs typeface="Aptos"/>
              </a:defRPr>
            </a:pPr>
            <a:r>
              <a:rPr sz="1275">
                <a:solidFill>
                  <a:srgbClr val="26364A"/>
                </a:solidFill>
                <a:latin typeface="Aptos"/>
                <a:ea typeface="Aptos"/>
                <a:cs typeface="Aptos"/>
              </a:rPr>
              <a:t>ology -- “study of”</a:t>
            </a:r>
          </a:p>
          <a:p>
            <a:pPr>
              <a:lnSpc>
                <a:spcPct val="102000"/>
              </a:lnSpc>
              <a:buNone/>
              <a:defRPr sz="1275">
                <a:solidFill>
                  <a:srgbClr val="26364A"/>
                </a:solidFill>
                <a:latin typeface="Aptos"/>
                <a:ea typeface="Aptos"/>
                <a:cs typeface="Aptos"/>
              </a:defRPr>
            </a:pPr>
            <a:r>
              <a:rPr sz="1275" b="1">
                <a:solidFill>
                  <a:srgbClr val="26364A"/>
                </a:solidFill>
                <a:latin typeface="Aptos"/>
                <a:ea typeface="Aptos"/>
                <a:cs typeface="Aptos"/>
              </a:rPr>
              <a:t>Definition: </a:t>
            </a:r>
            <a:r>
              <a:rPr sz="1275">
                <a:solidFill>
                  <a:srgbClr val="26364A"/>
                </a:solidFill>
                <a:latin typeface="Aptos"/>
                <a:ea typeface="Aptos"/>
                <a:cs typeface="Aptos"/>
              </a:rPr>
              <a:t>the study of the distribution and determinants of health-related states or events (e.g. infectious disease) in specified (human) populations and the application of this study to control health problems</a:t>
            </a:r>
          </a:p>
        </p:txBody>
      </p:sp>
      <p:sp>
        <p:nvSpPr>
          <p:cNvPr id="8" name="caption">
            <a:extLst>
              <a:ext uri="{FF2B5EF4-FFF2-40B4-BE49-F238E27FC236}">
                <a16:creationId xmlns:a16="http://schemas.microsoft.com/office/drawing/2014/main" id="{CD89B906-5C7B-454A-8428-B1BCFEA04AE0}"/>
              </a:ext>
            </a:extLst>
          </p:cNvPr>
          <p:cNvSpPr>
            <a:spLocks noGrp="1"/>
          </p:cNvSpPr>
          <p:nvPr/>
        </p:nvSpPr>
        <p:spPr>
          <a:xfrm>
            <a:off x="685800" y="5143500"/>
            <a:ext cx="4095750" cy="428625"/>
          </a:xfrm>
          <a:prstGeom prst="rect">
            <a:avLst/>
          </a:prstGeom>
          <a:noFill/>
          <a:ln w="0">
            <a:noFill/>
            <a:prstDash val="solid"/>
          </a:ln>
        </p:spPr>
        <p:txBody>
          <a:bodyPr>
            <a:normAutofit/>
          </a:bodyPr>
          <a:lstStyle/>
          <a:p>
            <a:pPr>
              <a:buNone/>
              <a:defRPr sz="1125" b="1" i="1">
                <a:solidFill>
                  <a:srgbClr val="4E5F72"/>
                </a:solidFill>
                <a:latin typeface="Georgia"/>
                <a:ea typeface="Georgia"/>
                <a:cs typeface="Georgia"/>
              </a:defRPr>
            </a:pPr>
            <a:r>
              <a:rPr sz="1125" b="1" i="1">
                <a:solidFill>
                  <a:srgbClr val="4E5F72"/>
                </a:solidFill>
                <a:latin typeface="Georgia"/>
                <a:ea typeface="Georgia"/>
                <a:cs typeface="Georgia"/>
              </a:rPr>
              <a:t>--- James Last, 1995, A Dictionary of Epidemiology</a:t>
            </a:r>
          </a:p>
        </p:txBody>
      </p:sp>
      <p:pic>
        <p:nvPicPr>
          <p:cNvPr id="20" name="Picture 19"/>
          <p:cNvPicPr>
            <a:picLocks noChangeAspect="1"/>
          </p:cNvPicPr>
          <p:nvPr/>
        </p:nvPicPr>
        <p:blipFill>
          <a:blip r:embed="rId4"/>
          <a:stretch/>
        </p:blipFill>
        <p:spPr>
          <a:xfrm>
            <a:off x="5657160" y="1762125"/>
            <a:ext cx="5402054" cy="4000500"/>
          </a:xfrm>
          <a:prstGeom prst="rect">
            <a:avLst/>
          </a:prstGeom>
        </p:spPr>
      </p:pic>
    </p:spTree>
    <p:extLst>
      <p:ext uri="{BB962C8B-B14F-4D97-AF65-F5344CB8AC3E}">
        <p14:creationId xmlns:p14="http://schemas.microsoft.com/office/powerpoint/2010/main" val="670783965"/>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mplate-label">
            <a:extLst>
              <a:ext uri="{FF2B5EF4-FFF2-40B4-BE49-F238E27FC236}">
                <a16:creationId xmlns:a16="http://schemas.microsoft.com/office/drawing/2014/main" id="{E60B7CE5-EF2B-4026-8219-7458C00DA56C}"/>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B0419E-C5B8-4DE1-A8F4-7EA3492EE8D6}"/>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206B839E-C302-4915-B8AB-7F43BC265118}"/>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3FC5FC40-9B2E-4F9B-BAFE-FF33B14D726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EPIDEMIOLOGIC TRIANGLE</a:t>
            </a:r>
          </a:p>
        </p:txBody>
      </p:sp>
      <p:sp>
        <p:nvSpPr>
          <p:cNvPr id="5" name="slide-number">
            <a:extLst>
              <a:ext uri="{FF2B5EF4-FFF2-40B4-BE49-F238E27FC236}">
                <a16:creationId xmlns:a16="http://schemas.microsoft.com/office/drawing/2014/main" id="{9E9313E4-4510-421C-842F-02F7B7556456}"/>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16</a:t>
            </a:r>
          </a:p>
        </p:txBody>
      </p:sp>
      <p:sp>
        <p:nvSpPr>
          <p:cNvPr id="6" name="title">
            <a:extLst>
              <a:ext uri="{FF2B5EF4-FFF2-40B4-BE49-F238E27FC236}">
                <a16:creationId xmlns:a16="http://schemas.microsoft.com/office/drawing/2014/main" id="{312ED333-B76B-4A23-872C-F1552FF78E09}"/>
              </a:ext>
            </a:extLst>
          </p:cNvPr>
          <p:cNvSpPr>
            <a:spLocks noGrp="1"/>
          </p:cNvSpPr>
          <p:nvPr/>
        </p:nvSpPr>
        <p:spPr>
          <a:xfrm>
            <a:off x="685800" y="1162050"/>
            <a:ext cx="3905250" cy="876300"/>
          </a:xfrm>
          <a:prstGeom prst="rect">
            <a:avLst/>
          </a:prstGeom>
          <a:noFill/>
          <a:ln w="0">
            <a:noFill/>
            <a:prstDash val="solid"/>
          </a:ln>
        </p:spPr>
        <p:txBody>
          <a:bodyPr/>
          <a:lstStyle/>
          <a:p>
            <a:pPr>
              <a:buNone/>
              <a:defRPr sz="2550" b="1">
                <a:solidFill>
                  <a:srgbClr val="203044"/>
                </a:solidFill>
                <a:latin typeface="Aptos"/>
                <a:ea typeface="Aptos"/>
                <a:cs typeface="Aptos"/>
              </a:defRPr>
            </a:pPr>
            <a:r>
              <a:rPr sz="2550" b="1">
                <a:solidFill>
                  <a:srgbClr val="203044"/>
                </a:solidFill>
                <a:latin typeface="Aptos"/>
                <a:ea typeface="Aptos"/>
                <a:cs typeface="Aptos"/>
              </a:rPr>
              <a:t>The Epidemiologic Triangle</a:t>
            </a:r>
          </a:p>
        </p:txBody>
      </p:sp>
      <p:sp>
        <p:nvSpPr>
          <p:cNvPr id="7" name="body">
            <a:extLst>
              <a:ext uri="{FF2B5EF4-FFF2-40B4-BE49-F238E27FC236}">
                <a16:creationId xmlns:a16="http://schemas.microsoft.com/office/drawing/2014/main" id="{578B2320-8FC6-4B1E-87EA-2DCA805B779D}"/>
              </a:ext>
            </a:extLst>
          </p:cNvPr>
          <p:cNvSpPr>
            <a:spLocks noGrp="1"/>
          </p:cNvSpPr>
          <p:nvPr/>
        </p:nvSpPr>
        <p:spPr>
          <a:xfrm>
            <a:off x="685800" y="2428875"/>
            <a:ext cx="3810000" cy="1809750"/>
          </a:xfrm>
          <a:prstGeom prst="rect">
            <a:avLst/>
          </a:prstGeom>
          <a:noFill/>
          <a:ln w="0">
            <a:noFill/>
            <a:prstDash val="solid"/>
          </a:ln>
        </p:spPr>
        <p:txBody>
          <a:bodyPr/>
          <a:lstStyle/>
          <a:p>
            <a:pPr>
              <a:buNone/>
              <a:defRPr sz="1650">
                <a:solidFill>
                  <a:srgbClr val="6C757D"/>
                </a:solidFill>
                <a:latin typeface="Aptos"/>
                <a:ea typeface="Aptos"/>
                <a:cs typeface="Aptos"/>
              </a:defRPr>
            </a:pPr>
            <a:endParaRPr/>
          </a:p>
        </p:txBody>
      </p:sp>
      <p:sp>
        <p:nvSpPr>
          <p:cNvPr id="8" name="caption">
            <a:extLst>
              <a:ext uri="{FF2B5EF4-FFF2-40B4-BE49-F238E27FC236}">
                <a16:creationId xmlns:a16="http://schemas.microsoft.com/office/drawing/2014/main" id="{CD89B906-5C7B-454A-8428-B1BCFEA04AE0}"/>
              </a:ext>
            </a:extLst>
          </p:cNvPr>
          <p:cNvSpPr>
            <a:spLocks noGrp="1"/>
          </p:cNvSpPr>
          <p:nvPr/>
        </p:nvSpPr>
        <p:spPr>
          <a:xfrm>
            <a:off x="685800" y="4762500"/>
            <a:ext cx="3905250" cy="400050"/>
          </a:xfrm>
          <a:prstGeom prst="rect">
            <a:avLst/>
          </a:prstGeom>
          <a:noFill/>
          <a:ln w="0">
            <a:noFill/>
            <a:prstDash val="solid"/>
          </a:ln>
        </p:spPr>
        <p:txBody>
          <a:bodyPr/>
          <a:lstStyle/>
          <a:p>
            <a:pPr>
              <a:buNone/>
              <a:defRPr sz="1200" b="1">
                <a:solidFill>
                  <a:srgbClr val="4E5F72"/>
                </a:solidFill>
                <a:latin typeface="Aptos"/>
                <a:ea typeface="Aptos"/>
                <a:cs typeface="Aptos"/>
              </a:defRPr>
            </a:pPr>
            <a:endParaRPr/>
          </a:p>
        </p:txBody>
      </p:sp>
      <p:pic>
        <p:nvPicPr>
          <p:cNvPr id="20" name="Picture 19"/>
          <p:cNvPicPr>
            <a:picLocks noChangeAspect="1"/>
          </p:cNvPicPr>
          <p:nvPr/>
        </p:nvPicPr>
        <p:blipFill>
          <a:blip r:embed="rId4"/>
          <a:stretch/>
        </p:blipFill>
        <p:spPr>
          <a:xfrm>
            <a:off x="2387150" y="1762125"/>
            <a:ext cx="7417699" cy="4191000"/>
          </a:xfrm>
          <a:prstGeom prst="rect">
            <a:avLst/>
          </a:prstGeom>
        </p:spPr>
      </p:pic>
    </p:spTree>
    <p:extLst>
      <p:ext uri="{BB962C8B-B14F-4D97-AF65-F5344CB8AC3E}">
        <p14:creationId xmlns:p14="http://schemas.microsoft.com/office/powerpoint/2010/main" val="670783965"/>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emplate-label">
            <a:extLst>
              <a:ext uri="{FF2B5EF4-FFF2-40B4-BE49-F238E27FC236}">
                <a16:creationId xmlns:a16="http://schemas.microsoft.com/office/drawing/2014/main" id="{D37C8A68-70F1-4D9B-AD11-F6B8F4C5FD4A}"/>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648793-2D85-4051-82E7-CD63A4BD8699}"/>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7C1277DC-1885-4C95-AC0F-176D00A840C2}"/>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CBB093EB-7C58-4256-813B-3BCED3ED263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SCENARIO EXERCISE</a:t>
            </a:r>
          </a:p>
        </p:txBody>
      </p:sp>
      <p:sp>
        <p:nvSpPr>
          <p:cNvPr id="5" name="slide-number">
            <a:extLst>
              <a:ext uri="{FF2B5EF4-FFF2-40B4-BE49-F238E27FC236}">
                <a16:creationId xmlns:a16="http://schemas.microsoft.com/office/drawing/2014/main" id="{162DE736-C6D4-4D25-8311-EE34F939D48D}"/>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17</a:t>
            </a:r>
          </a:p>
        </p:txBody>
      </p:sp>
      <p:sp>
        <p:nvSpPr>
          <p:cNvPr id="6" name="title">
            <a:extLst>
              <a:ext uri="{FF2B5EF4-FFF2-40B4-BE49-F238E27FC236}">
                <a16:creationId xmlns:a16="http://schemas.microsoft.com/office/drawing/2014/main" id="{C659B037-8B3B-4C95-BB63-4A8E1AA20107}"/>
              </a:ext>
            </a:extLst>
          </p:cNvPr>
          <p:cNvSpPr>
            <a:spLocks noGrp="1"/>
          </p:cNvSpPr>
          <p:nvPr/>
        </p:nvSpPr>
        <p:spPr>
          <a:xfrm>
            <a:off x="685800" y="1162050"/>
            <a:ext cx="8572500" cy="476250"/>
          </a:xfrm>
          <a:prstGeom prst="rect">
            <a:avLst/>
          </a:prstGeom>
          <a:noFill/>
          <a:ln w="0">
            <a:noFill/>
            <a:prstDash val="solid"/>
          </a:ln>
        </p:spPr>
        <p:txBody>
          <a:bodyPr/>
          <a:lstStyle/>
          <a:p>
            <a:pPr>
              <a:buNone/>
              <a:defRPr sz="2700" b="1">
                <a:solidFill>
                  <a:srgbClr val="203044"/>
                </a:solidFill>
                <a:latin typeface="Aptos"/>
                <a:ea typeface="Aptos"/>
                <a:cs typeface="Aptos"/>
              </a:defRPr>
            </a:pPr>
            <a:r>
              <a:rPr sz="2700" b="1">
                <a:solidFill>
                  <a:srgbClr val="203044"/>
                </a:solidFill>
                <a:latin typeface="Aptos"/>
                <a:ea typeface="Aptos"/>
                <a:cs typeface="Aptos"/>
              </a:rPr>
              <a:t>Scenario Exercise</a:t>
            </a:r>
          </a:p>
        </p:txBody>
      </p:sp>
      <p:sp>
        <p:nvSpPr>
          <p:cNvPr id="7" name="step-num-bg-0">
            <a:extLst>
              <a:ext uri="{FF2B5EF4-FFF2-40B4-BE49-F238E27FC236}">
                <a16:creationId xmlns:a16="http://schemas.microsoft.com/office/drawing/2014/main" id="{A222FB55-1171-4632-B149-8F3A992E8554}"/>
              </a:ext>
            </a:extLst>
          </p:cNvPr>
          <p:cNvSpPr>
            <a:spLocks noGrp="1"/>
          </p:cNvSpPr>
          <p:nvPr/>
        </p:nvSpPr>
        <p:spPr>
          <a:xfrm>
            <a:off x="685800" y="1885950"/>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9" name="step-0">
            <a:extLst>
              <a:ext uri="{FF2B5EF4-FFF2-40B4-BE49-F238E27FC236}">
                <a16:creationId xmlns:a16="http://schemas.microsoft.com/office/drawing/2014/main" id="{2A9CC6D4-0C75-4B57-803D-C3704901ABA7}"/>
              </a:ext>
            </a:extLst>
          </p:cNvPr>
          <p:cNvSpPr>
            <a:spLocks noGrp="1"/>
          </p:cNvSpPr>
          <p:nvPr/>
        </p:nvSpPr>
        <p:spPr>
          <a:xfrm>
            <a:off x="1314450" y="1857375"/>
            <a:ext cx="9906000" cy="1285875"/>
          </a:xfrm>
          <a:prstGeom prst="rect">
            <a:avLst/>
          </a:prstGeom>
          <a:noFill/>
          <a:ln w="0">
            <a:noFill/>
            <a:prstDash val="solid"/>
          </a:ln>
        </p:spPr>
        <p:txBody>
          <a:bodyPr anchor="t">
            <a:normAutofit/>
          </a:bodyPr>
          <a:lstStyle/>
          <a:p>
            <a:pPr>
              <a:lnSpc>
                <a:spcPct val="105000"/>
              </a:lnSpc>
              <a:buNone/>
              <a:defRPr sz="1500" b="0">
                <a:solidFill>
                  <a:srgbClr val="26364A"/>
                </a:solidFill>
                <a:latin typeface="Aptos"/>
                <a:ea typeface="Aptos"/>
                <a:cs typeface="Aptos"/>
              </a:defRPr>
            </a:pPr>
            <a:r>
              <a:rPr sz="1500" b="0">
                <a:solidFill>
                  <a:srgbClr val="26364A"/>
                </a:solidFill>
                <a:latin typeface="Aptos"/>
                <a:ea typeface="Aptos"/>
                <a:cs typeface="Aptos"/>
              </a:rPr>
              <a:t>Scenario:</a:t>
            </a:r>
          </a:p>
          <a:p>
            <a:pPr>
              <a:lnSpc>
                <a:spcPct val="105000"/>
              </a:lnSpc>
              <a:buNone/>
              <a:defRPr sz="1500" b="0">
                <a:solidFill>
                  <a:srgbClr val="26364A"/>
                </a:solidFill>
                <a:latin typeface="Aptos"/>
                <a:ea typeface="Aptos"/>
                <a:cs typeface="Aptos"/>
              </a:defRPr>
            </a:pPr>
            <a:r>
              <a:rPr sz="1500" b="0">
                <a:solidFill>
                  <a:srgbClr val="26364A"/>
                </a:solidFill>
                <a:latin typeface="Aptos"/>
                <a:ea typeface="Aptos"/>
                <a:cs typeface="Aptos"/>
              </a:rPr>
              <a:t>A city health department notices that one neighborhood has twice the rate of asthma ER visits compared to another neighborhood in the same city. This difference has been observed every year for the past three years.</a:t>
            </a:r>
          </a:p>
        </p:txBody>
      </p:sp>
      <p:sp>
        <p:nvSpPr>
          <p:cNvPr id="10" name="step-num-bg-1">
            <a:extLst>
              <a:ext uri="{FF2B5EF4-FFF2-40B4-BE49-F238E27FC236}">
                <a16:creationId xmlns:a16="http://schemas.microsoft.com/office/drawing/2014/main" id="{EB34FC12-D67E-43AE-A1D7-38DDE6D52DE3}"/>
              </a:ext>
            </a:extLst>
          </p:cNvPr>
          <p:cNvSpPr>
            <a:spLocks noGrp="1"/>
          </p:cNvSpPr>
          <p:nvPr/>
        </p:nvSpPr>
        <p:spPr>
          <a:xfrm>
            <a:off x="685800" y="3457575"/>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2" name="step-1">
            <a:extLst>
              <a:ext uri="{FF2B5EF4-FFF2-40B4-BE49-F238E27FC236}">
                <a16:creationId xmlns:a16="http://schemas.microsoft.com/office/drawing/2014/main" id="{04B12E8E-B377-411A-BD0F-3AE4C6F3F5AF}"/>
              </a:ext>
            </a:extLst>
          </p:cNvPr>
          <p:cNvSpPr>
            <a:spLocks noGrp="1"/>
          </p:cNvSpPr>
          <p:nvPr/>
        </p:nvSpPr>
        <p:spPr>
          <a:xfrm>
            <a:off x="1314450" y="3429000"/>
            <a:ext cx="9906000" cy="1381125"/>
          </a:xfrm>
          <a:prstGeom prst="rect">
            <a:avLst/>
          </a:prstGeom>
          <a:noFill/>
          <a:ln w="0">
            <a:noFill/>
            <a:prstDash val="solid"/>
          </a:ln>
        </p:spPr>
        <p:txBody>
          <a:bodyPr anchor="t">
            <a:normAutofit/>
          </a:bodyPr>
          <a:lstStyle/>
          <a:p>
            <a:pPr>
              <a:lnSpc>
                <a:spcPct val="105000"/>
              </a:lnSpc>
              <a:buNone/>
              <a:defRPr sz="1500" b="0">
                <a:solidFill>
                  <a:srgbClr val="26364A"/>
                </a:solidFill>
                <a:latin typeface="Aptos"/>
                <a:ea typeface="Aptos"/>
                <a:cs typeface="Aptos"/>
              </a:defRPr>
            </a:pPr>
            <a:r>
              <a:rPr sz="1500" b="0">
                <a:solidFill>
                  <a:srgbClr val="26364A"/>
                </a:solidFill>
                <a:latin typeface="Aptos"/>
                <a:ea typeface="Aptos"/>
                <a:cs typeface="Aptos"/>
              </a:rPr>
              <a:t>Questions:</a:t>
            </a:r>
          </a:p>
          <a:p>
            <a:pPr>
              <a:lnSpc>
                <a:spcPct val="105000"/>
              </a:lnSpc>
              <a:buNone/>
              <a:defRPr sz="1500" b="0">
                <a:solidFill>
                  <a:srgbClr val="26364A"/>
                </a:solidFill>
                <a:latin typeface="Aptos"/>
                <a:ea typeface="Aptos"/>
                <a:cs typeface="Aptos"/>
              </a:defRPr>
            </a:pPr>
            <a:r>
              <a:rPr sz="1500" b="0">
                <a:solidFill>
                  <a:srgbClr val="26364A"/>
                </a:solidFill>
                <a:latin typeface="Aptos"/>
                <a:ea typeface="Aptos"/>
                <a:cs typeface="Aptos"/>
              </a:rPr>
              <a:t>Do you think this difference is mostly due to random chance—yes or no?</a:t>
            </a:r>
          </a:p>
          <a:p>
            <a:pPr>
              <a:lnSpc>
                <a:spcPct val="105000"/>
              </a:lnSpc>
              <a:buNone/>
              <a:defRPr sz="1500" b="0">
                <a:solidFill>
                  <a:srgbClr val="26364A"/>
                </a:solidFill>
                <a:latin typeface="Aptos"/>
                <a:ea typeface="Aptos"/>
                <a:cs typeface="Aptos"/>
              </a:defRPr>
            </a:pPr>
            <a:r>
              <a:rPr sz="1500" b="0">
                <a:solidFill>
                  <a:srgbClr val="26364A"/>
                </a:solidFill>
                <a:latin typeface="Aptos"/>
                <a:ea typeface="Aptos"/>
                <a:cs typeface="Aptos"/>
              </a:rPr>
              <a:t>If it’s not random, what is one thing that might explain the difference?</a:t>
            </a:r>
          </a:p>
        </p:txBody>
      </p:sp>
      <p:sp>
        <p:nvSpPr>
          <p:cNvPr id="13" name="step-num-bg-2">
            <a:extLst>
              <a:ext uri="{FF2B5EF4-FFF2-40B4-BE49-F238E27FC236}">
                <a16:creationId xmlns:a16="http://schemas.microsoft.com/office/drawing/2014/main" id="{E52969C1-D994-4841-9976-B9208BFCAA7B}"/>
              </a:ext>
            </a:extLst>
          </p:cNvPr>
          <p:cNvSpPr>
            <a:spLocks noGrp="1"/>
          </p:cNvSpPr>
          <p:nvPr/>
        </p:nvSpPr>
        <p:spPr>
          <a:xfrm>
            <a:off x="685800" y="5124450"/>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15" name="step-2">
            <a:extLst>
              <a:ext uri="{FF2B5EF4-FFF2-40B4-BE49-F238E27FC236}">
                <a16:creationId xmlns:a16="http://schemas.microsoft.com/office/drawing/2014/main" id="{C067F89D-35B3-432E-BB59-D27AC06DF423}"/>
              </a:ext>
            </a:extLst>
          </p:cNvPr>
          <p:cNvSpPr>
            <a:spLocks noGrp="1"/>
          </p:cNvSpPr>
          <p:nvPr/>
        </p:nvSpPr>
        <p:spPr>
          <a:xfrm>
            <a:off x="1314450" y="5095875"/>
            <a:ext cx="9906000" cy="552450"/>
          </a:xfrm>
          <a:prstGeom prst="rect">
            <a:avLst/>
          </a:prstGeom>
          <a:noFill/>
          <a:ln w="0">
            <a:noFill/>
            <a:prstDash val="solid"/>
          </a:ln>
        </p:spPr>
        <p:txBody>
          <a:bodyPr anchor="t">
            <a:normAutofit/>
          </a:bodyPr>
          <a:lstStyle/>
          <a:p>
            <a:pPr>
              <a:lnSpc>
                <a:spcPct val="105000"/>
              </a:lnSpc>
              <a:buNone/>
              <a:defRPr sz="1575" b="1">
                <a:solidFill>
                  <a:srgbClr val="26364A"/>
                </a:solidFill>
                <a:latin typeface="Aptos"/>
                <a:ea typeface="Aptos"/>
                <a:cs typeface="Aptos"/>
              </a:defRPr>
            </a:pPr>
            <a:r>
              <a:rPr sz="1575" b="1">
                <a:solidFill>
                  <a:srgbClr val="26364A"/>
                </a:solidFill>
                <a:latin typeface="Aptos"/>
                <a:ea typeface="Aptos"/>
                <a:cs typeface="Aptos"/>
              </a:rPr>
              <a:t>What are we assuming if we believe those factors matter?</a:t>
            </a:r>
          </a:p>
        </p:txBody>
      </p:sp>
    </p:spTree>
    <p:extLst>
      <p:ext uri="{BB962C8B-B14F-4D97-AF65-F5344CB8AC3E}">
        <p14:creationId xmlns:p14="http://schemas.microsoft.com/office/powerpoint/2010/main" val="6207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mplate-label">
            <a:extLst>
              <a:ext uri="{FF2B5EF4-FFF2-40B4-BE49-F238E27FC236}">
                <a16:creationId xmlns:a16="http://schemas.microsoft.com/office/drawing/2014/main" id="{F3016D02-1401-4080-8CEA-95B101A2B0FC}"/>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44F19349-28FE-4262-9624-EE8606BD819F}"/>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53256258-D97A-4070-9415-AA3280CDD65A}"/>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9294FE58-9C73-4DCE-914B-660F6153BB2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ASSUMPTIONS</a:t>
            </a:r>
          </a:p>
        </p:txBody>
      </p:sp>
      <p:sp>
        <p:nvSpPr>
          <p:cNvPr id="5" name="slide-number">
            <a:extLst>
              <a:ext uri="{FF2B5EF4-FFF2-40B4-BE49-F238E27FC236}">
                <a16:creationId xmlns:a16="http://schemas.microsoft.com/office/drawing/2014/main" id="{B4491CD4-D154-43D4-BF65-CC188362A6CE}"/>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18</a:t>
            </a:r>
          </a:p>
        </p:txBody>
      </p:sp>
      <p:sp>
        <p:nvSpPr>
          <p:cNvPr id="6" name="title">
            <a:extLst>
              <a:ext uri="{FF2B5EF4-FFF2-40B4-BE49-F238E27FC236}">
                <a16:creationId xmlns:a16="http://schemas.microsoft.com/office/drawing/2014/main" id="{985FC468-CA4E-4626-9B48-8F093DAA5729}"/>
              </a:ext>
            </a:extLst>
          </p:cNvPr>
          <p:cNvSpPr>
            <a:spLocks noGrp="1"/>
          </p:cNvSpPr>
          <p:nvPr/>
        </p:nvSpPr>
        <p:spPr>
          <a:xfrm>
            <a:off x="685800" y="1162050"/>
            <a:ext cx="8858250" cy="476250"/>
          </a:xfrm>
          <a:prstGeom prst="rect">
            <a:avLst/>
          </a:prstGeom>
          <a:noFill/>
          <a:ln w="0">
            <a:noFill/>
            <a:prstDash val="solid"/>
          </a:ln>
        </p:spPr>
        <p:txBody>
          <a:bodyPr/>
          <a:lstStyle/>
          <a:p>
            <a:pPr>
              <a:buNone/>
              <a:defRPr sz="2625" b="1">
                <a:solidFill>
                  <a:srgbClr val="203044"/>
                </a:solidFill>
                <a:latin typeface="Aptos"/>
                <a:ea typeface="Aptos"/>
                <a:cs typeface="Aptos"/>
              </a:defRPr>
            </a:pPr>
            <a:r>
              <a:rPr sz="2625" b="1">
                <a:solidFill>
                  <a:srgbClr val="203044"/>
                </a:solidFill>
                <a:latin typeface="Aptos"/>
                <a:ea typeface="Aptos"/>
                <a:cs typeface="Aptos"/>
              </a:rPr>
              <a:t>Assumptions of Epidemiology</a:t>
            </a:r>
          </a:p>
        </p:txBody>
      </p:sp>
      <p:sp>
        <p:nvSpPr>
          <p:cNvPr id="7" name="comparison-0">
            <a:extLst>
              <a:ext uri="{FF2B5EF4-FFF2-40B4-BE49-F238E27FC236}">
                <a16:creationId xmlns:a16="http://schemas.microsoft.com/office/drawing/2014/main" id="{9625DA86-717F-4EE0-A2E6-1B1A15B3C59F}"/>
              </a:ext>
            </a:extLst>
          </p:cNvPr>
          <p:cNvSpPr>
            <a:spLocks noGrp="1"/>
          </p:cNvSpPr>
          <p:nvPr/>
        </p:nvSpPr>
        <p:spPr>
          <a:xfrm>
            <a:off x="685800" y="2095500"/>
            <a:ext cx="5219700" cy="2762250"/>
          </a:xfrm>
          <a:prstGeom prst="roundRect">
            <a:avLst>
              <a:gd name="adj" fmla="val 4138"/>
            </a:avLst>
          </a:prstGeom>
          <a:solidFill>
            <a:srgbClr val="F7F8FA"/>
          </a:solidFill>
          <a:ln w="9525">
            <a:solidFill>
              <a:srgbClr val="E9EDF1"/>
            </a:solidFill>
            <a:prstDash val="solid"/>
          </a:ln>
        </p:spPr>
        <p:txBody>
          <a:bodyPr/>
          <a:lstStyle/>
          <a:p>
            <a:endParaRPr lang="en-US"/>
          </a:p>
        </p:txBody>
      </p:sp>
      <p:sp>
        <p:nvSpPr>
          <p:cNvPr id="8" name="comparison-rule-0">
            <a:extLst>
              <a:ext uri="{FF2B5EF4-FFF2-40B4-BE49-F238E27FC236}">
                <a16:creationId xmlns:a16="http://schemas.microsoft.com/office/drawing/2014/main" id="{CF0F90FB-FE64-4636-8C0A-03165D92F4FF}"/>
              </a:ext>
            </a:extLst>
          </p:cNvPr>
          <p:cNvSpPr>
            <a:spLocks noGrp="1"/>
          </p:cNvSpPr>
          <p:nvPr/>
        </p:nvSpPr>
        <p:spPr>
          <a:xfrm>
            <a:off x="685800" y="2095500"/>
            <a:ext cx="5219700" cy="76200"/>
          </a:xfrm>
          <a:prstGeom prst="rect">
            <a:avLst/>
          </a:prstGeom>
          <a:solidFill>
            <a:srgbClr val="FFD662"/>
          </a:solidFill>
          <a:ln w="0">
            <a:noFill/>
            <a:prstDash val="solid"/>
          </a:ln>
        </p:spPr>
        <p:txBody>
          <a:bodyPr/>
          <a:lstStyle/>
          <a:p>
            <a:endParaRPr lang="en-US"/>
          </a:p>
        </p:txBody>
      </p:sp>
      <p:sp>
        <p:nvSpPr>
          <p:cNvPr id="9" name="comparison-label-0">
            <a:extLst>
              <a:ext uri="{FF2B5EF4-FFF2-40B4-BE49-F238E27FC236}">
                <a16:creationId xmlns:a16="http://schemas.microsoft.com/office/drawing/2014/main" id="{021CA853-D03C-4F1F-B38A-A12B29182971}"/>
              </a:ext>
            </a:extLst>
          </p:cNvPr>
          <p:cNvSpPr>
            <a:spLocks noGrp="1"/>
          </p:cNvSpPr>
          <p:nvPr/>
        </p:nvSpPr>
        <p:spPr>
          <a:xfrm>
            <a:off x="1066800" y="2524125"/>
            <a:ext cx="1238250" cy="228600"/>
          </a:xfrm>
          <a:prstGeom prst="rect">
            <a:avLst/>
          </a:prstGeom>
          <a:noFill/>
          <a:ln w="0">
            <a:noFill/>
            <a:prstDash val="solid"/>
          </a:ln>
        </p:spPr>
        <p:txBody>
          <a:bodyPr/>
          <a:lstStyle/>
          <a:p>
            <a:pPr>
              <a:buNone/>
              <a:defRPr sz="1050" b="1">
                <a:solidFill>
                  <a:srgbClr val="6C757D"/>
                </a:solidFill>
                <a:latin typeface="Aptos"/>
                <a:ea typeface="Aptos"/>
                <a:cs typeface="Aptos"/>
              </a:defRPr>
            </a:pPr>
            <a:r>
              <a:rPr sz="1050" b="1">
                <a:solidFill>
                  <a:srgbClr val="6C757D"/>
                </a:solidFill>
                <a:latin typeface="Aptos"/>
                <a:ea typeface="Aptos"/>
                <a:cs typeface="Aptos"/>
              </a:rPr>
              <a:t>ASSUMPTION 1</a:t>
            </a:r>
          </a:p>
        </p:txBody>
      </p:sp>
      <p:sp>
        <p:nvSpPr>
          <p:cNvPr id="10" name="comparison-head-0">
            <a:extLst>
              <a:ext uri="{FF2B5EF4-FFF2-40B4-BE49-F238E27FC236}">
                <a16:creationId xmlns:a16="http://schemas.microsoft.com/office/drawing/2014/main" id="{2D11FE8C-E11B-4E03-BF9C-C5D032308648}"/>
              </a:ext>
            </a:extLst>
          </p:cNvPr>
          <p:cNvSpPr>
            <a:spLocks noGrp="1"/>
          </p:cNvSpPr>
          <p:nvPr/>
        </p:nvSpPr>
        <p:spPr>
          <a:xfrm>
            <a:off x="1066800" y="2952750"/>
            <a:ext cx="4095750" cy="609600"/>
          </a:xfrm>
          <a:prstGeom prst="rect">
            <a:avLst/>
          </a:prstGeom>
          <a:noFill/>
          <a:ln w="0">
            <a:noFill/>
            <a:prstDash val="solid"/>
          </a:ln>
        </p:spPr>
        <p:txBody>
          <a:bodyPr>
            <a:normAutofit fontScale="90667"/>
          </a:bodyPr>
          <a:lstStyle/>
          <a:p>
            <a:pPr>
              <a:buNone/>
              <a:defRPr sz="1875" b="1">
                <a:solidFill>
                  <a:srgbClr val="4E5F72"/>
                </a:solidFill>
                <a:latin typeface="Georgia"/>
                <a:ea typeface="Georgia"/>
                <a:cs typeface="Georgia"/>
              </a:defRPr>
            </a:pPr>
            <a:r>
              <a:rPr sz="1875" b="1">
                <a:solidFill>
                  <a:srgbClr val="4E5F72"/>
                </a:solidFill>
                <a:latin typeface="Georgia"/>
                <a:ea typeface="Georgia"/>
                <a:cs typeface="Georgia"/>
              </a:rPr>
              <a:t>Human disease does not occur at random</a:t>
            </a:r>
          </a:p>
        </p:txBody>
      </p:sp>
      <p:sp>
        <p:nvSpPr>
          <p:cNvPr id="11" name="comparison-body-0">
            <a:extLst>
              <a:ext uri="{FF2B5EF4-FFF2-40B4-BE49-F238E27FC236}">
                <a16:creationId xmlns:a16="http://schemas.microsoft.com/office/drawing/2014/main" id="{13DCD671-63E0-409A-9468-708CC5A2B3A6}"/>
              </a:ext>
            </a:extLst>
          </p:cNvPr>
          <p:cNvSpPr>
            <a:spLocks noGrp="1"/>
          </p:cNvSpPr>
          <p:nvPr/>
        </p:nvSpPr>
        <p:spPr>
          <a:xfrm>
            <a:off x="1066800" y="3857625"/>
            <a:ext cx="4095750" cy="590550"/>
          </a:xfrm>
          <a:prstGeom prst="rect">
            <a:avLst/>
          </a:prstGeom>
          <a:noFill/>
          <a:ln w="0">
            <a:noFill/>
            <a:prstDash val="solid"/>
          </a:ln>
        </p:spPr>
        <p:txBody>
          <a:bodyPr anchor="t">
            <a:normAutofit fontScale="99197"/>
          </a:bodyPr>
          <a:lstStyle/>
          <a:p>
            <a:pPr>
              <a:buNone/>
              <a:defRPr sz="1350">
                <a:solidFill>
                  <a:srgbClr val="6C757D"/>
                </a:solidFill>
                <a:latin typeface="Aptos"/>
                <a:ea typeface="Aptos"/>
                <a:cs typeface="Aptos"/>
              </a:defRPr>
            </a:pPr>
            <a:r>
              <a:rPr sz="1350">
                <a:solidFill>
                  <a:srgbClr val="6C757D"/>
                </a:solidFill>
                <a:latin typeface="Aptos"/>
                <a:ea typeface="Aptos"/>
                <a:cs typeface="Aptos"/>
              </a:rPr>
              <a:t>Disease frequency and distribution vary because of identifiable factors that increase or decrease risk.</a:t>
            </a:r>
          </a:p>
        </p:txBody>
      </p:sp>
      <p:sp>
        <p:nvSpPr>
          <p:cNvPr id="12" name="comparison-1">
            <a:extLst>
              <a:ext uri="{FF2B5EF4-FFF2-40B4-BE49-F238E27FC236}">
                <a16:creationId xmlns:a16="http://schemas.microsoft.com/office/drawing/2014/main" id="{203CCD18-3B04-4597-9E86-8278E641DB58}"/>
              </a:ext>
            </a:extLst>
          </p:cNvPr>
          <p:cNvSpPr>
            <a:spLocks noGrp="1"/>
          </p:cNvSpPr>
          <p:nvPr/>
        </p:nvSpPr>
        <p:spPr>
          <a:xfrm>
            <a:off x="6286500" y="2095500"/>
            <a:ext cx="5219700" cy="2762250"/>
          </a:xfrm>
          <a:prstGeom prst="roundRect">
            <a:avLst>
              <a:gd name="adj" fmla="val 4138"/>
            </a:avLst>
          </a:prstGeom>
          <a:solidFill>
            <a:srgbClr val="F7F8FA"/>
          </a:solidFill>
          <a:ln w="9525">
            <a:solidFill>
              <a:srgbClr val="E9EDF1"/>
            </a:solidFill>
            <a:prstDash val="solid"/>
          </a:ln>
        </p:spPr>
        <p:txBody>
          <a:bodyPr/>
          <a:lstStyle/>
          <a:p>
            <a:endParaRPr lang="en-US"/>
          </a:p>
        </p:txBody>
      </p:sp>
      <p:sp>
        <p:nvSpPr>
          <p:cNvPr id="13" name="comparison-rule-1">
            <a:extLst>
              <a:ext uri="{FF2B5EF4-FFF2-40B4-BE49-F238E27FC236}">
                <a16:creationId xmlns:a16="http://schemas.microsoft.com/office/drawing/2014/main" id="{004D2764-E8A7-48C0-B6A9-B52C2F177995}"/>
              </a:ext>
            </a:extLst>
          </p:cNvPr>
          <p:cNvSpPr>
            <a:spLocks noGrp="1"/>
          </p:cNvSpPr>
          <p:nvPr/>
        </p:nvSpPr>
        <p:spPr>
          <a:xfrm>
            <a:off x="6286500" y="2095500"/>
            <a:ext cx="5219700" cy="76200"/>
          </a:xfrm>
          <a:prstGeom prst="rect">
            <a:avLst/>
          </a:prstGeom>
          <a:solidFill>
            <a:srgbClr val="28A745"/>
          </a:solidFill>
          <a:ln w="0">
            <a:noFill/>
            <a:prstDash val="solid"/>
          </a:ln>
        </p:spPr>
        <p:txBody>
          <a:bodyPr/>
          <a:lstStyle/>
          <a:p>
            <a:endParaRPr lang="en-US"/>
          </a:p>
        </p:txBody>
      </p:sp>
      <p:sp>
        <p:nvSpPr>
          <p:cNvPr id="14" name="comparison-label-1">
            <a:extLst>
              <a:ext uri="{FF2B5EF4-FFF2-40B4-BE49-F238E27FC236}">
                <a16:creationId xmlns:a16="http://schemas.microsoft.com/office/drawing/2014/main" id="{856D1B6A-0D28-4FD3-A126-CC74097425F8}"/>
              </a:ext>
            </a:extLst>
          </p:cNvPr>
          <p:cNvSpPr>
            <a:spLocks noGrp="1"/>
          </p:cNvSpPr>
          <p:nvPr/>
        </p:nvSpPr>
        <p:spPr>
          <a:xfrm>
            <a:off x="6667500" y="2524125"/>
            <a:ext cx="1238250" cy="228600"/>
          </a:xfrm>
          <a:prstGeom prst="rect">
            <a:avLst/>
          </a:prstGeom>
          <a:noFill/>
          <a:ln w="0">
            <a:noFill/>
            <a:prstDash val="solid"/>
          </a:ln>
        </p:spPr>
        <p:txBody>
          <a:bodyPr/>
          <a:lstStyle/>
          <a:p>
            <a:pPr>
              <a:buNone/>
              <a:defRPr sz="1050" b="1">
                <a:solidFill>
                  <a:srgbClr val="6C757D"/>
                </a:solidFill>
                <a:latin typeface="Aptos"/>
                <a:ea typeface="Aptos"/>
                <a:cs typeface="Aptos"/>
              </a:defRPr>
            </a:pPr>
            <a:r>
              <a:rPr sz="1050" b="1">
                <a:solidFill>
                  <a:srgbClr val="6C757D"/>
                </a:solidFill>
                <a:latin typeface="Aptos"/>
                <a:ea typeface="Aptos"/>
                <a:cs typeface="Aptos"/>
              </a:rPr>
              <a:t>ASSUMPTION 2</a:t>
            </a:r>
          </a:p>
        </p:txBody>
      </p:sp>
      <p:sp>
        <p:nvSpPr>
          <p:cNvPr id="15" name="comparison-head-1">
            <a:extLst>
              <a:ext uri="{FF2B5EF4-FFF2-40B4-BE49-F238E27FC236}">
                <a16:creationId xmlns:a16="http://schemas.microsoft.com/office/drawing/2014/main" id="{C9B9E6DE-2A9A-46CA-BC8A-E6067C8168E2}"/>
              </a:ext>
            </a:extLst>
          </p:cNvPr>
          <p:cNvSpPr>
            <a:spLocks noGrp="1"/>
          </p:cNvSpPr>
          <p:nvPr/>
        </p:nvSpPr>
        <p:spPr>
          <a:xfrm>
            <a:off x="6667500" y="2952750"/>
            <a:ext cx="4095750" cy="609600"/>
          </a:xfrm>
          <a:prstGeom prst="rect">
            <a:avLst/>
          </a:prstGeom>
          <a:noFill/>
          <a:ln w="0">
            <a:noFill/>
            <a:prstDash val="solid"/>
          </a:ln>
        </p:spPr>
        <p:txBody>
          <a:bodyPr>
            <a:normAutofit fontScale="90667"/>
          </a:bodyPr>
          <a:lstStyle/>
          <a:p>
            <a:pPr>
              <a:buNone/>
              <a:defRPr sz="1875" b="1">
                <a:solidFill>
                  <a:srgbClr val="4E5F72"/>
                </a:solidFill>
                <a:latin typeface="Georgia"/>
                <a:ea typeface="Georgia"/>
                <a:cs typeface="Georgia"/>
              </a:defRPr>
            </a:pPr>
            <a:r>
              <a:rPr sz="1875" b="1">
                <a:solidFill>
                  <a:srgbClr val="4E5F72"/>
                </a:solidFill>
                <a:latin typeface="Georgia"/>
                <a:ea typeface="Georgia"/>
                <a:cs typeface="Georgia"/>
              </a:rPr>
              <a:t>Determinants of disease can be identified</a:t>
            </a:r>
          </a:p>
        </p:txBody>
      </p:sp>
      <p:sp>
        <p:nvSpPr>
          <p:cNvPr id="16" name="comparison-body-1">
            <a:extLst>
              <a:ext uri="{FF2B5EF4-FFF2-40B4-BE49-F238E27FC236}">
                <a16:creationId xmlns:a16="http://schemas.microsoft.com/office/drawing/2014/main" id="{8C5CFB04-8174-43DE-9BDD-697056EC5D96}"/>
              </a:ext>
            </a:extLst>
          </p:cNvPr>
          <p:cNvSpPr>
            <a:spLocks noGrp="1"/>
          </p:cNvSpPr>
          <p:nvPr/>
        </p:nvSpPr>
        <p:spPr>
          <a:xfrm>
            <a:off x="6667500" y="3857625"/>
            <a:ext cx="4095750" cy="590550"/>
          </a:xfrm>
          <a:prstGeom prst="rect">
            <a:avLst/>
          </a:prstGeom>
          <a:noFill/>
          <a:ln w="0">
            <a:noFill/>
            <a:prstDash val="solid"/>
          </a:ln>
        </p:spPr>
        <p:txBody>
          <a:bodyPr anchor="t">
            <a:normAutofit/>
          </a:bodyPr>
          <a:lstStyle/>
          <a:p>
            <a:pPr>
              <a:buNone/>
              <a:defRPr sz="1350">
                <a:solidFill>
                  <a:srgbClr val="6C757D"/>
                </a:solidFill>
                <a:latin typeface="Aptos"/>
                <a:ea typeface="Aptos"/>
                <a:cs typeface="Aptos"/>
              </a:defRPr>
            </a:pPr>
            <a:r>
              <a:rPr sz="1350">
                <a:solidFill>
                  <a:srgbClr val="6C757D"/>
                </a:solidFill>
                <a:latin typeface="Aptos"/>
                <a:ea typeface="Aptos"/>
                <a:cs typeface="Aptos"/>
              </a:rPr>
              <a:t>Causal and preventive factors can be studied through systematic investigation of populations.</a:t>
            </a:r>
          </a:p>
        </p:txBody>
      </p:sp>
    </p:spTree>
    <p:extLst>
      <p:ext uri="{BB962C8B-B14F-4D97-AF65-F5344CB8AC3E}">
        <p14:creationId xmlns:p14="http://schemas.microsoft.com/office/powerpoint/2010/main" val="1104980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mplate-label">
            <a:extLst>
              <a:ext uri="{FF2B5EF4-FFF2-40B4-BE49-F238E27FC236}">
                <a16:creationId xmlns:a16="http://schemas.microsoft.com/office/drawing/2014/main" id="{F3016D02-1401-4080-8CEA-95B101A2B0FC}"/>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44F19349-28FE-4262-9624-EE8606BD819F}"/>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53256258-D97A-4070-9415-AA3280CDD65A}"/>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9294FE58-9C73-4DCE-914B-660F6153BB27}"/>
              </a:ext>
            </a:extLst>
          </p:cNvPr>
          <p:cNvSpPr>
            <a:spLocks noGrp="1"/>
          </p:cNvSpPr>
          <p:nvPr/>
        </p:nvSpPr>
        <p:spPr>
          <a:xfrm>
            <a:off x="685800" y="5667375"/>
            <a:ext cx="9906000" cy="361950"/>
          </a:xfrm>
          <a:prstGeom prst="rect">
            <a:avLst/>
          </a:prstGeom>
          <a:noFill/>
          <a:ln w="0">
            <a:noFill/>
            <a:prstDash val="solid"/>
          </a:ln>
        </p:spPr>
        <p:txBody>
          <a:bodyPr>
            <a:normAutofit/>
          </a:bodyPr>
          <a:lstStyle/>
          <a:p>
            <a:pPr>
              <a:buNone/>
              <a:defRPr sz="1275" b="1">
                <a:solidFill>
                  <a:srgbClr val="4E5F72"/>
                </a:solidFill>
                <a:latin typeface="Aptos"/>
                <a:ea typeface="Aptos"/>
                <a:cs typeface="Aptos"/>
              </a:defRPr>
            </a:pPr>
            <a:r>
              <a:rPr sz="1275" b="1">
                <a:solidFill>
                  <a:srgbClr val="4E5F72"/>
                </a:solidFill>
                <a:latin typeface="Aptos"/>
                <a:ea typeface="Aptos"/>
                <a:cs typeface="Aptos"/>
              </a:rPr>
              <a:t>Descriptive Epidemiology Is A Necessary Antecedent Of Analytic Epidemiology</a:t>
            </a:r>
          </a:p>
        </p:txBody>
      </p:sp>
      <p:sp>
        <p:nvSpPr>
          <p:cNvPr id="5" name="slide-number">
            <a:extLst>
              <a:ext uri="{FF2B5EF4-FFF2-40B4-BE49-F238E27FC236}">
                <a16:creationId xmlns:a16="http://schemas.microsoft.com/office/drawing/2014/main" id="{B4491CD4-D154-43D4-BF65-CC188362A6CE}"/>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19</a:t>
            </a:r>
          </a:p>
        </p:txBody>
      </p:sp>
      <p:sp>
        <p:nvSpPr>
          <p:cNvPr id="6" name="title">
            <a:extLst>
              <a:ext uri="{FF2B5EF4-FFF2-40B4-BE49-F238E27FC236}">
                <a16:creationId xmlns:a16="http://schemas.microsoft.com/office/drawing/2014/main" id="{985FC468-CA4E-4626-9B48-8F093DAA5729}"/>
              </a:ext>
            </a:extLst>
          </p:cNvPr>
          <p:cNvSpPr>
            <a:spLocks noGrp="1"/>
          </p:cNvSpPr>
          <p:nvPr/>
        </p:nvSpPr>
        <p:spPr>
          <a:xfrm>
            <a:off x="685800" y="1162050"/>
            <a:ext cx="8858250" cy="476250"/>
          </a:xfrm>
          <a:prstGeom prst="rect">
            <a:avLst/>
          </a:prstGeom>
          <a:noFill/>
          <a:ln w="0">
            <a:noFill/>
            <a:prstDash val="solid"/>
          </a:ln>
        </p:spPr>
        <p:txBody>
          <a:bodyPr/>
          <a:lstStyle/>
          <a:p>
            <a:pPr>
              <a:buNone/>
              <a:defRPr sz="2625" b="1">
                <a:solidFill>
                  <a:srgbClr val="203044"/>
                </a:solidFill>
                <a:latin typeface="Aptos"/>
                <a:ea typeface="Aptos"/>
                <a:cs typeface="Aptos"/>
              </a:defRPr>
            </a:pPr>
            <a:r>
              <a:rPr sz="2625" b="1">
                <a:solidFill>
                  <a:srgbClr val="203044"/>
                </a:solidFill>
                <a:latin typeface="Aptos"/>
                <a:ea typeface="Aptos"/>
                <a:cs typeface="Aptos"/>
              </a:rPr>
              <a:t>Descriptive and Analytic Epidemiology</a:t>
            </a:r>
          </a:p>
        </p:txBody>
      </p:sp>
      <p:sp>
        <p:nvSpPr>
          <p:cNvPr id="7" name="comparison-0">
            <a:extLst>
              <a:ext uri="{FF2B5EF4-FFF2-40B4-BE49-F238E27FC236}">
                <a16:creationId xmlns:a16="http://schemas.microsoft.com/office/drawing/2014/main" id="{9625DA86-717F-4EE0-A2E6-1B1A15B3C59F}"/>
              </a:ext>
            </a:extLst>
          </p:cNvPr>
          <p:cNvSpPr>
            <a:spLocks noGrp="1"/>
          </p:cNvSpPr>
          <p:nvPr/>
        </p:nvSpPr>
        <p:spPr>
          <a:xfrm>
            <a:off x="685800" y="2095500"/>
            <a:ext cx="5219700" cy="2762250"/>
          </a:xfrm>
          <a:prstGeom prst="roundRect">
            <a:avLst>
              <a:gd name="adj" fmla="val 4138"/>
            </a:avLst>
          </a:prstGeom>
          <a:solidFill>
            <a:srgbClr val="F7F8FA"/>
          </a:solidFill>
          <a:ln w="9525">
            <a:solidFill>
              <a:srgbClr val="E9EDF1"/>
            </a:solidFill>
            <a:prstDash val="solid"/>
          </a:ln>
        </p:spPr>
        <p:txBody>
          <a:bodyPr/>
          <a:lstStyle/>
          <a:p>
            <a:endParaRPr lang="en-US"/>
          </a:p>
        </p:txBody>
      </p:sp>
      <p:sp>
        <p:nvSpPr>
          <p:cNvPr id="8" name="comparison-rule-0">
            <a:extLst>
              <a:ext uri="{FF2B5EF4-FFF2-40B4-BE49-F238E27FC236}">
                <a16:creationId xmlns:a16="http://schemas.microsoft.com/office/drawing/2014/main" id="{CF0F90FB-FE64-4636-8C0A-03165D92F4FF}"/>
              </a:ext>
            </a:extLst>
          </p:cNvPr>
          <p:cNvSpPr>
            <a:spLocks noGrp="1"/>
          </p:cNvSpPr>
          <p:nvPr/>
        </p:nvSpPr>
        <p:spPr>
          <a:xfrm>
            <a:off x="685800" y="2095500"/>
            <a:ext cx="5219700" cy="76200"/>
          </a:xfrm>
          <a:prstGeom prst="rect">
            <a:avLst/>
          </a:prstGeom>
          <a:solidFill>
            <a:srgbClr val="FFD662"/>
          </a:solidFill>
          <a:ln w="0">
            <a:noFill/>
            <a:prstDash val="solid"/>
          </a:ln>
        </p:spPr>
        <p:txBody>
          <a:bodyPr/>
          <a:lstStyle/>
          <a:p>
            <a:endParaRPr lang="en-US"/>
          </a:p>
        </p:txBody>
      </p:sp>
      <p:sp>
        <p:nvSpPr>
          <p:cNvPr id="9" name="comparison-label-0">
            <a:extLst>
              <a:ext uri="{FF2B5EF4-FFF2-40B4-BE49-F238E27FC236}">
                <a16:creationId xmlns:a16="http://schemas.microsoft.com/office/drawing/2014/main" id="{021CA853-D03C-4F1F-B38A-A12B29182971}"/>
              </a:ext>
            </a:extLst>
          </p:cNvPr>
          <p:cNvSpPr>
            <a:spLocks noGrp="1"/>
          </p:cNvSpPr>
          <p:nvPr/>
        </p:nvSpPr>
        <p:spPr>
          <a:xfrm>
            <a:off x="1066800" y="2524125"/>
            <a:ext cx="1238250" cy="228600"/>
          </a:xfrm>
          <a:prstGeom prst="rect">
            <a:avLst/>
          </a:prstGeom>
          <a:noFill/>
          <a:ln w="0">
            <a:noFill/>
            <a:prstDash val="solid"/>
          </a:ln>
        </p:spPr>
        <p:txBody>
          <a:bodyPr>
            <a:normAutofit fontScale="85714"/>
          </a:bodyPr>
          <a:lstStyle/>
          <a:p>
            <a:pPr algn="l">
              <a:buNone/>
              <a:defRPr sz="1050" b="1">
                <a:solidFill>
                  <a:srgbClr val="6C757D"/>
                </a:solidFill>
                <a:latin typeface="Aptos"/>
                <a:ea typeface="Aptos"/>
                <a:cs typeface="Aptos"/>
              </a:defRPr>
            </a:pPr>
            <a:r>
              <a:rPr sz="1050" b="1">
                <a:solidFill>
                  <a:srgbClr val="6C757D"/>
                </a:solidFill>
                <a:latin typeface="Aptos"/>
                <a:ea typeface="Aptos"/>
                <a:cs typeface="Aptos"/>
              </a:rPr>
              <a:t>DISTRIBUTION</a:t>
            </a:r>
          </a:p>
        </p:txBody>
      </p:sp>
      <p:sp>
        <p:nvSpPr>
          <p:cNvPr id="10" name="comparison-head-0">
            <a:extLst>
              <a:ext uri="{FF2B5EF4-FFF2-40B4-BE49-F238E27FC236}">
                <a16:creationId xmlns:a16="http://schemas.microsoft.com/office/drawing/2014/main" id="{2D11FE8C-E11B-4E03-BF9C-C5D032308648}"/>
              </a:ext>
            </a:extLst>
          </p:cNvPr>
          <p:cNvSpPr>
            <a:spLocks noGrp="1"/>
          </p:cNvSpPr>
          <p:nvPr/>
        </p:nvSpPr>
        <p:spPr>
          <a:xfrm>
            <a:off x="1066800" y="2952750"/>
            <a:ext cx="4095750" cy="609600"/>
          </a:xfrm>
          <a:prstGeom prst="rect">
            <a:avLst/>
          </a:prstGeom>
          <a:noFill/>
          <a:ln w="0">
            <a:noFill/>
            <a:prstDash val="solid"/>
          </a:ln>
        </p:spPr>
        <p:txBody>
          <a:bodyPr>
            <a:normAutofit/>
          </a:bodyPr>
          <a:lstStyle/>
          <a:p>
            <a:pPr>
              <a:buNone/>
              <a:defRPr sz="2025" b="1">
                <a:solidFill>
                  <a:srgbClr val="4E5F72"/>
                </a:solidFill>
                <a:latin typeface="Georgia"/>
                <a:ea typeface="Georgia"/>
                <a:cs typeface="Georgia"/>
              </a:defRPr>
            </a:pPr>
            <a:r>
              <a:rPr sz="2025" b="1">
                <a:solidFill>
                  <a:srgbClr val="4E5F72"/>
                </a:solidFill>
                <a:latin typeface="Georgia"/>
                <a:ea typeface="Georgia"/>
                <a:cs typeface="Georgia"/>
              </a:rPr>
              <a:t>Descriptive epidemiology</a:t>
            </a:r>
          </a:p>
        </p:txBody>
      </p:sp>
      <p:sp>
        <p:nvSpPr>
          <p:cNvPr id="11" name="comparison-body-0">
            <a:extLst>
              <a:ext uri="{FF2B5EF4-FFF2-40B4-BE49-F238E27FC236}">
                <a16:creationId xmlns:a16="http://schemas.microsoft.com/office/drawing/2014/main" id="{13DCD671-63E0-409A-9468-708CC5A2B3A6}"/>
              </a:ext>
            </a:extLst>
          </p:cNvPr>
          <p:cNvSpPr>
            <a:spLocks noGrp="1"/>
          </p:cNvSpPr>
          <p:nvPr/>
        </p:nvSpPr>
        <p:spPr>
          <a:xfrm>
            <a:off x="1066800" y="3857625"/>
            <a:ext cx="4095750" cy="590550"/>
          </a:xfrm>
          <a:prstGeom prst="rect">
            <a:avLst/>
          </a:prstGeom>
          <a:noFill/>
          <a:ln w="0">
            <a:noFill/>
            <a:prstDash val="solid"/>
          </a:ln>
        </p:spPr>
        <p:txBody>
          <a:bodyPr anchor="t">
            <a:normAutofit fontScale="69312"/>
          </a:bodyPr>
          <a:lstStyle/>
          <a:p>
            <a:pPr>
              <a:buNone/>
              <a:defRPr sz="1575">
                <a:solidFill>
                  <a:srgbClr val="6C757D"/>
                </a:solidFill>
                <a:latin typeface="Aptos"/>
                <a:ea typeface="Aptos"/>
                <a:cs typeface="Aptos"/>
              </a:defRPr>
            </a:pPr>
            <a:r>
              <a:rPr sz="1575">
                <a:solidFill>
                  <a:srgbClr val="6C757D"/>
                </a:solidFill>
                <a:latin typeface="Aptos"/>
                <a:ea typeface="Aptos"/>
                <a:cs typeface="Aptos"/>
              </a:rPr>
              <a:t>When was the population affected?</a:t>
            </a:r>
          </a:p>
          <a:p>
            <a:pPr>
              <a:buNone/>
              <a:defRPr sz="1575">
                <a:solidFill>
                  <a:srgbClr val="6C757D"/>
                </a:solidFill>
                <a:latin typeface="Aptos"/>
                <a:ea typeface="Aptos"/>
                <a:cs typeface="Aptos"/>
              </a:defRPr>
            </a:pPr>
            <a:r>
              <a:rPr sz="1575">
                <a:solidFill>
                  <a:srgbClr val="6C757D"/>
                </a:solidFill>
                <a:latin typeface="Aptos"/>
                <a:ea typeface="Aptos"/>
                <a:cs typeface="Aptos"/>
              </a:rPr>
              <a:t>Where was the population affected?</a:t>
            </a:r>
          </a:p>
          <a:p>
            <a:pPr>
              <a:buNone/>
              <a:defRPr sz="1575">
                <a:solidFill>
                  <a:srgbClr val="6C757D"/>
                </a:solidFill>
                <a:latin typeface="Aptos"/>
                <a:ea typeface="Aptos"/>
                <a:cs typeface="Aptos"/>
              </a:defRPr>
            </a:pPr>
            <a:r>
              <a:rPr sz="1575">
                <a:solidFill>
                  <a:srgbClr val="6C757D"/>
                </a:solidFill>
                <a:latin typeface="Aptos"/>
                <a:ea typeface="Aptos"/>
                <a:cs typeface="Aptos"/>
              </a:rPr>
              <a:t>Who was affected?</a:t>
            </a:r>
          </a:p>
        </p:txBody>
      </p:sp>
      <p:sp>
        <p:nvSpPr>
          <p:cNvPr id="12" name="comparison-1">
            <a:extLst>
              <a:ext uri="{FF2B5EF4-FFF2-40B4-BE49-F238E27FC236}">
                <a16:creationId xmlns:a16="http://schemas.microsoft.com/office/drawing/2014/main" id="{203CCD18-3B04-4597-9E86-8278E641DB58}"/>
              </a:ext>
            </a:extLst>
          </p:cNvPr>
          <p:cNvSpPr>
            <a:spLocks noGrp="1"/>
          </p:cNvSpPr>
          <p:nvPr/>
        </p:nvSpPr>
        <p:spPr>
          <a:xfrm>
            <a:off x="6286500" y="2095500"/>
            <a:ext cx="5219700" cy="2762250"/>
          </a:xfrm>
          <a:prstGeom prst="roundRect">
            <a:avLst>
              <a:gd name="adj" fmla="val 4138"/>
            </a:avLst>
          </a:prstGeom>
          <a:solidFill>
            <a:srgbClr val="F7F8FA"/>
          </a:solidFill>
          <a:ln w="9525">
            <a:solidFill>
              <a:srgbClr val="E9EDF1"/>
            </a:solidFill>
            <a:prstDash val="solid"/>
          </a:ln>
        </p:spPr>
        <p:txBody>
          <a:bodyPr/>
          <a:lstStyle/>
          <a:p>
            <a:endParaRPr lang="en-US"/>
          </a:p>
        </p:txBody>
      </p:sp>
      <p:sp>
        <p:nvSpPr>
          <p:cNvPr id="13" name="comparison-rule-1">
            <a:extLst>
              <a:ext uri="{FF2B5EF4-FFF2-40B4-BE49-F238E27FC236}">
                <a16:creationId xmlns:a16="http://schemas.microsoft.com/office/drawing/2014/main" id="{004D2764-E8A7-48C0-B6A9-B52C2F177995}"/>
              </a:ext>
            </a:extLst>
          </p:cNvPr>
          <p:cNvSpPr>
            <a:spLocks noGrp="1"/>
          </p:cNvSpPr>
          <p:nvPr/>
        </p:nvSpPr>
        <p:spPr>
          <a:xfrm>
            <a:off x="6286500" y="2095500"/>
            <a:ext cx="5219700" cy="76200"/>
          </a:xfrm>
          <a:prstGeom prst="rect">
            <a:avLst/>
          </a:prstGeom>
          <a:solidFill>
            <a:srgbClr val="28A745"/>
          </a:solidFill>
          <a:ln w="0">
            <a:noFill/>
            <a:prstDash val="solid"/>
          </a:ln>
        </p:spPr>
        <p:txBody>
          <a:bodyPr/>
          <a:lstStyle/>
          <a:p>
            <a:endParaRPr lang="en-US"/>
          </a:p>
        </p:txBody>
      </p:sp>
      <p:sp>
        <p:nvSpPr>
          <p:cNvPr id="14" name="comparison-label-1">
            <a:extLst>
              <a:ext uri="{FF2B5EF4-FFF2-40B4-BE49-F238E27FC236}">
                <a16:creationId xmlns:a16="http://schemas.microsoft.com/office/drawing/2014/main" id="{856D1B6A-0D28-4FD3-A126-CC74097425F8}"/>
              </a:ext>
            </a:extLst>
          </p:cNvPr>
          <p:cNvSpPr>
            <a:spLocks noGrp="1"/>
          </p:cNvSpPr>
          <p:nvPr/>
        </p:nvSpPr>
        <p:spPr>
          <a:xfrm>
            <a:off x="6667500" y="2524125"/>
            <a:ext cx="1238250" cy="228600"/>
          </a:xfrm>
          <a:prstGeom prst="rect">
            <a:avLst/>
          </a:prstGeom>
          <a:noFill/>
          <a:ln w="0">
            <a:noFill/>
            <a:prstDash val="solid"/>
          </a:ln>
        </p:spPr>
        <p:txBody>
          <a:bodyPr>
            <a:normAutofit fontScale="85714"/>
          </a:bodyPr>
          <a:lstStyle/>
          <a:p>
            <a:pPr algn="l">
              <a:buNone/>
              <a:defRPr sz="1050" b="1">
                <a:solidFill>
                  <a:srgbClr val="6C757D"/>
                </a:solidFill>
                <a:latin typeface="Aptos"/>
                <a:ea typeface="Aptos"/>
                <a:cs typeface="Aptos"/>
              </a:defRPr>
            </a:pPr>
            <a:r>
              <a:rPr sz="1050" b="1">
                <a:solidFill>
                  <a:srgbClr val="6C757D"/>
                </a:solidFill>
                <a:latin typeface="Aptos"/>
                <a:ea typeface="Aptos"/>
                <a:cs typeface="Aptos"/>
              </a:rPr>
              <a:t>DETERMINANTS</a:t>
            </a:r>
          </a:p>
        </p:txBody>
      </p:sp>
      <p:sp>
        <p:nvSpPr>
          <p:cNvPr id="15" name="comparison-head-1">
            <a:extLst>
              <a:ext uri="{FF2B5EF4-FFF2-40B4-BE49-F238E27FC236}">
                <a16:creationId xmlns:a16="http://schemas.microsoft.com/office/drawing/2014/main" id="{C9B9E6DE-2A9A-46CA-BC8A-E6067C8168E2}"/>
              </a:ext>
            </a:extLst>
          </p:cNvPr>
          <p:cNvSpPr>
            <a:spLocks noGrp="1"/>
          </p:cNvSpPr>
          <p:nvPr/>
        </p:nvSpPr>
        <p:spPr>
          <a:xfrm>
            <a:off x="6667500" y="2952750"/>
            <a:ext cx="4095750" cy="609600"/>
          </a:xfrm>
          <a:prstGeom prst="rect">
            <a:avLst/>
          </a:prstGeom>
          <a:noFill/>
          <a:ln w="0">
            <a:noFill/>
            <a:prstDash val="solid"/>
          </a:ln>
        </p:spPr>
        <p:txBody>
          <a:bodyPr>
            <a:normAutofit/>
          </a:bodyPr>
          <a:lstStyle/>
          <a:p>
            <a:pPr>
              <a:buNone/>
              <a:defRPr sz="2025" b="1">
                <a:solidFill>
                  <a:srgbClr val="4E5F72"/>
                </a:solidFill>
                <a:latin typeface="Georgia"/>
                <a:ea typeface="Georgia"/>
                <a:cs typeface="Georgia"/>
              </a:defRPr>
            </a:pPr>
            <a:r>
              <a:rPr sz="2025" b="1">
                <a:solidFill>
                  <a:srgbClr val="4E5F72"/>
                </a:solidFill>
                <a:latin typeface="Georgia"/>
                <a:ea typeface="Georgia"/>
                <a:cs typeface="Georgia"/>
              </a:rPr>
              <a:t>Analytic epidemiology</a:t>
            </a:r>
          </a:p>
        </p:txBody>
      </p:sp>
      <p:sp>
        <p:nvSpPr>
          <p:cNvPr id="16" name="comparison-body-1">
            <a:extLst>
              <a:ext uri="{FF2B5EF4-FFF2-40B4-BE49-F238E27FC236}">
                <a16:creationId xmlns:a16="http://schemas.microsoft.com/office/drawing/2014/main" id="{8C5CFB04-8174-43DE-9BDD-697056EC5D96}"/>
              </a:ext>
            </a:extLst>
          </p:cNvPr>
          <p:cNvSpPr>
            <a:spLocks noGrp="1"/>
          </p:cNvSpPr>
          <p:nvPr/>
        </p:nvSpPr>
        <p:spPr>
          <a:xfrm>
            <a:off x="6667500" y="3857625"/>
            <a:ext cx="4095750" cy="590550"/>
          </a:xfrm>
          <a:prstGeom prst="rect">
            <a:avLst/>
          </a:prstGeom>
          <a:noFill/>
          <a:ln w="0">
            <a:noFill/>
            <a:prstDash val="solid"/>
          </a:ln>
        </p:spPr>
        <p:txBody>
          <a:bodyPr anchor="t">
            <a:normAutofit/>
          </a:bodyPr>
          <a:lstStyle/>
          <a:p>
            <a:pPr>
              <a:buNone/>
              <a:defRPr sz="1575">
                <a:solidFill>
                  <a:srgbClr val="6C757D"/>
                </a:solidFill>
                <a:latin typeface="Aptos"/>
                <a:ea typeface="Aptos"/>
                <a:cs typeface="Aptos"/>
              </a:defRPr>
            </a:pPr>
            <a:r>
              <a:rPr sz="1575">
                <a:solidFill>
                  <a:srgbClr val="6C757D"/>
                </a:solidFill>
                <a:latin typeface="Aptos"/>
                <a:ea typeface="Aptos"/>
                <a:cs typeface="Aptos"/>
              </a:rPr>
              <a:t>How was the population affected?</a:t>
            </a:r>
          </a:p>
          <a:p>
            <a:pPr>
              <a:buNone/>
              <a:defRPr sz="1575">
                <a:solidFill>
                  <a:srgbClr val="6C757D"/>
                </a:solidFill>
                <a:latin typeface="Aptos"/>
                <a:ea typeface="Aptos"/>
                <a:cs typeface="Aptos"/>
              </a:defRPr>
            </a:pPr>
            <a:r>
              <a:rPr sz="1575">
                <a:solidFill>
                  <a:srgbClr val="6C757D"/>
                </a:solidFill>
                <a:latin typeface="Aptos"/>
                <a:ea typeface="Aptos"/>
                <a:cs typeface="Aptos"/>
              </a:rPr>
              <a:t>Why was the population affected?</a:t>
            </a:r>
          </a:p>
        </p:txBody>
      </p:sp>
    </p:spTree>
    <p:extLst>
      <p:ext uri="{BB962C8B-B14F-4D97-AF65-F5344CB8AC3E}">
        <p14:creationId xmlns:p14="http://schemas.microsoft.com/office/powerpoint/2010/main" val="1104980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mplate-label">
            <a:extLst>
              <a:ext uri="{FF2B5EF4-FFF2-40B4-BE49-F238E27FC236}">
                <a16:creationId xmlns:a16="http://schemas.microsoft.com/office/drawing/2014/main" id="{E60B7CE5-EF2B-4026-8219-7458C00DA56C}"/>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B0419E-C5B8-4DE1-A8F4-7EA3492EE8D6}"/>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206B839E-C302-4915-B8AB-7F43BC265118}"/>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3FC5FC40-9B2E-4F9B-BAFE-FF33B14D726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HISTORICAL EXAMPLE</a:t>
            </a:r>
          </a:p>
        </p:txBody>
      </p:sp>
      <p:sp>
        <p:nvSpPr>
          <p:cNvPr id="5" name="slide-number">
            <a:extLst>
              <a:ext uri="{FF2B5EF4-FFF2-40B4-BE49-F238E27FC236}">
                <a16:creationId xmlns:a16="http://schemas.microsoft.com/office/drawing/2014/main" id="{9E9313E4-4510-421C-842F-02F7B7556456}"/>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20</a:t>
            </a:r>
          </a:p>
        </p:txBody>
      </p:sp>
      <p:sp>
        <p:nvSpPr>
          <p:cNvPr id="6" name="title">
            <a:extLst>
              <a:ext uri="{FF2B5EF4-FFF2-40B4-BE49-F238E27FC236}">
                <a16:creationId xmlns:a16="http://schemas.microsoft.com/office/drawing/2014/main" id="{312ED333-B76B-4A23-872C-F1552FF78E09}"/>
              </a:ext>
            </a:extLst>
          </p:cNvPr>
          <p:cNvSpPr>
            <a:spLocks noGrp="1"/>
          </p:cNvSpPr>
          <p:nvPr/>
        </p:nvSpPr>
        <p:spPr>
          <a:xfrm>
            <a:off x="685800" y="1162050"/>
            <a:ext cx="3905250" cy="876300"/>
          </a:xfrm>
          <a:prstGeom prst="rect">
            <a:avLst/>
          </a:prstGeom>
          <a:noFill/>
          <a:ln w="0">
            <a:noFill/>
            <a:prstDash val="solid"/>
          </a:ln>
        </p:spPr>
        <p:txBody>
          <a:bodyPr/>
          <a:lstStyle/>
          <a:p>
            <a:pPr>
              <a:buNone/>
              <a:defRPr sz="2550" b="1">
                <a:solidFill>
                  <a:srgbClr val="203044"/>
                </a:solidFill>
                <a:latin typeface="Aptos"/>
                <a:ea typeface="Aptos"/>
                <a:cs typeface="Aptos"/>
              </a:defRPr>
            </a:pPr>
            <a:r>
              <a:rPr sz="2550" b="1">
                <a:solidFill>
                  <a:srgbClr val="203044"/>
                </a:solidFill>
                <a:latin typeface="Aptos"/>
                <a:ea typeface="Aptos"/>
                <a:cs typeface="Aptos"/>
              </a:rPr>
              <a:t>Cholera Outbreak In London</a:t>
            </a:r>
          </a:p>
        </p:txBody>
      </p:sp>
      <p:sp>
        <p:nvSpPr>
          <p:cNvPr id="7" name="body">
            <a:extLst>
              <a:ext uri="{FF2B5EF4-FFF2-40B4-BE49-F238E27FC236}">
                <a16:creationId xmlns:a16="http://schemas.microsoft.com/office/drawing/2014/main" id="{578B2320-8FC6-4B1E-87EA-2DCA805B779D}"/>
              </a:ext>
            </a:extLst>
          </p:cNvPr>
          <p:cNvSpPr>
            <a:spLocks noGrp="1"/>
          </p:cNvSpPr>
          <p:nvPr/>
        </p:nvSpPr>
        <p:spPr>
          <a:xfrm>
            <a:off x="685800" y="2143125"/>
            <a:ext cx="4333875" cy="3143250"/>
          </a:xfrm>
          <a:prstGeom prst="rect">
            <a:avLst/>
          </a:prstGeom>
          <a:noFill/>
          <a:ln w="0">
            <a:noFill/>
            <a:prstDash val="solid"/>
          </a:ln>
        </p:spPr>
        <p:txBody>
          <a:bodyPr anchor="t">
            <a:normAutofit/>
          </a:bodyPr>
          <a:lstStyle/>
          <a:p>
            <a:pPr>
              <a:lnSpc>
                <a:spcPct val="102000"/>
              </a:lnSpc>
              <a:buNone/>
              <a:defRPr sz="1425">
                <a:solidFill>
                  <a:srgbClr val="26364A"/>
                </a:solidFill>
                <a:latin typeface="Aptos"/>
                <a:ea typeface="Aptos"/>
                <a:cs typeface="Aptos"/>
              </a:defRPr>
            </a:pPr>
            <a:r>
              <a:rPr sz="1425" b="1">
                <a:solidFill>
                  <a:srgbClr val="26364A"/>
                </a:solidFill>
                <a:latin typeface="Aptos"/>
                <a:ea typeface="Aptos"/>
                <a:cs typeface="Aptos"/>
              </a:rPr>
              <a:t>Cholera Symptoms</a:t>
            </a:r>
          </a:p>
          <a:p>
            <a:pPr marL="20" indent="-12">
              <a:lnSpc>
                <a:spcPct val="102000"/>
              </a:lnSpc>
              <a:buNone/>
              <a:defRPr sz="1425">
                <a:solidFill>
                  <a:srgbClr val="26364A"/>
                </a:solidFill>
                <a:latin typeface="Aptos"/>
                <a:ea typeface="Aptos"/>
                <a:cs typeface="Aptos"/>
              </a:defRPr>
            </a:pPr>
            <a:r>
              <a:rPr sz="1425">
                <a:solidFill>
                  <a:srgbClr val="26364A"/>
                </a:solidFill>
                <a:latin typeface="Aptos"/>
                <a:ea typeface="Aptos"/>
                <a:cs typeface="Aptos"/>
              </a:rPr>
              <a:t>Cholera is an extremely virulent disease that can cause severe acute watery diarrhea.</a:t>
            </a:r>
          </a:p>
          <a:p>
            <a:pPr marL="20" indent="-12">
              <a:lnSpc>
                <a:spcPct val="102000"/>
              </a:lnSpc>
              <a:buNone/>
              <a:defRPr sz="1425">
                <a:solidFill>
                  <a:srgbClr val="26364A"/>
                </a:solidFill>
                <a:latin typeface="Aptos"/>
                <a:ea typeface="Aptos"/>
                <a:cs typeface="Aptos"/>
              </a:defRPr>
            </a:pPr>
            <a:r>
              <a:rPr sz="1425">
                <a:solidFill>
                  <a:srgbClr val="26364A"/>
                </a:solidFill>
                <a:latin typeface="Aptos"/>
                <a:ea typeface="Aptos"/>
                <a:cs typeface="Aptos"/>
              </a:rPr>
              <a:t>Cholera affects both children and adults and can kill within hours if untreated.</a:t>
            </a:r>
          </a:p>
          <a:p>
            <a:pPr marL="20" indent="-12">
              <a:lnSpc>
                <a:spcPct val="102000"/>
              </a:lnSpc>
              <a:buNone/>
              <a:defRPr sz="1425">
                <a:solidFill>
                  <a:srgbClr val="26364A"/>
                </a:solidFill>
                <a:latin typeface="Aptos"/>
                <a:ea typeface="Aptos"/>
                <a:cs typeface="Aptos"/>
              </a:defRPr>
            </a:pPr>
            <a:r>
              <a:rPr sz="1425">
                <a:solidFill>
                  <a:srgbClr val="26364A"/>
                </a:solidFill>
                <a:latin typeface="Aptos"/>
                <a:ea typeface="Aptos"/>
                <a:cs typeface="Aptos"/>
              </a:rPr>
              <a:t>It takes between 12 hours and 5 days for a person to show symptoms after ingesting contaminated food or water.</a:t>
            </a:r>
          </a:p>
        </p:txBody>
      </p:sp>
      <p:sp>
        <p:nvSpPr>
          <p:cNvPr id="8" name="caption">
            <a:extLst>
              <a:ext uri="{FF2B5EF4-FFF2-40B4-BE49-F238E27FC236}">
                <a16:creationId xmlns:a16="http://schemas.microsoft.com/office/drawing/2014/main" id="{CD89B906-5C7B-454A-8428-B1BCFEA04AE0}"/>
              </a:ext>
            </a:extLst>
          </p:cNvPr>
          <p:cNvSpPr>
            <a:spLocks noGrp="1"/>
          </p:cNvSpPr>
          <p:nvPr/>
        </p:nvSpPr>
        <p:spPr>
          <a:xfrm>
            <a:off x="685800" y="4762500"/>
            <a:ext cx="3905250" cy="400050"/>
          </a:xfrm>
          <a:prstGeom prst="rect">
            <a:avLst/>
          </a:prstGeom>
          <a:noFill/>
          <a:ln w="0">
            <a:noFill/>
            <a:prstDash val="solid"/>
          </a:ln>
        </p:spPr>
        <p:txBody>
          <a:bodyPr/>
          <a:lstStyle/>
          <a:p>
            <a:pPr>
              <a:buNone/>
              <a:defRPr sz="1200" b="1">
                <a:solidFill>
                  <a:srgbClr val="4E5F72"/>
                </a:solidFill>
                <a:latin typeface="Aptos"/>
                <a:ea typeface="Aptos"/>
                <a:cs typeface="Aptos"/>
              </a:defRPr>
            </a:pPr>
            <a:endParaRPr/>
          </a:p>
        </p:txBody>
      </p:sp>
      <p:pic>
        <p:nvPicPr>
          <p:cNvPr id="20" name="Picture 19"/>
          <p:cNvPicPr>
            <a:picLocks noChangeAspect="1"/>
          </p:cNvPicPr>
          <p:nvPr/>
        </p:nvPicPr>
        <p:blipFill>
          <a:blip r:embed="rId3"/>
          <a:stretch/>
        </p:blipFill>
        <p:spPr>
          <a:xfrm>
            <a:off x="6762750" y="1762125"/>
            <a:ext cx="2857500" cy="4286250"/>
          </a:xfrm>
          <a:prstGeom prst="rect">
            <a:avLst/>
          </a:prstGeom>
        </p:spPr>
      </p:pic>
    </p:spTree>
    <p:extLst>
      <p:ext uri="{BB962C8B-B14F-4D97-AF65-F5344CB8AC3E}">
        <p14:creationId xmlns:p14="http://schemas.microsoft.com/office/powerpoint/2010/main" val="670783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emplate-label">
            <a:extLst>
              <a:ext uri="{FF2B5EF4-FFF2-40B4-BE49-F238E27FC236}">
                <a16:creationId xmlns:a16="http://schemas.microsoft.com/office/drawing/2014/main" id="{D37C8A68-70F1-4D9B-AD11-F6B8F4C5FD4A}"/>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648793-2D85-4051-82E7-CD63A4BD8699}"/>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7C1277DC-1885-4C95-AC0F-176D00A840C2}"/>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CBB093EB-7C58-4256-813B-3BCED3ED263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MICRO-ACTIVITY</a:t>
            </a:r>
          </a:p>
        </p:txBody>
      </p:sp>
      <p:sp>
        <p:nvSpPr>
          <p:cNvPr id="5" name="slide-number">
            <a:extLst>
              <a:ext uri="{FF2B5EF4-FFF2-40B4-BE49-F238E27FC236}">
                <a16:creationId xmlns:a16="http://schemas.microsoft.com/office/drawing/2014/main" id="{162DE736-C6D4-4D25-8311-EE34F939D48D}"/>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21</a:t>
            </a:r>
          </a:p>
        </p:txBody>
      </p:sp>
      <p:sp>
        <p:nvSpPr>
          <p:cNvPr id="6" name="title">
            <a:extLst>
              <a:ext uri="{FF2B5EF4-FFF2-40B4-BE49-F238E27FC236}">
                <a16:creationId xmlns:a16="http://schemas.microsoft.com/office/drawing/2014/main" id="{C659B037-8B3B-4C95-BB63-4A8E1AA20107}"/>
              </a:ext>
            </a:extLst>
          </p:cNvPr>
          <p:cNvSpPr>
            <a:spLocks noGrp="1"/>
          </p:cNvSpPr>
          <p:nvPr/>
        </p:nvSpPr>
        <p:spPr>
          <a:xfrm>
            <a:off x="685800" y="1162050"/>
            <a:ext cx="8572500" cy="476250"/>
          </a:xfrm>
          <a:prstGeom prst="rect">
            <a:avLst/>
          </a:prstGeom>
          <a:noFill/>
          <a:ln w="0">
            <a:noFill/>
            <a:prstDash val="solid"/>
          </a:ln>
        </p:spPr>
        <p:txBody>
          <a:bodyPr/>
          <a:lstStyle/>
          <a:p>
            <a:pPr>
              <a:buNone/>
              <a:defRPr sz="2700" b="1">
                <a:solidFill>
                  <a:srgbClr val="203044"/>
                </a:solidFill>
                <a:latin typeface="Aptos"/>
                <a:ea typeface="Aptos"/>
                <a:cs typeface="Aptos"/>
              </a:defRPr>
            </a:pPr>
            <a:r>
              <a:rPr sz="2700" b="1">
                <a:solidFill>
                  <a:srgbClr val="203044"/>
                </a:solidFill>
                <a:latin typeface="Aptos"/>
                <a:ea typeface="Aptos"/>
                <a:cs typeface="Aptos"/>
              </a:rPr>
              <a:t>Micro-Activity: Thinking Like an Epidemiologist</a:t>
            </a:r>
          </a:p>
        </p:txBody>
      </p:sp>
      <p:sp>
        <p:nvSpPr>
          <p:cNvPr id="7" name="step-num-bg-0">
            <a:extLst>
              <a:ext uri="{FF2B5EF4-FFF2-40B4-BE49-F238E27FC236}">
                <a16:creationId xmlns:a16="http://schemas.microsoft.com/office/drawing/2014/main" id="{A222FB55-1171-4632-B149-8F3A992E8554}"/>
              </a:ext>
            </a:extLst>
          </p:cNvPr>
          <p:cNvSpPr>
            <a:spLocks noGrp="1"/>
          </p:cNvSpPr>
          <p:nvPr/>
        </p:nvSpPr>
        <p:spPr>
          <a:xfrm>
            <a:off x="685800" y="1838325"/>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9" name="step-0">
            <a:extLst>
              <a:ext uri="{FF2B5EF4-FFF2-40B4-BE49-F238E27FC236}">
                <a16:creationId xmlns:a16="http://schemas.microsoft.com/office/drawing/2014/main" id="{2A9CC6D4-0C75-4B57-803D-C3704901ABA7}"/>
              </a:ext>
            </a:extLst>
          </p:cNvPr>
          <p:cNvSpPr>
            <a:spLocks noGrp="1"/>
          </p:cNvSpPr>
          <p:nvPr/>
        </p:nvSpPr>
        <p:spPr>
          <a:xfrm>
            <a:off x="1314450" y="1809750"/>
            <a:ext cx="9906000" cy="952500"/>
          </a:xfrm>
          <a:prstGeom prst="rect">
            <a:avLst/>
          </a:prstGeom>
          <a:noFill/>
          <a:ln w="0">
            <a:noFill/>
            <a:prstDash val="solid"/>
          </a:ln>
        </p:spPr>
        <p:txBody>
          <a:bodyPr anchor="t">
            <a:normAutofit/>
          </a:bodyPr>
          <a:lstStyle/>
          <a:p>
            <a:pPr>
              <a:lnSpc>
                <a:spcPct val="105000"/>
              </a:lnSpc>
              <a:buNone/>
              <a:defRPr sz="1500" b="0">
                <a:solidFill>
                  <a:srgbClr val="26364A"/>
                </a:solidFill>
                <a:latin typeface="Aptos"/>
                <a:ea typeface="Aptos"/>
                <a:cs typeface="Aptos"/>
              </a:defRPr>
            </a:pPr>
            <a:r>
              <a:rPr sz="1500" b="0">
                <a:solidFill>
                  <a:srgbClr val="26364A"/>
                </a:solidFill>
                <a:latin typeface="Aptos"/>
                <a:ea typeface="Aptos"/>
                <a:cs typeface="Aptos"/>
              </a:rPr>
              <a:t>Watch the short video on John Snow and cholera.</a:t>
            </a:r>
          </a:p>
          <a:p>
            <a:pPr>
              <a:lnSpc>
                <a:spcPct val="105000"/>
              </a:lnSpc>
              <a:buNone/>
              <a:defRPr sz="1500" b="0">
                <a:solidFill>
                  <a:srgbClr val="26364A"/>
                </a:solidFill>
                <a:latin typeface="Aptos"/>
                <a:ea typeface="Aptos"/>
                <a:cs typeface="Aptos"/>
              </a:defRPr>
            </a:pPr>
            <a:r>
              <a:rPr sz="1500" b="0" u="sng">
                <a:solidFill>
                  <a:srgbClr val="26364A"/>
                </a:solidFill>
                <a:latin typeface="Aptos"/>
                <a:ea typeface="Aptos"/>
                <a:cs typeface="Aptos"/>
                <a:hlinkClick r:id="rId3"/>
              </a:rPr>
              <a:t>John Snow: Pioneer of Epidemiology</a:t>
            </a:r>
          </a:p>
        </p:txBody>
      </p:sp>
      <p:sp>
        <p:nvSpPr>
          <p:cNvPr id="10" name="step-num-bg-1">
            <a:extLst>
              <a:ext uri="{FF2B5EF4-FFF2-40B4-BE49-F238E27FC236}">
                <a16:creationId xmlns:a16="http://schemas.microsoft.com/office/drawing/2014/main" id="{EB34FC12-D67E-43AE-A1D7-38DDE6D52DE3}"/>
              </a:ext>
            </a:extLst>
          </p:cNvPr>
          <p:cNvSpPr>
            <a:spLocks noGrp="1"/>
          </p:cNvSpPr>
          <p:nvPr/>
        </p:nvSpPr>
        <p:spPr>
          <a:xfrm>
            <a:off x="685800" y="3171825"/>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2" name="step-1">
            <a:extLst>
              <a:ext uri="{FF2B5EF4-FFF2-40B4-BE49-F238E27FC236}">
                <a16:creationId xmlns:a16="http://schemas.microsoft.com/office/drawing/2014/main" id="{04B12E8E-B377-411A-BD0F-3AE4C6F3F5AF}"/>
              </a:ext>
            </a:extLst>
          </p:cNvPr>
          <p:cNvSpPr>
            <a:spLocks noGrp="1"/>
          </p:cNvSpPr>
          <p:nvPr/>
        </p:nvSpPr>
        <p:spPr>
          <a:xfrm>
            <a:off x="1314450" y="3143250"/>
            <a:ext cx="9906000" cy="1095375"/>
          </a:xfrm>
          <a:prstGeom prst="rect">
            <a:avLst/>
          </a:prstGeom>
          <a:noFill/>
          <a:ln w="0">
            <a:noFill/>
            <a:prstDash val="solid"/>
          </a:ln>
        </p:spPr>
        <p:txBody>
          <a:bodyPr anchor="t">
            <a:normAutofit/>
          </a:bodyPr>
          <a:lstStyle/>
          <a:p>
            <a:pPr>
              <a:lnSpc>
                <a:spcPct val="105000"/>
              </a:lnSpc>
              <a:buNone/>
              <a:defRPr sz="1500" b="0">
                <a:solidFill>
                  <a:srgbClr val="26364A"/>
                </a:solidFill>
                <a:latin typeface="Aptos"/>
                <a:ea typeface="Aptos"/>
                <a:cs typeface="Aptos"/>
              </a:defRPr>
            </a:pPr>
            <a:r>
              <a:rPr sz="1500" b="0">
                <a:solidFill>
                  <a:srgbClr val="26364A"/>
                </a:solidFill>
                <a:latin typeface="Aptos"/>
                <a:ea typeface="Aptos"/>
                <a:cs typeface="Aptos"/>
              </a:rPr>
              <a:t>As you watch, focus on these questions:</a:t>
            </a:r>
          </a:p>
          <a:p>
            <a:pPr>
              <a:lnSpc>
                <a:spcPct val="105000"/>
              </a:lnSpc>
              <a:buNone/>
              <a:defRPr sz="1500" b="0">
                <a:solidFill>
                  <a:srgbClr val="26364A"/>
                </a:solidFill>
                <a:latin typeface="Aptos"/>
                <a:ea typeface="Aptos"/>
                <a:cs typeface="Aptos"/>
              </a:defRPr>
            </a:pPr>
            <a:r>
              <a:rPr sz="1500" b="0">
                <a:solidFill>
                  <a:srgbClr val="26364A"/>
                </a:solidFill>
                <a:latin typeface="Aptos"/>
                <a:ea typeface="Aptos"/>
                <a:cs typeface="Aptos"/>
              </a:rPr>
              <a:t>What patterns did Snow observe?</a:t>
            </a:r>
          </a:p>
          <a:p>
            <a:pPr>
              <a:lnSpc>
                <a:spcPct val="105000"/>
              </a:lnSpc>
              <a:buNone/>
              <a:defRPr sz="1500" b="0">
                <a:solidFill>
                  <a:srgbClr val="26364A"/>
                </a:solidFill>
                <a:latin typeface="Aptos"/>
                <a:ea typeface="Aptos"/>
                <a:cs typeface="Aptos"/>
              </a:defRPr>
            </a:pPr>
            <a:r>
              <a:rPr sz="1500" b="0">
                <a:solidFill>
                  <a:srgbClr val="26364A"/>
                </a:solidFill>
                <a:latin typeface="Aptos"/>
                <a:ea typeface="Aptos"/>
                <a:cs typeface="Aptos"/>
              </a:rPr>
              <a:t>(Who, where, when — descriptive epidemiology)</a:t>
            </a:r>
          </a:p>
        </p:txBody>
      </p:sp>
      <p:sp>
        <p:nvSpPr>
          <p:cNvPr id="13" name="step-num-bg-2">
            <a:extLst>
              <a:ext uri="{FF2B5EF4-FFF2-40B4-BE49-F238E27FC236}">
                <a16:creationId xmlns:a16="http://schemas.microsoft.com/office/drawing/2014/main" id="{E52969C1-D994-4841-9976-B9208BFCAA7B}"/>
              </a:ext>
            </a:extLst>
          </p:cNvPr>
          <p:cNvSpPr>
            <a:spLocks noGrp="1"/>
          </p:cNvSpPr>
          <p:nvPr/>
        </p:nvSpPr>
        <p:spPr>
          <a:xfrm>
            <a:off x="685800" y="4552950"/>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15" name="step-2">
            <a:extLst>
              <a:ext uri="{FF2B5EF4-FFF2-40B4-BE49-F238E27FC236}">
                <a16:creationId xmlns:a16="http://schemas.microsoft.com/office/drawing/2014/main" id="{C067F89D-35B3-432E-BB59-D27AC06DF423}"/>
              </a:ext>
            </a:extLst>
          </p:cNvPr>
          <p:cNvSpPr>
            <a:spLocks noGrp="1"/>
          </p:cNvSpPr>
          <p:nvPr/>
        </p:nvSpPr>
        <p:spPr>
          <a:xfrm>
            <a:off x="1314450" y="4524375"/>
            <a:ext cx="9906000" cy="1190625"/>
          </a:xfrm>
          <a:prstGeom prst="rect">
            <a:avLst/>
          </a:prstGeom>
          <a:noFill/>
          <a:ln w="0">
            <a:noFill/>
            <a:prstDash val="solid"/>
          </a:ln>
        </p:spPr>
        <p:txBody>
          <a:bodyPr anchor="t">
            <a:normAutofit/>
          </a:bodyPr>
          <a:lstStyle/>
          <a:p>
            <a:pPr>
              <a:lnSpc>
                <a:spcPct val="105000"/>
              </a:lnSpc>
              <a:buNone/>
              <a:defRPr sz="1425" b="1">
                <a:solidFill>
                  <a:srgbClr val="26364A"/>
                </a:solidFill>
                <a:latin typeface="Aptos"/>
                <a:ea typeface="Aptos"/>
                <a:cs typeface="Aptos"/>
              </a:defRPr>
            </a:pPr>
            <a:r>
              <a:rPr sz="1425" b="1">
                <a:solidFill>
                  <a:srgbClr val="26364A"/>
                </a:solidFill>
                <a:latin typeface="Aptos"/>
                <a:ea typeface="Aptos"/>
                <a:cs typeface="Aptos"/>
              </a:rPr>
              <a:t>What explanation was he testing?</a:t>
            </a:r>
          </a:p>
          <a:p>
            <a:pPr>
              <a:lnSpc>
                <a:spcPct val="105000"/>
              </a:lnSpc>
              <a:buNone/>
              <a:defRPr sz="1425" b="1">
                <a:solidFill>
                  <a:srgbClr val="26364A"/>
                </a:solidFill>
                <a:latin typeface="Aptos"/>
                <a:ea typeface="Aptos"/>
                <a:cs typeface="Aptos"/>
              </a:defRPr>
            </a:pPr>
            <a:r>
              <a:rPr sz="1425" b="1">
                <a:solidFill>
                  <a:srgbClr val="26364A"/>
                </a:solidFill>
                <a:latin typeface="Aptos"/>
                <a:ea typeface="Aptos"/>
                <a:cs typeface="Aptos"/>
              </a:rPr>
              <a:t>(How, why — analytic epidemiology)</a:t>
            </a:r>
          </a:p>
          <a:p>
            <a:pPr>
              <a:lnSpc>
                <a:spcPct val="105000"/>
              </a:lnSpc>
              <a:buNone/>
              <a:defRPr sz="1425" b="1">
                <a:solidFill>
                  <a:srgbClr val="26364A"/>
                </a:solidFill>
                <a:latin typeface="Aptos"/>
                <a:ea typeface="Aptos"/>
                <a:cs typeface="Aptos"/>
              </a:defRPr>
            </a:pPr>
            <a:r>
              <a:rPr sz="1425" b="1">
                <a:solidFill>
                  <a:srgbClr val="26364A"/>
                </a:solidFill>
                <a:latin typeface="Aptos"/>
                <a:ea typeface="Aptos"/>
                <a:cs typeface="Aptos"/>
              </a:rPr>
              <a:t>Descriptive epidemiology comes first, analytic epidemiology builds on it.</a:t>
            </a:r>
          </a:p>
        </p:txBody>
      </p:sp>
    </p:spTree>
    <p:extLst>
      <p:ext uri="{BB962C8B-B14F-4D97-AF65-F5344CB8AC3E}">
        <p14:creationId xmlns:p14="http://schemas.microsoft.com/office/powerpoint/2010/main" val="6207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mplate-label">
            <a:extLst>
              <a:ext uri="{FF2B5EF4-FFF2-40B4-BE49-F238E27FC236}">
                <a16:creationId xmlns:a16="http://schemas.microsoft.com/office/drawing/2014/main" id="{7B246BF8-3CFC-4856-975D-50FFFEAA8A15}"/>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3CA76552-CB89-4DFF-920D-14B1DF80984C}"/>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5EDB09F6-A3CC-4A4C-9C3D-2FECDFA8B484}"/>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69E66B11-5C1C-48AE-8AC8-28F7E2559416}"/>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HISTORY / KEY EVENTS</a:t>
            </a:r>
          </a:p>
        </p:txBody>
      </p:sp>
      <p:sp>
        <p:nvSpPr>
          <p:cNvPr id="5" name="slide-number">
            <a:extLst>
              <a:ext uri="{FF2B5EF4-FFF2-40B4-BE49-F238E27FC236}">
                <a16:creationId xmlns:a16="http://schemas.microsoft.com/office/drawing/2014/main" id="{1C09A0E1-DD42-43BB-971C-E4F47E367596}"/>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22</a:t>
            </a:r>
          </a:p>
        </p:txBody>
      </p:sp>
      <p:sp>
        <p:nvSpPr>
          <p:cNvPr id="6" name="title">
            <a:extLst>
              <a:ext uri="{FF2B5EF4-FFF2-40B4-BE49-F238E27FC236}">
                <a16:creationId xmlns:a16="http://schemas.microsoft.com/office/drawing/2014/main" id="{1EF3BCCC-D303-4A39-8BAB-CBA44D95D8D6}"/>
              </a:ext>
            </a:extLst>
          </p:cNvPr>
          <p:cNvSpPr>
            <a:spLocks noGrp="1"/>
          </p:cNvSpPr>
          <p:nvPr/>
        </p:nvSpPr>
        <p:spPr>
          <a:xfrm>
            <a:off x="685800" y="1162050"/>
            <a:ext cx="8477250" cy="476250"/>
          </a:xfrm>
          <a:prstGeom prst="rect">
            <a:avLst/>
          </a:prstGeom>
          <a:noFill/>
          <a:ln w="0">
            <a:noFill/>
            <a:prstDash val="solid"/>
          </a:ln>
        </p:spPr>
        <p:txBody>
          <a:bodyPr/>
          <a:lstStyle/>
          <a:p>
            <a:pPr>
              <a:buNone/>
              <a:defRPr sz="2625" b="1">
                <a:solidFill>
                  <a:srgbClr val="203044"/>
                </a:solidFill>
                <a:latin typeface="Aptos"/>
                <a:ea typeface="Aptos"/>
                <a:cs typeface="Aptos"/>
              </a:defRPr>
            </a:pPr>
            <a:r>
              <a:rPr sz="2625" b="1">
                <a:solidFill>
                  <a:srgbClr val="203044"/>
                </a:solidFill>
                <a:latin typeface="Aptos"/>
                <a:ea typeface="Aptos"/>
                <a:cs typeface="Aptos"/>
              </a:rPr>
              <a:t>History of Epidemiology: Key Events</a:t>
            </a:r>
          </a:p>
        </p:txBody>
      </p:sp>
      <p:graphicFrame>
        <p:nvGraphicFramePr>
          <p:cNvPr id="20" name="Table 19"/>
          <p:cNvGraphicFramePr/>
          <p:nvPr/>
        </p:nvGraphicFramePr>
        <p:xfrm>
          <a:off x="685800" y="1857375"/>
          <a:ext cx="10820400" cy="4000504"/>
        </p:xfrm>
        <a:graphic>
          <a:graphicData uri="http://schemas.openxmlformats.org/drawingml/2006/table">
            <a:tbl>
              <a:tblPr/>
              <a:tblGrid>
                <a:gridCol w="23812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7058025">
                  <a:extLst>
                    <a:ext uri="{9D8B030D-6E8A-4147-A177-3AD203B41FA5}">
                      <a16:colId xmlns:a16="http://schemas.microsoft.com/office/drawing/2014/main" val="20002"/>
                    </a:ext>
                  </a:extLst>
                </a:gridCol>
              </a:tblGrid>
              <a:tr h="500063">
                <a:tc>
                  <a:txBody>
                    <a:bodyPr/>
                    <a:lstStyle/>
                    <a:p>
                      <a:r>
                        <a:rPr sz="1125" b="1">
                          <a:solidFill>
                            <a:srgbClr val="FFFFFF"/>
                          </a:solidFill>
                          <a:latin typeface="Aptos"/>
                          <a:ea typeface="Aptos"/>
                          <a:cs typeface="Aptos"/>
                        </a:rPr>
                        <a:t>Event</a:t>
                      </a:r>
                    </a:p>
                  </a:txBody>
                  <a:tcPr marL="76200" marR="76200" marT="38100" marB="38100" anchor="ctr">
                    <a:solidFill>
                      <a:srgbClr val="4E5F72"/>
                    </a:solidFill>
                  </a:tcPr>
                </a:tc>
                <a:tc>
                  <a:txBody>
                    <a:bodyPr/>
                    <a:lstStyle/>
                    <a:p>
                      <a:r>
                        <a:rPr sz="1125" b="1">
                          <a:solidFill>
                            <a:srgbClr val="FFFFFF"/>
                          </a:solidFill>
                          <a:latin typeface="Aptos"/>
                          <a:ea typeface="Aptos"/>
                          <a:cs typeface="Aptos"/>
                        </a:rPr>
                        <a:t>Time Period</a:t>
                      </a:r>
                    </a:p>
                  </a:txBody>
                  <a:tcPr marL="76200" marR="76200" marT="38100" marB="38100" anchor="ctr">
                    <a:solidFill>
                      <a:srgbClr val="4E5F72"/>
                    </a:solidFill>
                  </a:tcPr>
                </a:tc>
                <a:tc>
                  <a:txBody>
                    <a:bodyPr/>
                    <a:lstStyle/>
                    <a:p>
                      <a:r>
                        <a:rPr sz="1125" b="1">
                          <a:solidFill>
                            <a:srgbClr val="FFFFFF"/>
                          </a:solidFill>
                          <a:latin typeface="Aptos"/>
                          <a:ea typeface="Aptos"/>
                          <a:cs typeface="Aptos"/>
                        </a:rPr>
                        <a:t>Description</a:t>
                      </a:r>
                    </a:p>
                  </a:txBody>
                  <a:tcPr marL="76200" marR="76200" marT="38100" marB="38100" anchor="ctr">
                    <a:solidFill>
                      <a:srgbClr val="4E5F72"/>
                    </a:solidFill>
                  </a:tcPr>
                </a:tc>
                <a:extLst>
                  <a:ext uri="{0D108BD9-81ED-4DB2-BD59-A6C34878D82A}">
                    <a16:rowId xmlns:a16="http://schemas.microsoft.com/office/drawing/2014/main" val="10000"/>
                  </a:ext>
                </a:extLst>
              </a:tr>
              <a:tr h="500063">
                <a:tc>
                  <a:txBody>
                    <a:bodyPr/>
                    <a:lstStyle/>
                    <a:p>
                      <a:r>
                        <a:rPr sz="1050">
                          <a:solidFill>
                            <a:srgbClr val="26364A"/>
                          </a:solidFill>
                          <a:latin typeface="Aptos"/>
                          <a:ea typeface="Aptos"/>
                          <a:cs typeface="Aptos"/>
                        </a:rPr>
                        <a:t>Bubonic Plague Epidemics (Black Death)</a:t>
                      </a:r>
                    </a:p>
                  </a:txBody>
                  <a:tcPr marL="76200" marR="76200" marT="38100" marB="38100" anchor="ctr">
                    <a:solidFill>
                      <a:srgbClr val="FFFFFF"/>
                    </a:solidFill>
                  </a:tcPr>
                </a:tc>
                <a:tc>
                  <a:txBody>
                    <a:bodyPr/>
                    <a:lstStyle/>
                    <a:p>
                      <a:r>
                        <a:rPr sz="1050">
                          <a:solidFill>
                            <a:srgbClr val="26364A"/>
                          </a:solidFill>
                          <a:latin typeface="Aptos"/>
                          <a:ea typeface="Aptos"/>
                          <a:cs typeface="Aptos"/>
                        </a:rPr>
                        <a:t>1347 - 1351</a:t>
                      </a:r>
                    </a:p>
                  </a:txBody>
                  <a:tcPr marL="76200" marR="76200" marT="38100" marB="38100" anchor="ctr">
                    <a:solidFill>
                      <a:srgbClr val="FFFFFF"/>
                    </a:solidFill>
                  </a:tcPr>
                </a:tc>
                <a:tc>
                  <a:txBody>
                    <a:bodyPr/>
                    <a:lstStyle/>
                    <a:p>
                      <a:r>
                        <a:rPr sz="1050">
                          <a:solidFill>
                            <a:srgbClr val="26364A"/>
                          </a:solidFill>
                          <a:latin typeface="Aptos"/>
                          <a:ea typeface="Aptos"/>
                          <a:cs typeface="Aptos"/>
                        </a:rPr>
                        <a:t>One of the deadliest pandemics, causing 75–200 million deaths in Eurasia.</a:t>
                      </a:r>
                    </a:p>
                  </a:txBody>
                  <a:tcPr marL="76200" marR="76200" marT="38100" marB="38100" anchor="ctr">
                    <a:solidFill>
                      <a:srgbClr val="FFFFFF"/>
                    </a:solidFill>
                  </a:tcPr>
                </a:tc>
                <a:extLst>
                  <a:ext uri="{0D108BD9-81ED-4DB2-BD59-A6C34878D82A}">
                    <a16:rowId xmlns:a16="http://schemas.microsoft.com/office/drawing/2014/main" val="10001"/>
                  </a:ext>
                </a:extLst>
              </a:tr>
              <a:tr h="500063">
                <a:tc>
                  <a:txBody>
                    <a:bodyPr/>
                    <a:lstStyle/>
                    <a:p>
                      <a:r>
                        <a:rPr sz="1050">
                          <a:solidFill>
                            <a:srgbClr val="26364A"/>
                          </a:solidFill>
                          <a:latin typeface="Aptos"/>
                          <a:ea typeface="Aptos"/>
                          <a:cs typeface="Aptos"/>
                        </a:rPr>
                        <a:t>Development of Toxicology</a:t>
                      </a:r>
                    </a:p>
                  </a:txBody>
                  <a:tcPr marL="76200" marR="76200" marT="38100" marB="38100" anchor="ctr">
                    <a:solidFill>
                      <a:srgbClr val="F4F6F8"/>
                    </a:solidFill>
                  </a:tcPr>
                </a:tc>
                <a:tc>
                  <a:txBody>
                    <a:bodyPr/>
                    <a:lstStyle/>
                    <a:p>
                      <a:r>
                        <a:rPr sz="1050">
                          <a:solidFill>
                            <a:srgbClr val="26364A"/>
                          </a:solidFill>
                          <a:latin typeface="Aptos"/>
                          <a:ea typeface="Aptos"/>
                          <a:cs typeface="Aptos"/>
                        </a:rPr>
                        <a:t>16th Century</a:t>
                      </a:r>
                    </a:p>
                  </a:txBody>
                  <a:tcPr marL="76200" marR="76200" marT="38100" marB="38100" anchor="ctr">
                    <a:solidFill>
                      <a:srgbClr val="F4F6F8"/>
                    </a:solidFill>
                  </a:tcPr>
                </a:tc>
                <a:tc>
                  <a:txBody>
                    <a:bodyPr/>
                    <a:lstStyle/>
                    <a:p>
                      <a:r>
                        <a:rPr sz="1050">
                          <a:solidFill>
                            <a:srgbClr val="26364A"/>
                          </a:solidFill>
                          <a:latin typeface="Aptos"/>
                          <a:ea typeface="Aptos"/>
                          <a:cs typeface="Aptos"/>
                        </a:rPr>
                        <a:t>Paracelsus, "Father of Toxicology," introduced the principle: "The dose makes the poison."</a:t>
                      </a:r>
                    </a:p>
                  </a:txBody>
                  <a:tcPr marL="76200" marR="76200" marT="38100" marB="38100" anchor="ctr">
                    <a:solidFill>
                      <a:srgbClr val="F4F6F8"/>
                    </a:solidFill>
                  </a:tcPr>
                </a:tc>
                <a:extLst>
                  <a:ext uri="{0D108BD9-81ED-4DB2-BD59-A6C34878D82A}">
                    <a16:rowId xmlns:a16="http://schemas.microsoft.com/office/drawing/2014/main" val="10002"/>
                  </a:ext>
                </a:extLst>
              </a:tr>
              <a:tr h="500063">
                <a:tc>
                  <a:txBody>
                    <a:bodyPr/>
                    <a:lstStyle/>
                    <a:p>
                      <a:r>
                        <a:rPr sz="1050">
                          <a:solidFill>
                            <a:srgbClr val="26364A"/>
                          </a:solidFill>
                          <a:latin typeface="Aptos"/>
                          <a:ea typeface="Aptos"/>
                          <a:cs typeface="Aptos"/>
                        </a:rPr>
                        <a:t>Development of Biostatistics</a:t>
                      </a:r>
                    </a:p>
                  </a:txBody>
                  <a:tcPr marL="76200" marR="76200" marT="38100" marB="38100" anchor="ctr">
                    <a:solidFill>
                      <a:srgbClr val="FFFFFF"/>
                    </a:solidFill>
                  </a:tcPr>
                </a:tc>
                <a:tc>
                  <a:txBody>
                    <a:bodyPr/>
                    <a:lstStyle/>
                    <a:p>
                      <a:r>
                        <a:rPr sz="1050">
                          <a:solidFill>
                            <a:srgbClr val="26364A"/>
                          </a:solidFill>
                          <a:latin typeface="Aptos"/>
                          <a:ea typeface="Aptos"/>
                          <a:cs typeface="Aptos"/>
                        </a:rPr>
                        <a:t>18th Century</a:t>
                      </a:r>
                    </a:p>
                  </a:txBody>
                  <a:tcPr marL="76200" marR="76200" marT="38100" marB="38100" anchor="ctr">
                    <a:solidFill>
                      <a:srgbClr val="FFFFFF"/>
                    </a:solidFill>
                  </a:tcPr>
                </a:tc>
                <a:tc>
                  <a:txBody>
                    <a:bodyPr/>
                    <a:lstStyle/>
                    <a:p>
                      <a:r>
                        <a:rPr sz="1050">
                          <a:solidFill>
                            <a:srgbClr val="26364A"/>
                          </a:solidFill>
                          <a:latin typeface="Aptos"/>
                          <a:ea typeface="Aptos"/>
                          <a:cs typeface="Aptos"/>
                        </a:rPr>
                        <a:t>John Graunt pioneered statistical analysis, using Bills of Mortality to study disease patterns in London.</a:t>
                      </a:r>
                    </a:p>
                  </a:txBody>
                  <a:tcPr marL="76200" marR="76200" marT="38100" marB="38100" anchor="ctr">
                    <a:solidFill>
                      <a:srgbClr val="FFFFFF"/>
                    </a:solidFill>
                  </a:tcPr>
                </a:tc>
                <a:extLst>
                  <a:ext uri="{0D108BD9-81ED-4DB2-BD59-A6C34878D82A}">
                    <a16:rowId xmlns:a16="http://schemas.microsoft.com/office/drawing/2014/main" val="10003"/>
                  </a:ext>
                </a:extLst>
              </a:tr>
              <a:tr h="500063">
                <a:tc>
                  <a:txBody>
                    <a:bodyPr/>
                    <a:lstStyle/>
                    <a:p>
                      <a:r>
                        <a:rPr sz="1050">
                          <a:solidFill>
                            <a:srgbClr val="26364A"/>
                          </a:solidFill>
                          <a:latin typeface="Aptos"/>
                          <a:ea typeface="Aptos"/>
                          <a:cs typeface="Aptos"/>
                        </a:rPr>
                        <a:t>Development of Smallpox Vaccine</a:t>
                      </a:r>
                    </a:p>
                  </a:txBody>
                  <a:tcPr marL="76200" marR="76200" marT="38100" marB="38100" anchor="ctr">
                    <a:solidFill>
                      <a:srgbClr val="F4F6F8"/>
                    </a:solidFill>
                  </a:tcPr>
                </a:tc>
                <a:tc>
                  <a:txBody>
                    <a:bodyPr/>
                    <a:lstStyle/>
                    <a:p>
                      <a:r>
                        <a:rPr sz="1050">
                          <a:solidFill>
                            <a:srgbClr val="26364A"/>
                          </a:solidFill>
                          <a:latin typeface="Aptos"/>
                          <a:ea typeface="Aptos"/>
                          <a:cs typeface="Aptos"/>
                        </a:rPr>
                        <a:t>1796</a:t>
                      </a:r>
                    </a:p>
                  </a:txBody>
                  <a:tcPr marL="76200" marR="76200" marT="38100" marB="38100" anchor="ctr">
                    <a:solidFill>
                      <a:srgbClr val="F4F6F8"/>
                    </a:solidFill>
                  </a:tcPr>
                </a:tc>
                <a:tc>
                  <a:txBody>
                    <a:bodyPr/>
                    <a:lstStyle/>
                    <a:p>
                      <a:r>
                        <a:rPr sz="1050">
                          <a:solidFill>
                            <a:srgbClr val="26364A"/>
                          </a:solidFill>
                          <a:latin typeface="Aptos"/>
                          <a:ea typeface="Aptos"/>
                          <a:cs typeface="Aptos"/>
                        </a:rPr>
                        <a:t>Edward Jenner created the first vaccine by using cowpox to confer immunity to smallpox.</a:t>
                      </a:r>
                    </a:p>
                  </a:txBody>
                  <a:tcPr marL="76200" marR="76200" marT="38100" marB="38100" anchor="ctr">
                    <a:solidFill>
                      <a:srgbClr val="F4F6F8"/>
                    </a:solidFill>
                  </a:tcPr>
                </a:tc>
                <a:extLst>
                  <a:ext uri="{0D108BD9-81ED-4DB2-BD59-A6C34878D82A}">
                    <a16:rowId xmlns:a16="http://schemas.microsoft.com/office/drawing/2014/main" val="10004"/>
                  </a:ext>
                </a:extLst>
              </a:tr>
              <a:tr h="500063">
                <a:tc>
                  <a:txBody>
                    <a:bodyPr/>
                    <a:lstStyle/>
                    <a:p>
                      <a:r>
                        <a:rPr sz="1050">
                          <a:solidFill>
                            <a:srgbClr val="26364A"/>
                          </a:solidFill>
                          <a:latin typeface="Aptos"/>
                          <a:ea typeface="Aptos"/>
                          <a:cs typeface="Aptos"/>
                        </a:rPr>
                        <a:t>1918 Influenza Pandemic</a:t>
                      </a:r>
                    </a:p>
                  </a:txBody>
                  <a:tcPr marL="76200" marR="76200" marT="38100" marB="38100" anchor="ctr">
                    <a:solidFill>
                      <a:srgbClr val="FFFFFF"/>
                    </a:solidFill>
                  </a:tcPr>
                </a:tc>
                <a:tc>
                  <a:txBody>
                    <a:bodyPr/>
                    <a:lstStyle/>
                    <a:p>
                      <a:r>
                        <a:rPr sz="1050">
                          <a:solidFill>
                            <a:srgbClr val="26364A"/>
                          </a:solidFill>
                          <a:latin typeface="Aptos"/>
                          <a:ea typeface="Aptos"/>
                          <a:cs typeface="Aptos"/>
                        </a:rPr>
                        <a:t>1918-19</a:t>
                      </a:r>
                    </a:p>
                  </a:txBody>
                  <a:tcPr marL="76200" marR="76200" marT="38100" marB="38100" anchor="ctr">
                    <a:solidFill>
                      <a:srgbClr val="FFFFFF"/>
                    </a:solidFill>
                  </a:tcPr>
                </a:tc>
                <a:tc>
                  <a:txBody>
                    <a:bodyPr/>
                    <a:lstStyle/>
                    <a:p>
                      <a:r>
                        <a:rPr sz="1050">
                          <a:solidFill>
                            <a:srgbClr val="26364A"/>
                          </a:solidFill>
                          <a:latin typeface="Aptos"/>
                          <a:ea typeface="Aptos"/>
                          <a:cs typeface="Aptos"/>
                        </a:rPr>
                        <a:t>The "Spanish flu" infected a third of the global population, killing 50–100 million.</a:t>
                      </a:r>
                    </a:p>
                  </a:txBody>
                  <a:tcPr marL="76200" marR="76200" marT="38100" marB="38100" anchor="ctr">
                    <a:solidFill>
                      <a:srgbClr val="FFFFFF"/>
                    </a:solidFill>
                  </a:tcPr>
                </a:tc>
                <a:extLst>
                  <a:ext uri="{0D108BD9-81ED-4DB2-BD59-A6C34878D82A}">
                    <a16:rowId xmlns:a16="http://schemas.microsoft.com/office/drawing/2014/main" val="10005"/>
                  </a:ext>
                </a:extLst>
              </a:tr>
              <a:tr h="500063">
                <a:tc>
                  <a:txBody>
                    <a:bodyPr/>
                    <a:lstStyle/>
                    <a:p>
                      <a:r>
                        <a:rPr sz="1050">
                          <a:solidFill>
                            <a:srgbClr val="26364A"/>
                          </a:solidFill>
                          <a:latin typeface="Aptos"/>
                          <a:ea typeface="Aptos"/>
                          <a:cs typeface="Aptos"/>
                        </a:rPr>
                        <a:t>Identification of Smoking as a Cause of Cancer</a:t>
                      </a:r>
                    </a:p>
                  </a:txBody>
                  <a:tcPr marL="76200" marR="76200" marT="38100" marB="38100" anchor="ctr">
                    <a:solidFill>
                      <a:srgbClr val="F4F6F8"/>
                    </a:solidFill>
                  </a:tcPr>
                </a:tc>
                <a:tc>
                  <a:txBody>
                    <a:bodyPr/>
                    <a:lstStyle/>
                    <a:p>
                      <a:r>
                        <a:rPr sz="1050">
                          <a:solidFill>
                            <a:srgbClr val="26364A"/>
                          </a:solidFill>
                          <a:latin typeface="Aptos"/>
                          <a:ea typeface="Aptos"/>
                          <a:cs typeface="Aptos"/>
                        </a:rPr>
                        <a:t>1950</a:t>
                      </a:r>
                    </a:p>
                  </a:txBody>
                  <a:tcPr marL="76200" marR="76200" marT="38100" marB="38100" anchor="ctr">
                    <a:solidFill>
                      <a:srgbClr val="F4F6F8"/>
                    </a:solidFill>
                  </a:tcPr>
                </a:tc>
                <a:tc>
                  <a:txBody>
                    <a:bodyPr/>
                    <a:lstStyle/>
                    <a:p>
                      <a:r>
                        <a:rPr sz="1050">
                          <a:solidFill>
                            <a:srgbClr val="26364A"/>
                          </a:solidFill>
                          <a:latin typeface="Aptos"/>
                          <a:ea typeface="Aptos"/>
                          <a:cs typeface="Aptos"/>
                        </a:rPr>
                        <a:t>Landmark studies linked smoking to lung cancer, driving public health campaigns against tobacco use.</a:t>
                      </a:r>
                    </a:p>
                  </a:txBody>
                  <a:tcPr marL="76200" marR="76200" marT="38100" marB="38100" anchor="ctr">
                    <a:solidFill>
                      <a:srgbClr val="F4F6F8"/>
                    </a:solidFill>
                  </a:tcPr>
                </a:tc>
                <a:extLst>
                  <a:ext uri="{0D108BD9-81ED-4DB2-BD59-A6C34878D82A}">
                    <a16:rowId xmlns:a16="http://schemas.microsoft.com/office/drawing/2014/main" val="10006"/>
                  </a:ext>
                </a:extLst>
              </a:tr>
              <a:tr h="500063">
                <a:tc>
                  <a:txBody>
                    <a:bodyPr/>
                    <a:lstStyle/>
                    <a:p>
                      <a:r>
                        <a:rPr sz="1050">
                          <a:solidFill>
                            <a:srgbClr val="26364A"/>
                          </a:solidFill>
                          <a:latin typeface="Aptos"/>
                          <a:ea typeface="Aptos"/>
                          <a:cs typeface="Aptos"/>
                        </a:rPr>
                        <a:t>Eradication of Smallpox</a:t>
                      </a:r>
                    </a:p>
                  </a:txBody>
                  <a:tcPr marL="76200" marR="76200" marT="38100" marB="38100" anchor="ctr">
                    <a:solidFill>
                      <a:srgbClr val="FFFFFF"/>
                    </a:solidFill>
                  </a:tcPr>
                </a:tc>
                <a:tc>
                  <a:txBody>
                    <a:bodyPr/>
                    <a:lstStyle/>
                    <a:p>
                      <a:r>
                        <a:rPr sz="1050">
                          <a:solidFill>
                            <a:srgbClr val="26364A"/>
                          </a:solidFill>
                          <a:latin typeface="Aptos"/>
                          <a:ea typeface="Aptos"/>
                          <a:cs typeface="Aptos"/>
                        </a:rPr>
                        <a:t>1980</a:t>
                      </a:r>
                    </a:p>
                  </a:txBody>
                  <a:tcPr marL="76200" marR="76200" marT="38100" marB="38100" anchor="ctr">
                    <a:solidFill>
                      <a:srgbClr val="FFFFFF"/>
                    </a:solidFill>
                  </a:tcPr>
                </a:tc>
                <a:tc>
                  <a:txBody>
                    <a:bodyPr/>
                    <a:lstStyle/>
                    <a:p>
                      <a:r>
                        <a:rPr sz="1050">
                          <a:solidFill>
                            <a:srgbClr val="26364A"/>
                          </a:solidFill>
                          <a:latin typeface="Aptos"/>
                          <a:ea typeface="Aptos"/>
                          <a:cs typeface="Aptos"/>
                        </a:rPr>
                        <a:t>WHO declared smallpox eradicated, marking the success of global vaccination efforts.</a:t>
                      </a:r>
                    </a:p>
                  </a:txBody>
                  <a:tcPr marL="76200" marR="76200" marT="38100" marB="38100" anchor="c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737505769"/>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mplate-label">
            <a:extLst>
              <a:ext uri="{FF2B5EF4-FFF2-40B4-BE49-F238E27FC236}">
                <a16:creationId xmlns:a16="http://schemas.microsoft.com/office/drawing/2014/main" id="{7B246BF8-3CFC-4856-975D-50FFFEAA8A15}"/>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3CA76552-CB89-4DFF-920D-14B1DF80984C}"/>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5EDB09F6-A3CC-4A4C-9C3D-2FECDFA8B484}"/>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69E66B11-5C1C-48AE-8AC8-28F7E2559416}"/>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HISTORY / SCHOLARS</a:t>
            </a:r>
          </a:p>
        </p:txBody>
      </p:sp>
      <p:sp>
        <p:nvSpPr>
          <p:cNvPr id="5" name="slide-number">
            <a:extLst>
              <a:ext uri="{FF2B5EF4-FFF2-40B4-BE49-F238E27FC236}">
                <a16:creationId xmlns:a16="http://schemas.microsoft.com/office/drawing/2014/main" id="{1C09A0E1-DD42-43BB-971C-E4F47E367596}"/>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23</a:t>
            </a:r>
          </a:p>
        </p:txBody>
      </p:sp>
      <p:sp>
        <p:nvSpPr>
          <p:cNvPr id="6" name="title">
            <a:extLst>
              <a:ext uri="{FF2B5EF4-FFF2-40B4-BE49-F238E27FC236}">
                <a16:creationId xmlns:a16="http://schemas.microsoft.com/office/drawing/2014/main" id="{1EF3BCCC-D303-4A39-8BAB-CBA44D95D8D6}"/>
              </a:ext>
            </a:extLst>
          </p:cNvPr>
          <p:cNvSpPr>
            <a:spLocks noGrp="1"/>
          </p:cNvSpPr>
          <p:nvPr/>
        </p:nvSpPr>
        <p:spPr>
          <a:xfrm>
            <a:off x="685800" y="1162050"/>
            <a:ext cx="8477250" cy="476250"/>
          </a:xfrm>
          <a:prstGeom prst="rect">
            <a:avLst/>
          </a:prstGeom>
          <a:noFill/>
          <a:ln w="0">
            <a:noFill/>
            <a:prstDash val="solid"/>
          </a:ln>
        </p:spPr>
        <p:txBody>
          <a:bodyPr/>
          <a:lstStyle/>
          <a:p>
            <a:pPr>
              <a:buNone/>
              <a:defRPr sz="2850" b="1">
                <a:solidFill>
                  <a:srgbClr val="203044"/>
                </a:solidFill>
                <a:latin typeface="Aptos"/>
                <a:ea typeface="Aptos"/>
                <a:cs typeface="Aptos"/>
              </a:defRPr>
            </a:pPr>
            <a:r>
              <a:rPr sz="2850" b="1">
                <a:solidFill>
                  <a:srgbClr val="203044"/>
                </a:solidFill>
                <a:latin typeface="Aptos"/>
                <a:ea typeface="Aptos"/>
                <a:cs typeface="Aptos"/>
              </a:rPr>
              <a:t>Renowned Epidemiology Scholars</a:t>
            </a:r>
          </a:p>
        </p:txBody>
      </p:sp>
      <p:sp>
        <p:nvSpPr>
          <p:cNvPr id="8" name="body">
            <a:extLst>
              <a:ext uri="{FF2B5EF4-FFF2-40B4-BE49-F238E27FC236}">
                <a16:creationId xmlns:a16="http://schemas.microsoft.com/office/drawing/2014/main" id="{D0209D86-9385-4D6A-9143-F3CCD78262D1}"/>
              </a:ext>
            </a:extLst>
          </p:cNvPr>
          <p:cNvSpPr>
            <a:spLocks noGrp="1"/>
          </p:cNvSpPr>
          <p:nvPr/>
        </p:nvSpPr>
        <p:spPr>
          <a:xfrm>
            <a:off x="685800" y="1952625"/>
            <a:ext cx="10668000" cy="3905250"/>
          </a:xfrm>
          <a:prstGeom prst="rect">
            <a:avLst/>
          </a:prstGeom>
          <a:noFill/>
          <a:ln w="0">
            <a:noFill/>
            <a:prstDash val="solid"/>
          </a:ln>
        </p:spPr>
        <p:txBody>
          <a:bodyPr anchor="t">
            <a:normAutofit/>
          </a:bodyPr>
          <a:lstStyle/>
          <a:p>
            <a:pPr>
              <a:lnSpc>
                <a:spcPct val="100000"/>
              </a:lnSpc>
              <a:buNone/>
              <a:defRPr sz="1575">
                <a:solidFill>
                  <a:srgbClr val="26364A"/>
                </a:solidFill>
                <a:latin typeface="Aptos"/>
                <a:ea typeface="Aptos"/>
                <a:cs typeface="Aptos"/>
              </a:defRPr>
            </a:pPr>
            <a:r>
              <a:rPr sz="1575" b="1">
                <a:solidFill>
                  <a:srgbClr val="26364A"/>
                </a:solidFill>
                <a:latin typeface="Aptos"/>
                <a:ea typeface="Aptos"/>
                <a:cs typeface="Aptos"/>
              </a:rPr>
              <a:t>How Epidemiologists Learned to Think:</a:t>
            </a:r>
          </a:p>
          <a:p>
            <a:pPr marL="20" indent="-12">
              <a:lnSpc>
                <a:spcPct val="100000"/>
              </a:lnSpc>
              <a:buNone/>
              <a:defRPr sz="1575">
                <a:solidFill>
                  <a:srgbClr val="26364A"/>
                </a:solidFill>
                <a:latin typeface="Aptos"/>
                <a:ea typeface="Aptos"/>
                <a:cs typeface="Aptos"/>
              </a:defRPr>
            </a:pPr>
            <a:r>
              <a:rPr sz="1575" b="1">
                <a:solidFill>
                  <a:srgbClr val="26364A"/>
                </a:solidFill>
                <a:latin typeface="Aptos"/>
                <a:ea typeface="Aptos"/>
                <a:cs typeface="Aptos"/>
              </a:rPr>
              <a:t>Hippocrates</a:t>
            </a:r>
            <a:r>
              <a:rPr sz="1575">
                <a:solidFill>
                  <a:srgbClr val="26364A"/>
                </a:solidFill>
                <a:latin typeface="Aptos"/>
                <a:ea typeface="Aptos"/>
                <a:cs typeface="Aptos"/>
              </a:rPr>
              <a:t> → Environment and behavior influence health</a:t>
            </a:r>
          </a:p>
          <a:p>
            <a:pPr marL="20" indent="-12">
              <a:lnSpc>
                <a:spcPct val="100000"/>
              </a:lnSpc>
              <a:buNone/>
              <a:defRPr sz="1575">
                <a:solidFill>
                  <a:srgbClr val="26364A"/>
                </a:solidFill>
                <a:latin typeface="Aptos"/>
                <a:ea typeface="Aptos"/>
                <a:cs typeface="Aptos"/>
              </a:defRPr>
            </a:pPr>
            <a:r>
              <a:rPr sz="1575" b="1">
                <a:solidFill>
                  <a:srgbClr val="26364A"/>
                </a:solidFill>
                <a:latin typeface="Aptos"/>
                <a:ea typeface="Aptos"/>
                <a:cs typeface="Aptos"/>
              </a:rPr>
              <a:t>John Graunt</a:t>
            </a:r>
            <a:r>
              <a:rPr sz="1575">
                <a:solidFill>
                  <a:srgbClr val="26364A"/>
                </a:solidFill>
                <a:latin typeface="Aptos"/>
                <a:ea typeface="Aptos"/>
                <a:cs typeface="Aptos"/>
              </a:rPr>
              <a:t> → Counting populations reveals disease patterns</a:t>
            </a:r>
          </a:p>
          <a:p>
            <a:pPr marL="20" indent="-12">
              <a:lnSpc>
                <a:spcPct val="100000"/>
              </a:lnSpc>
              <a:buNone/>
              <a:defRPr sz="1575">
                <a:solidFill>
                  <a:srgbClr val="26364A"/>
                </a:solidFill>
                <a:latin typeface="Aptos"/>
                <a:ea typeface="Aptos"/>
                <a:cs typeface="Aptos"/>
              </a:defRPr>
            </a:pPr>
            <a:r>
              <a:rPr sz="1575" b="1">
                <a:solidFill>
                  <a:srgbClr val="26364A"/>
                </a:solidFill>
                <a:latin typeface="Aptos"/>
                <a:ea typeface="Aptos"/>
                <a:cs typeface="Aptos"/>
              </a:rPr>
              <a:t>William Farr</a:t>
            </a:r>
            <a:r>
              <a:rPr sz="1575">
                <a:solidFill>
                  <a:srgbClr val="26364A"/>
                </a:solidFill>
                <a:latin typeface="Aptos"/>
                <a:ea typeface="Aptos"/>
                <a:cs typeface="Aptos"/>
              </a:rPr>
              <a:t> → Vital statistics and surveillance systems</a:t>
            </a:r>
          </a:p>
          <a:p>
            <a:pPr marL="20" indent="-12">
              <a:lnSpc>
                <a:spcPct val="100000"/>
              </a:lnSpc>
              <a:buNone/>
              <a:defRPr sz="1575">
                <a:solidFill>
                  <a:srgbClr val="26364A"/>
                </a:solidFill>
                <a:latin typeface="Aptos"/>
                <a:ea typeface="Aptos"/>
                <a:cs typeface="Aptos"/>
              </a:defRPr>
            </a:pPr>
            <a:r>
              <a:rPr sz="1575" b="1">
                <a:solidFill>
                  <a:srgbClr val="26364A"/>
                </a:solidFill>
                <a:latin typeface="Aptos"/>
                <a:ea typeface="Aptos"/>
                <a:cs typeface="Aptos"/>
              </a:rPr>
              <a:t>John Snow</a:t>
            </a:r>
            <a:r>
              <a:rPr sz="1575">
                <a:solidFill>
                  <a:srgbClr val="26364A"/>
                </a:solidFill>
                <a:latin typeface="Aptos"/>
                <a:ea typeface="Aptos"/>
                <a:cs typeface="Aptos"/>
              </a:rPr>
              <a:t> → Using population data to identify causes</a:t>
            </a:r>
          </a:p>
          <a:p>
            <a:pPr marL="20" indent="-12">
              <a:lnSpc>
                <a:spcPct val="100000"/>
              </a:lnSpc>
              <a:buNone/>
              <a:defRPr sz="1575">
                <a:solidFill>
                  <a:srgbClr val="26364A"/>
                </a:solidFill>
                <a:latin typeface="Aptos"/>
                <a:ea typeface="Aptos"/>
                <a:cs typeface="Aptos"/>
              </a:defRPr>
            </a:pPr>
            <a:r>
              <a:rPr sz="1575" b="1">
                <a:solidFill>
                  <a:srgbClr val="26364A"/>
                </a:solidFill>
                <a:latin typeface="Aptos"/>
                <a:ea typeface="Aptos"/>
                <a:cs typeface="Aptos"/>
              </a:rPr>
              <a:t>Alexander Louis</a:t>
            </a:r>
            <a:r>
              <a:rPr sz="1575">
                <a:solidFill>
                  <a:srgbClr val="26364A"/>
                </a:solidFill>
                <a:latin typeface="Aptos"/>
                <a:ea typeface="Aptos"/>
                <a:cs typeface="Aptos"/>
              </a:rPr>
              <a:t> → Quantitative reasoning in medicine</a:t>
            </a:r>
          </a:p>
          <a:p>
            <a:pPr marL="20" indent="-12">
              <a:lnSpc>
                <a:spcPct val="100000"/>
              </a:lnSpc>
              <a:buNone/>
              <a:defRPr sz="1575">
                <a:solidFill>
                  <a:srgbClr val="26364A"/>
                </a:solidFill>
                <a:latin typeface="Aptos"/>
                <a:ea typeface="Aptos"/>
                <a:cs typeface="Aptos"/>
              </a:defRPr>
            </a:pPr>
            <a:r>
              <a:rPr sz="1575" b="1">
                <a:solidFill>
                  <a:srgbClr val="26364A"/>
                </a:solidFill>
                <a:latin typeface="Aptos"/>
                <a:ea typeface="Aptos"/>
                <a:cs typeface="Aptos"/>
              </a:rPr>
              <a:t>Bradford Hill</a:t>
            </a:r>
            <a:r>
              <a:rPr sz="1575">
                <a:solidFill>
                  <a:srgbClr val="26364A"/>
                </a:solidFill>
                <a:latin typeface="Aptos"/>
                <a:ea typeface="Aptos"/>
                <a:cs typeface="Aptos"/>
              </a:rPr>
              <a:t> → Systematic thinking about causality</a:t>
            </a:r>
          </a:p>
        </p:txBody>
      </p:sp>
    </p:spTree>
    <p:extLst>
      <p:ext uri="{BB962C8B-B14F-4D97-AF65-F5344CB8AC3E}">
        <p14:creationId xmlns:p14="http://schemas.microsoft.com/office/powerpoint/2010/main" val="1737505769"/>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template-label">
            <a:extLst>
              <a:ext uri="{FF2B5EF4-FFF2-40B4-BE49-F238E27FC236}">
                <a16:creationId xmlns:a16="http://schemas.microsoft.com/office/drawing/2014/main" id="{ED8645A5-6AE4-4AA2-9FBA-267B442290B2}"/>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2A27C6E4-AD12-41E2-89B9-5241F556489C}"/>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14D599BD-D76C-42CE-B1EA-A9FA08D44BEF}"/>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33F15DF8-6DC9-4047-969F-E789539C9AF9}"/>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CONTEMPORARY ERA</a:t>
            </a:r>
          </a:p>
        </p:txBody>
      </p:sp>
      <p:sp>
        <p:nvSpPr>
          <p:cNvPr id="5" name="slide-number">
            <a:extLst>
              <a:ext uri="{FF2B5EF4-FFF2-40B4-BE49-F238E27FC236}">
                <a16:creationId xmlns:a16="http://schemas.microsoft.com/office/drawing/2014/main" id="{83F70DC5-C59C-41A3-B613-E69632F0EDED}"/>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24</a:t>
            </a:r>
          </a:p>
        </p:txBody>
      </p:sp>
      <p:sp>
        <p:nvSpPr>
          <p:cNvPr id="6" name="title">
            <a:extLst>
              <a:ext uri="{FF2B5EF4-FFF2-40B4-BE49-F238E27FC236}">
                <a16:creationId xmlns:a16="http://schemas.microsoft.com/office/drawing/2014/main" id="{D0A7A619-0A50-4819-9F29-7DFA8EDB34BB}"/>
              </a:ext>
            </a:extLst>
          </p:cNvPr>
          <p:cNvSpPr>
            <a:spLocks noGrp="1"/>
          </p:cNvSpPr>
          <p:nvPr/>
        </p:nvSpPr>
        <p:spPr>
          <a:xfrm>
            <a:off x="685800" y="1162050"/>
            <a:ext cx="7810500" cy="476250"/>
          </a:xfrm>
          <a:prstGeom prst="rect">
            <a:avLst/>
          </a:prstGeom>
          <a:noFill/>
          <a:ln w="0">
            <a:noFill/>
            <a:prstDash val="solid"/>
          </a:ln>
        </p:spPr>
        <p:txBody>
          <a:bodyPr/>
          <a:lstStyle/>
          <a:p>
            <a:pPr>
              <a:buNone/>
              <a:defRPr sz="2850" b="1">
                <a:solidFill>
                  <a:srgbClr val="203044"/>
                </a:solidFill>
                <a:latin typeface="Aptos"/>
                <a:ea typeface="Aptos"/>
                <a:cs typeface="Aptos"/>
              </a:defRPr>
            </a:pPr>
            <a:r>
              <a:rPr sz="2850" b="1">
                <a:solidFill>
                  <a:srgbClr val="203044"/>
                </a:solidFill>
                <a:latin typeface="Aptos"/>
                <a:ea typeface="Aptos"/>
                <a:cs typeface="Aptos"/>
              </a:rPr>
              <a:t>The Contemporary Era: 1940 to Present</a:t>
            </a:r>
          </a:p>
        </p:txBody>
      </p:sp>
      <p:sp>
        <p:nvSpPr>
          <p:cNvPr id="7" name="recap-rule-0">
            <a:extLst>
              <a:ext uri="{FF2B5EF4-FFF2-40B4-BE49-F238E27FC236}">
                <a16:creationId xmlns:a16="http://schemas.microsoft.com/office/drawing/2014/main" id="{C1B8453C-0799-43BF-BC5E-63EDB5C77E46}"/>
              </a:ext>
            </a:extLst>
          </p:cNvPr>
          <p:cNvSpPr>
            <a:spLocks noGrp="1"/>
          </p:cNvSpPr>
          <p:nvPr/>
        </p:nvSpPr>
        <p:spPr>
          <a:xfrm>
            <a:off x="685800" y="2238375"/>
            <a:ext cx="2952750" cy="66675"/>
          </a:xfrm>
          <a:prstGeom prst="rect">
            <a:avLst/>
          </a:prstGeom>
          <a:solidFill>
            <a:srgbClr val="FFD662"/>
          </a:solidFill>
          <a:ln w="0">
            <a:noFill/>
            <a:prstDash val="solid"/>
          </a:ln>
        </p:spPr>
        <p:txBody>
          <a:bodyPr/>
          <a:lstStyle/>
          <a:p>
            <a:endParaRPr lang="en-US"/>
          </a:p>
        </p:txBody>
      </p:sp>
      <p:sp>
        <p:nvSpPr>
          <p:cNvPr id="8" name="recap-num-0">
            <a:extLst>
              <a:ext uri="{FF2B5EF4-FFF2-40B4-BE49-F238E27FC236}">
                <a16:creationId xmlns:a16="http://schemas.microsoft.com/office/drawing/2014/main" id="{2E57B04B-A633-4F0E-A115-5E0EBD3223B7}"/>
              </a:ext>
            </a:extLst>
          </p:cNvPr>
          <p:cNvSpPr>
            <a:spLocks noGrp="1"/>
          </p:cNvSpPr>
          <p:nvPr/>
        </p:nvSpPr>
        <p:spPr>
          <a:xfrm>
            <a:off x="685800" y="2619375"/>
            <a:ext cx="762000" cy="266700"/>
          </a:xfrm>
          <a:prstGeom prst="rect">
            <a:avLst/>
          </a:prstGeom>
          <a:noFill/>
          <a:ln w="0">
            <a:noFill/>
            <a:prstDash val="solid"/>
          </a:ln>
        </p:spPr>
        <p:txBody>
          <a:bodyPr/>
          <a:lstStyle/>
          <a:p>
            <a:pPr>
              <a:buNone/>
              <a:defRPr sz="1275" b="1">
                <a:solidFill>
                  <a:srgbClr val="6C757D"/>
                </a:solidFill>
                <a:latin typeface="Aptos"/>
                <a:ea typeface="Aptos"/>
                <a:cs typeface="Aptos"/>
              </a:defRPr>
            </a:pPr>
            <a:r>
              <a:rPr sz="1275" b="1">
                <a:solidFill>
                  <a:srgbClr val="6C757D"/>
                </a:solidFill>
                <a:latin typeface="Aptos"/>
                <a:ea typeface="Aptos"/>
                <a:cs typeface="Aptos"/>
              </a:rPr>
              <a:t>01</a:t>
            </a:r>
          </a:p>
        </p:txBody>
      </p:sp>
      <p:sp>
        <p:nvSpPr>
          <p:cNvPr id="9" name="recap-head-0">
            <a:extLst>
              <a:ext uri="{FF2B5EF4-FFF2-40B4-BE49-F238E27FC236}">
                <a16:creationId xmlns:a16="http://schemas.microsoft.com/office/drawing/2014/main" id="{6605AD41-97A5-4579-8CE6-5ABB78736F14}"/>
              </a:ext>
            </a:extLst>
          </p:cNvPr>
          <p:cNvSpPr>
            <a:spLocks noGrp="1"/>
          </p:cNvSpPr>
          <p:nvPr/>
        </p:nvSpPr>
        <p:spPr>
          <a:xfrm>
            <a:off x="685800" y="3143250"/>
            <a:ext cx="2952750" cy="400050"/>
          </a:xfrm>
          <a:prstGeom prst="rect">
            <a:avLst/>
          </a:prstGeom>
          <a:noFill/>
          <a:ln w="0">
            <a:noFill/>
            <a:prstDash val="solid"/>
          </a:ln>
        </p:spPr>
        <p:txBody>
          <a:bodyPr>
            <a:normAutofit fontScale="79194"/>
          </a:bodyPr>
          <a:lstStyle/>
          <a:p>
            <a:pPr>
              <a:buNone/>
              <a:defRPr sz="1800" b="1">
                <a:solidFill>
                  <a:srgbClr val="4E5F72"/>
                </a:solidFill>
                <a:latin typeface="Georgia"/>
                <a:ea typeface="Georgia"/>
                <a:cs typeface="Georgia"/>
              </a:defRPr>
            </a:pPr>
            <a:r>
              <a:rPr sz="1800" b="1">
                <a:solidFill>
                  <a:srgbClr val="4E5F72"/>
                </a:solidFill>
                <a:latin typeface="Georgia"/>
                <a:ea typeface="Georgia"/>
                <a:cs typeface="Georgia"/>
              </a:rPr>
              <a:t>Long-term population studies</a:t>
            </a:r>
          </a:p>
        </p:txBody>
      </p:sp>
      <p:sp>
        <p:nvSpPr>
          <p:cNvPr id="10" name="recap-body-0">
            <a:extLst>
              <a:ext uri="{FF2B5EF4-FFF2-40B4-BE49-F238E27FC236}">
                <a16:creationId xmlns:a16="http://schemas.microsoft.com/office/drawing/2014/main" id="{11C7CE8B-1461-48A2-9A88-28AE0B86E901}"/>
              </a:ext>
            </a:extLst>
          </p:cNvPr>
          <p:cNvSpPr>
            <a:spLocks noGrp="1"/>
          </p:cNvSpPr>
          <p:nvPr/>
        </p:nvSpPr>
        <p:spPr>
          <a:xfrm>
            <a:off x="685800" y="3905250"/>
            <a:ext cx="2952750" cy="876300"/>
          </a:xfrm>
          <a:prstGeom prst="rect">
            <a:avLst/>
          </a:prstGeom>
          <a:noFill/>
          <a:ln w="0">
            <a:noFill/>
            <a:prstDash val="solid"/>
          </a:ln>
        </p:spPr>
        <p:txBody>
          <a:bodyPr anchor="t">
            <a:normAutofit/>
          </a:bodyPr>
          <a:lstStyle/>
          <a:p>
            <a:pPr>
              <a:lnSpc>
                <a:spcPct val="105000"/>
              </a:lnSpc>
              <a:buNone/>
              <a:defRPr sz="1350">
                <a:solidFill>
                  <a:srgbClr val="6B7580"/>
                </a:solidFill>
                <a:latin typeface="Aptos"/>
                <a:ea typeface="Aptos"/>
                <a:cs typeface="Aptos"/>
              </a:defRPr>
            </a:pPr>
            <a:r>
              <a:rPr sz="1350">
                <a:solidFill>
                  <a:srgbClr val="6B7580"/>
                </a:solidFill>
                <a:latin typeface="Aptos"/>
                <a:ea typeface="Aptos"/>
                <a:cs typeface="Aptos"/>
              </a:rPr>
              <a:t>Framingham Heart Study → identification of risk factors</a:t>
            </a:r>
          </a:p>
        </p:txBody>
      </p:sp>
      <p:sp>
        <p:nvSpPr>
          <p:cNvPr id="11" name="recap-rule-1">
            <a:extLst>
              <a:ext uri="{FF2B5EF4-FFF2-40B4-BE49-F238E27FC236}">
                <a16:creationId xmlns:a16="http://schemas.microsoft.com/office/drawing/2014/main" id="{C32ACC10-C813-4484-96F4-B37FADEDC2AA}"/>
              </a:ext>
            </a:extLst>
          </p:cNvPr>
          <p:cNvSpPr>
            <a:spLocks noGrp="1"/>
          </p:cNvSpPr>
          <p:nvPr/>
        </p:nvSpPr>
        <p:spPr>
          <a:xfrm>
            <a:off x="4352925" y="2238375"/>
            <a:ext cx="2952750" cy="66675"/>
          </a:xfrm>
          <a:prstGeom prst="rect">
            <a:avLst/>
          </a:prstGeom>
          <a:solidFill>
            <a:srgbClr val="28A745"/>
          </a:solidFill>
          <a:ln w="0">
            <a:noFill/>
            <a:prstDash val="solid"/>
          </a:ln>
        </p:spPr>
        <p:txBody>
          <a:bodyPr/>
          <a:lstStyle/>
          <a:p>
            <a:endParaRPr lang="en-US"/>
          </a:p>
        </p:txBody>
      </p:sp>
      <p:sp>
        <p:nvSpPr>
          <p:cNvPr id="12" name="recap-num-1">
            <a:extLst>
              <a:ext uri="{FF2B5EF4-FFF2-40B4-BE49-F238E27FC236}">
                <a16:creationId xmlns:a16="http://schemas.microsoft.com/office/drawing/2014/main" id="{4B8C92B2-72CF-441A-97B7-E6603E97FE7D}"/>
              </a:ext>
            </a:extLst>
          </p:cNvPr>
          <p:cNvSpPr>
            <a:spLocks noGrp="1"/>
          </p:cNvSpPr>
          <p:nvPr/>
        </p:nvSpPr>
        <p:spPr>
          <a:xfrm>
            <a:off x="4352925" y="2619375"/>
            <a:ext cx="762000" cy="266700"/>
          </a:xfrm>
          <a:prstGeom prst="rect">
            <a:avLst/>
          </a:prstGeom>
          <a:noFill/>
          <a:ln w="0">
            <a:noFill/>
            <a:prstDash val="solid"/>
          </a:ln>
        </p:spPr>
        <p:txBody>
          <a:bodyPr/>
          <a:lstStyle/>
          <a:p>
            <a:pPr>
              <a:buNone/>
              <a:defRPr sz="1275" b="1">
                <a:solidFill>
                  <a:srgbClr val="6C757D"/>
                </a:solidFill>
                <a:latin typeface="Aptos"/>
                <a:ea typeface="Aptos"/>
                <a:cs typeface="Aptos"/>
              </a:defRPr>
            </a:pPr>
            <a:r>
              <a:rPr sz="1275" b="1">
                <a:solidFill>
                  <a:srgbClr val="6C757D"/>
                </a:solidFill>
                <a:latin typeface="Aptos"/>
                <a:ea typeface="Aptos"/>
                <a:cs typeface="Aptos"/>
              </a:rPr>
              <a:t>02</a:t>
            </a:r>
          </a:p>
        </p:txBody>
      </p:sp>
      <p:sp>
        <p:nvSpPr>
          <p:cNvPr id="13" name="recap-head-1">
            <a:extLst>
              <a:ext uri="{FF2B5EF4-FFF2-40B4-BE49-F238E27FC236}">
                <a16:creationId xmlns:a16="http://schemas.microsoft.com/office/drawing/2014/main" id="{4A657D27-808F-4FB8-BD07-484DCF27BCCF}"/>
              </a:ext>
            </a:extLst>
          </p:cNvPr>
          <p:cNvSpPr>
            <a:spLocks noGrp="1"/>
          </p:cNvSpPr>
          <p:nvPr/>
        </p:nvSpPr>
        <p:spPr>
          <a:xfrm>
            <a:off x="4352925" y="3143250"/>
            <a:ext cx="2952750" cy="400050"/>
          </a:xfrm>
          <a:prstGeom prst="rect">
            <a:avLst/>
          </a:prstGeom>
          <a:noFill/>
          <a:ln w="0">
            <a:noFill/>
            <a:prstDash val="solid"/>
          </a:ln>
        </p:spPr>
        <p:txBody>
          <a:bodyPr>
            <a:normAutofit fontScale="91265"/>
          </a:bodyPr>
          <a:lstStyle/>
          <a:p>
            <a:pPr>
              <a:buNone/>
              <a:defRPr sz="1800" b="1">
                <a:solidFill>
                  <a:srgbClr val="4E5F72"/>
                </a:solidFill>
                <a:latin typeface="Georgia"/>
                <a:ea typeface="Georgia"/>
                <a:cs typeface="Georgia"/>
              </a:defRPr>
            </a:pPr>
            <a:r>
              <a:rPr sz="1800" b="1">
                <a:solidFill>
                  <a:srgbClr val="4E5F72"/>
                </a:solidFill>
                <a:latin typeface="Georgia"/>
                <a:ea typeface="Georgia"/>
                <a:cs typeface="Georgia"/>
              </a:rPr>
              <a:t>Expanded causal thinking</a:t>
            </a:r>
          </a:p>
        </p:txBody>
      </p:sp>
      <p:sp>
        <p:nvSpPr>
          <p:cNvPr id="14" name="recap-body-1">
            <a:extLst>
              <a:ext uri="{FF2B5EF4-FFF2-40B4-BE49-F238E27FC236}">
                <a16:creationId xmlns:a16="http://schemas.microsoft.com/office/drawing/2014/main" id="{58EAFEE1-F712-4866-925C-DA6BD40710A4}"/>
              </a:ext>
            </a:extLst>
          </p:cNvPr>
          <p:cNvSpPr>
            <a:spLocks noGrp="1"/>
          </p:cNvSpPr>
          <p:nvPr/>
        </p:nvSpPr>
        <p:spPr>
          <a:xfrm>
            <a:off x="4352925" y="3905250"/>
            <a:ext cx="2952750" cy="876300"/>
          </a:xfrm>
          <a:prstGeom prst="rect">
            <a:avLst/>
          </a:prstGeom>
          <a:noFill/>
          <a:ln w="0">
            <a:noFill/>
            <a:prstDash val="solid"/>
          </a:ln>
        </p:spPr>
        <p:txBody>
          <a:bodyPr anchor="t">
            <a:normAutofit/>
          </a:bodyPr>
          <a:lstStyle/>
          <a:p>
            <a:pPr>
              <a:lnSpc>
                <a:spcPct val="105000"/>
              </a:lnSpc>
              <a:buNone/>
              <a:defRPr sz="1350">
                <a:solidFill>
                  <a:srgbClr val="6B7580"/>
                </a:solidFill>
                <a:latin typeface="Aptos"/>
                <a:ea typeface="Aptos"/>
                <a:cs typeface="Aptos"/>
              </a:defRPr>
            </a:pPr>
            <a:r>
              <a:rPr sz="1350">
                <a:solidFill>
                  <a:srgbClr val="6B7580"/>
                </a:solidFill>
                <a:latin typeface="Aptos"/>
                <a:ea typeface="Aptos"/>
                <a:cs typeface="Aptos"/>
              </a:rPr>
              <a:t>Chronic disease linked to behaviors, infections, and genetics</a:t>
            </a:r>
          </a:p>
        </p:txBody>
      </p:sp>
      <p:sp>
        <p:nvSpPr>
          <p:cNvPr id="15" name="recap-rule-2">
            <a:extLst>
              <a:ext uri="{FF2B5EF4-FFF2-40B4-BE49-F238E27FC236}">
                <a16:creationId xmlns:a16="http://schemas.microsoft.com/office/drawing/2014/main" id="{AD8ADBF3-D604-4BE3-8C8E-9CEE2DFD9162}"/>
              </a:ext>
            </a:extLst>
          </p:cNvPr>
          <p:cNvSpPr>
            <a:spLocks noGrp="1"/>
          </p:cNvSpPr>
          <p:nvPr/>
        </p:nvSpPr>
        <p:spPr>
          <a:xfrm>
            <a:off x="8020050" y="2238375"/>
            <a:ext cx="2952750" cy="66675"/>
          </a:xfrm>
          <a:prstGeom prst="rect">
            <a:avLst/>
          </a:prstGeom>
          <a:solidFill>
            <a:srgbClr val="FFD662"/>
          </a:solidFill>
          <a:ln w="0">
            <a:noFill/>
            <a:prstDash val="solid"/>
          </a:ln>
        </p:spPr>
        <p:txBody>
          <a:bodyPr/>
          <a:lstStyle/>
          <a:p>
            <a:endParaRPr lang="en-US"/>
          </a:p>
        </p:txBody>
      </p:sp>
      <p:sp>
        <p:nvSpPr>
          <p:cNvPr id="16" name="recap-num-2">
            <a:extLst>
              <a:ext uri="{FF2B5EF4-FFF2-40B4-BE49-F238E27FC236}">
                <a16:creationId xmlns:a16="http://schemas.microsoft.com/office/drawing/2014/main" id="{633F1167-1C68-42BB-A9A3-CF2A082E728D}"/>
              </a:ext>
            </a:extLst>
          </p:cNvPr>
          <p:cNvSpPr>
            <a:spLocks noGrp="1"/>
          </p:cNvSpPr>
          <p:nvPr/>
        </p:nvSpPr>
        <p:spPr>
          <a:xfrm>
            <a:off x="8020050" y="2619375"/>
            <a:ext cx="762000" cy="266700"/>
          </a:xfrm>
          <a:prstGeom prst="rect">
            <a:avLst/>
          </a:prstGeom>
          <a:noFill/>
          <a:ln w="0">
            <a:noFill/>
            <a:prstDash val="solid"/>
          </a:ln>
        </p:spPr>
        <p:txBody>
          <a:bodyPr/>
          <a:lstStyle/>
          <a:p>
            <a:pPr>
              <a:buNone/>
              <a:defRPr sz="1275" b="1">
                <a:solidFill>
                  <a:srgbClr val="6C757D"/>
                </a:solidFill>
                <a:latin typeface="Aptos"/>
                <a:ea typeface="Aptos"/>
                <a:cs typeface="Aptos"/>
              </a:defRPr>
            </a:pPr>
            <a:r>
              <a:rPr sz="1275" b="1">
                <a:solidFill>
                  <a:srgbClr val="6C757D"/>
                </a:solidFill>
                <a:latin typeface="Aptos"/>
                <a:ea typeface="Aptos"/>
                <a:cs typeface="Aptos"/>
              </a:rPr>
              <a:t>03</a:t>
            </a:r>
          </a:p>
        </p:txBody>
      </p:sp>
      <p:sp>
        <p:nvSpPr>
          <p:cNvPr id="17" name="recap-head-2">
            <a:extLst>
              <a:ext uri="{FF2B5EF4-FFF2-40B4-BE49-F238E27FC236}">
                <a16:creationId xmlns:a16="http://schemas.microsoft.com/office/drawing/2014/main" id="{382519F8-1D0B-4E02-8B3D-F72B5C2CE6AF}"/>
              </a:ext>
            </a:extLst>
          </p:cNvPr>
          <p:cNvSpPr>
            <a:spLocks noGrp="1"/>
          </p:cNvSpPr>
          <p:nvPr/>
        </p:nvSpPr>
        <p:spPr>
          <a:xfrm>
            <a:off x="8020050" y="3143250"/>
            <a:ext cx="2952750" cy="400050"/>
          </a:xfrm>
          <a:prstGeom prst="rect">
            <a:avLst/>
          </a:prstGeom>
          <a:noFill/>
          <a:ln w="0">
            <a:noFill/>
            <a:prstDash val="solid"/>
          </a:ln>
        </p:spPr>
        <p:txBody>
          <a:bodyPr>
            <a:normAutofit fontScale="81156"/>
          </a:bodyPr>
          <a:lstStyle/>
          <a:p>
            <a:pPr>
              <a:buNone/>
              <a:defRPr sz="1800" b="1">
                <a:solidFill>
                  <a:srgbClr val="4E5F72"/>
                </a:solidFill>
                <a:latin typeface="Georgia"/>
                <a:ea typeface="Georgia"/>
                <a:cs typeface="Georgia"/>
              </a:defRPr>
            </a:pPr>
            <a:r>
              <a:rPr sz="1800" b="1">
                <a:solidFill>
                  <a:srgbClr val="4E5F72"/>
                </a:solidFill>
                <a:latin typeface="Georgia"/>
                <a:ea typeface="Georgia"/>
                <a:cs typeface="Georgia"/>
              </a:rPr>
              <a:t>Ethics and equity in research</a:t>
            </a:r>
          </a:p>
        </p:txBody>
      </p:sp>
      <p:sp>
        <p:nvSpPr>
          <p:cNvPr id="18" name="recap-body-2">
            <a:extLst>
              <a:ext uri="{FF2B5EF4-FFF2-40B4-BE49-F238E27FC236}">
                <a16:creationId xmlns:a16="http://schemas.microsoft.com/office/drawing/2014/main" id="{F4D58B31-05C7-40F1-BF2C-25CCF9C0EA25}"/>
              </a:ext>
            </a:extLst>
          </p:cNvPr>
          <p:cNvSpPr>
            <a:spLocks noGrp="1"/>
          </p:cNvSpPr>
          <p:nvPr/>
        </p:nvSpPr>
        <p:spPr>
          <a:xfrm>
            <a:off x="8020050" y="3905250"/>
            <a:ext cx="2952750" cy="876300"/>
          </a:xfrm>
          <a:prstGeom prst="rect">
            <a:avLst/>
          </a:prstGeom>
          <a:noFill/>
          <a:ln w="0">
            <a:noFill/>
            <a:prstDash val="solid"/>
          </a:ln>
        </p:spPr>
        <p:txBody>
          <a:bodyPr anchor="t">
            <a:normAutofit/>
          </a:bodyPr>
          <a:lstStyle/>
          <a:p>
            <a:pPr>
              <a:lnSpc>
                <a:spcPct val="105000"/>
              </a:lnSpc>
              <a:buNone/>
              <a:defRPr sz="1350">
                <a:solidFill>
                  <a:srgbClr val="6B7580"/>
                </a:solidFill>
                <a:latin typeface="Aptos"/>
                <a:ea typeface="Aptos"/>
                <a:cs typeface="Aptos"/>
              </a:defRPr>
            </a:pPr>
            <a:r>
              <a:rPr sz="1350">
                <a:solidFill>
                  <a:srgbClr val="6B7580"/>
                </a:solidFill>
                <a:latin typeface="Aptos"/>
                <a:ea typeface="Aptos"/>
                <a:cs typeface="Aptos"/>
              </a:rPr>
              <a:t>William Carter Jenkins → accountability in public health studies</a:t>
            </a:r>
          </a:p>
        </p:txBody>
      </p:sp>
      <p:sp>
        <p:nvSpPr>
          <p:cNvPr id="19" name="next">
            <a:extLst>
              <a:ext uri="{FF2B5EF4-FFF2-40B4-BE49-F238E27FC236}">
                <a16:creationId xmlns:a16="http://schemas.microsoft.com/office/drawing/2014/main" id="{52A31903-929B-4AFC-B94C-F0795AD8B6FC}"/>
              </a:ext>
            </a:extLst>
          </p:cNvPr>
          <p:cNvSpPr>
            <a:spLocks noGrp="1"/>
          </p:cNvSpPr>
          <p:nvPr/>
        </p:nvSpPr>
        <p:spPr>
          <a:xfrm>
            <a:off x="685800" y="5562600"/>
            <a:ext cx="6667500" cy="228600"/>
          </a:xfrm>
          <a:prstGeom prst="rect">
            <a:avLst/>
          </a:prstGeom>
          <a:noFill/>
          <a:ln w="0">
            <a:noFill/>
            <a:prstDash val="solid"/>
          </a:ln>
        </p:spPr>
        <p:txBody>
          <a:bodyPr>
            <a:normAutofit/>
          </a:bodyPr>
          <a:lstStyle/>
          <a:p>
            <a:pPr>
              <a:buNone/>
              <a:defRPr sz="1200" b="1">
                <a:solidFill>
                  <a:srgbClr val="4E5F72"/>
                </a:solidFill>
                <a:latin typeface="Aptos"/>
                <a:ea typeface="Aptos"/>
                <a:cs typeface="Aptos"/>
              </a:defRPr>
            </a:pPr>
            <a:endParaRPr/>
          </a:p>
        </p:txBody>
      </p:sp>
    </p:spTree>
    <p:extLst>
      <p:ext uri="{BB962C8B-B14F-4D97-AF65-F5344CB8AC3E}">
        <p14:creationId xmlns:p14="http://schemas.microsoft.com/office/powerpoint/2010/main" val="2138383522"/>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mplate-label">
            <a:extLst>
              <a:ext uri="{FF2B5EF4-FFF2-40B4-BE49-F238E27FC236}">
                <a16:creationId xmlns:a16="http://schemas.microsoft.com/office/drawing/2014/main" id="{7B246BF8-3CFC-4856-975D-50FFFEAA8A15}"/>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3CA76552-CB89-4DFF-920D-14B1DF80984C}"/>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5EDB09F6-A3CC-4A4C-9C3D-2FECDFA8B484}"/>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69E66B11-5C1C-48AE-8AC8-28F7E2559416}"/>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FROM HISTORY TO PRACTICE</a:t>
            </a:r>
          </a:p>
        </p:txBody>
      </p:sp>
      <p:sp>
        <p:nvSpPr>
          <p:cNvPr id="5" name="slide-number">
            <a:extLst>
              <a:ext uri="{FF2B5EF4-FFF2-40B4-BE49-F238E27FC236}">
                <a16:creationId xmlns:a16="http://schemas.microsoft.com/office/drawing/2014/main" id="{1C09A0E1-DD42-43BB-971C-E4F47E367596}"/>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25</a:t>
            </a:r>
          </a:p>
        </p:txBody>
      </p:sp>
      <p:sp>
        <p:nvSpPr>
          <p:cNvPr id="6" name="title">
            <a:extLst>
              <a:ext uri="{FF2B5EF4-FFF2-40B4-BE49-F238E27FC236}">
                <a16:creationId xmlns:a16="http://schemas.microsoft.com/office/drawing/2014/main" id="{1EF3BCCC-D303-4A39-8BAB-CBA44D95D8D6}"/>
              </a:ext>
            </a:extLst>
          </p:cNvPr>
          <p:cNvSpPr>
            <a:spLocks noGrp="1"/>
          </p:cNvSpPr>
          <p:nvPr/>
        </p:nvSpPr>
        <p:spPr>
          <a:xfrm>
            <a:off x="685800" y="1162050"/>
            <a:ext cx="8477250" cy="476250"/>
          </a:xfrm>
          <a:prstGeom prst="rect">
            <a:avLst/>
          </a:prstGeom>
          <a:noFill/>
          <a:ln w="0">
            <a:noFill/>
            <a:prstDash val="solid"/>
          </a:ln>
        </p:spPr>
        <p:txBody>
          <a:bodyPr/>
          <a:lstStyle/>
          <a:p>
            <a:pPr>
              <a:buNone/>
              <a:defRPr sz="2850" b="1">
                <a:solidFill>
                  <a:srgbClr val="203044"/>
                </a:solidFill>
                <a:latin typeface="Aptos"/>
                <a:ea typeface="Aptos"/>
                <a:cs typeface="Aptos"/>
              </a:defRPr>
            </a:pPr>
            <a:r>
              <a:rPr sz="2850" b="1">
                <a:solidFill>
                  <a:srgbClr val="203044"/>
                </a:solidFill>
                <a:latin typeface="Aptos"/>
                <a:ea typeface="Aptos"/>
                <a:cs typeface="Aptos"/>
              </a:rPr>
              <a:t>From History to Practice</a:t>
            </a:r>
          </a:p>
        </p:txBody>
      </p:sp>
      <p:sp>
        <p:nvSpPr>
          <p:cNvPr id="8" name="body">
            <a:extLst>
              <a:ext uri="{FF2B5EF4-FFF2-40B4-BE49-F238E27FC236}">
                <a16:creationId xmlns:a16="http://schemas.microsoft.com/office/drawing/2014/main" id="{D0209D86-9385-4D6A-9143-F3CCD78262D1}"/>
              </a:ext>
            </a:extLst>
          </p:cNvPr>
          <p:cNvSpPr>
            <a:spLocks noGrp="1"/>
          </p:cNvSpPr>
          <p:nvPr/>
        </p:nvSpPr>
        <p:spPr>
          <a:xfrm>
            <a:off x="685800" y="2095500"/>
            <a:ext cx="9334500" cy="3143250"/>
          </a:xfrm>
          <a:prstGeom prst="rect">
            <a:avLst/>
          </a:prstGeom>
          <a:noFill/>
          <a:ln w="0">
            <a:noFill/>
            <a:prstDash val="solid"/>
          </a:ln>
        </p:spPr>
        <p:txBody>
          <a:bodyPr anchor="t">
            <a:normAutofit/>
          </a:bodyPr>
          <a:lstStyle/>
          <a:p>
            <a:pPr>
              <a:lnSpc>
                <a:spcPct val="105000"/>
              </a:lnSpc>
              <a:buNone/>
              <a:defRPr sz="1875">
                <a:solidFill>
                  <a:srgbClr val="26364A"/>
                </a:solidFill>
                <a:latin typeface="Aptos"/>
                <a:ea typeface="Aptos"/>
                <a:cs typeface="Aptos"/>
              </a:defRPr>
            </a:pPr>
            <a:r>
              <a:rPr sz="1875" b="1">
                <a:solidFill>
                  <a:srgbClr val="26364A"/>
                </a:solidFill>
                <a:latin typeface="Aptos"/>
                <a:ea typeface="Aptos"/>
                <a:cs typeface="Aptos"/>
              </a:rPr>
              <a:t>Epidemiology began by asking:</a:t>
            </a:r>
          </a:p>
          <a:p>
            <a:pPr marL="20" indent="-12">
              <a:lnSpc>
                <a:spcPct val="105000"/>
              </a:lnSpc>
              <a:buNone/>
              <a:defRPr sz="1875">
                <a:solidFill>
                  <a:srgbClr val="26364A"/>
                </a:solidFill>
                <a:latin typeface="Aptos"/>
                <a:ea typeface="Aptos"/>
                <a:cs typeface="Aptos"/>
              </a:defRPr>
            </a:pPr>
            <a:r>
              <a:rPr sz="1875" b="1" i="1">
                <a:solidFill>
                  <a:srgbClr val="26364A"/>
                </a:solidFill>
                <a:latin typeface="Aptos"/>
                <a:ea typeface="Aptos"/>
                <a:cs typeface="Aptos"/>
              </a:rPr>
              <a:t>Who</a:t>
            </a:r>
            <a:r>
              <a:rPr sz="1875">
                <a:solidFill>
                  <a:srgbClr val="26364A"/>
                </a:solidFill>
                <a:latin typeface="Aptos"/>
                <a:ea typeface="Aptos"/>
                <a:cs typeface="Aptos"/>
              </a:rPr>
              <a:t> is affected?</a:t>
            </a:r>
          </a:p>
          <a:p>
            <a:pPr marL="20" indent="-12">
              <a:lnSpc>
                <a:spcPct val="105000"/>
              </a:lnSpc>
              <a:buNone/>
              <a:defRPr sz="1875">
                <a:solidFill>
                  <a:srgbClr val="26364A"/>
                </a:solidFill>
                <a:latin typeface="Aptos"/>
                <a:ea typeface="Aptos"/>
                <a:cs typeface="Aptos"/>
              </a:defRPr>
            </a:pPr>
            <a:r>
              <a:rPr sz="1875" b="1" i="1">
                <a:solidFill>
                  <a:srgbClr val="26364A"/>
                </a:solidFill>
                <a:latin typeface="Aptos"/>
                <a:ea typeface="Aptos"/>
                <a:cs typeface="Aptos"/>
              </a:rPr>
              <a:t>Where</a:t>
            </a:r>
            <a:r>
              <a:rPr sz="1875">
                <a:solidFill>
                  <a:srgbClr val="26364A"/>
                </a:solidFill>
                <a:latin typeface="Aptos"/>
                <a:ea typeface="Aptos"/>
                <a:cs typeface="Aptos"/>
              </a:rPr>
              <a:t> does disease occur?</a:t>
            </a:r>
          </a:p>
          <a:p>
            <a:pPr marL="20" indent="-12">
              <a:lnSpc>
                <a:spcPct val="105000"/>
              </a:lnSpc>
              <a:buNone/>
              <a:defRPr sz="1875">
                <a:solidFill>
                  <a:srgbClr val="26364A"/>
                </a:solidFill>
                <a:latin typeface="Aptos"/>
                <a:ea typeface="Aptos"/>
                <a:cs typeface="Aptos"/>
              </a:defRPr>
            </a:pPr>
            <a:r>
              <a:rPr sz="1875" b="1" i="1">
                <a:solidFill>
                  <a:srgbClr val="26364A"/>
                </a:solidFill>
                <a:latin typeface="Aptos"/>
                <a:ea typeface="Aptos"/>
                <a:cs typeface="Aptos"/>
              </a:rPr>
              <a:t>When</a:t>
            </a:r>
            <a:r>
              <a:rPr sz="1875">
                <a:solidFill>
                  <a:srgbClr val="26364A"/>
                </a:solidFill>
                <a:latin typeface="Aptos"/>
                <a:ea typeface="Aptos"/>
                <a:cs typeface="Aptos"/>
              </a:rPr>
              <a:t> does it change over time?</a:t>
            </a:r>
          </a:p>
          <a:p>
            <a:pPr>
              <a:lnSpc>
                <a:spcPct val="105000"/>
              </a:lnSpc>
              <a:buNone/>
              <a:defRPr sz="1875">
                <a:solidFill>
                  <a:srgbClr val="26364A"/>
                </a:solidFill>
                <a:latin typeface="Aptos"/>
                <a:ea typeface="Aptos"/>
                <a:cs typeface="Aptos"/>
              </a:defRPr>
            </a:pPr>
            <a:r>
              <a:rPr sz="1875" b="1">
                <a:solidFill>
                  <a:srgbClr val="26364A"/>
                </a:solidFill>
                <a:latin typeface="Aptos"/>
                <a:ea typeface="Aptos"/>
                <a:cs typeface="Aptos"/>
              </a:rPr>
              <a:t>Next:</a:t>
            </a:r>
            <a:r>
              <a:rPr sz="1875">
                <a:solidFill>
                  <a:srgbClr val="26364A"/>
                </a:solidFill>
                <a:latin typeface="Aptos"/>
                <a:ea typeface="Aptos"/>
                <a:cs typeface="Aptos"/>
              </a:rPr>
              <a:t> Applying these questions to real data</a:t>
            </a:r>
          </a:p>
          <a:p>
            <a:pPr>
              <a:lnSpc>
                <a:spcPct val="105000"/>
              </a:lnSpc>
              <a:buNone/>
              <a:defRPr sz="1875">
                <a:solidFill>
                  <a:srgbClr val="26364A"/>
                </a:solidFill>
                <a:latin typeface="Aptos"/>
                <a:ea typeface="Aptos"/>
                <a:cs typeface="Aptos"/>
              </a:defRPr>
            </a:pPr>
            <a:r>
              <a:rPr sz="1875" i="1">
                <a:solidFill>
                  <a:srgbClr val="26364A"/>
                </a:solidFill>
                <a:latin typeface="Aptos"/>
                <a:ea typeface="Aptos"/>
                <a:cs typeface="Aptos"/>
              </a:rPr>
              <a:t>(Person, Place, and Time)</a:t>
            </a:r>
          </a:p>
        </p:txBody>
      </p:sp>
    </p:spTree>
    <p:extLst>
      <p:ext uri="{BB962C8B-B14F-4D97-AF65-F5344CB8AC3E}">
        <p14:creationId xmlns:p14="http://schemas.microsoft.com/office/powerpoint/2010/main" val="1737505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mplate-label">
            <a:extLst>
              <a:ext uri="{FF2B5EF4-FFF2-40B4-BE49-F238E27FC236}">
                <a16:creationId xmlns:a16="http://schemas.microsoft.com/office/drawing/2014/main" id="{E60B7CE5-EF2B-4026-8219-7458C00DA56C}"/>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B0419E-C5B8-4DE1-A8F4-7EA3492EE8D6}"/>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206B839E-C302-4915-B8AB-7F43BC265118}"/>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3FC5FC40-9B2E-4F9B-BAFE-FF33B14D726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PERSON</a:t>
            </a:r>
          </a:p>
        </p:txBody>
      </p:sp>
      <p:sp>
        <p:nvSpPr>
          <p:cNvPr id="5" name="slide-number">
            <a:extLst>
              <a:ext uri="{FF2B5EF4-FFF2-40B4-BE49-F238E27FC236}">
                <a16:creationId xmlns:a16="http://schemas.microsoft.com/office/drawing/2014/main" id="{9E9313E4-4510-421C-842F-02F7B7556456}"/>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26</a:t>
            </a:r>
          </a:p>
        </p:txBody>
      </p:sp>
      <p:sp>
        <p:nvSpPr>
          <p:cNvPr id="6" name="title">
            <a:extLst>
              <a:ext uri="{FF2B5EF4-FFF2-40B4-BE49-F238E27FC236}">
                <a16:creationId xmlns:a16="http://schemas.microsoft.com/office/drawing/2014/main" id="{312ED333-B76B-4A23-872C-F1552FF78E09}"/>
              </a:ext>
            </a:extLst>
          </p:cNvPr>
          <p:cNvSpPr>
            <a:spLocks noGrp="1"/>
          </p:cNvSpPr>
          <p:nvPr/>
        </p:nvSpPr>
        <p:spPr>
          <a:xfrm>
            <a:off x="685800" y="1162050"/>
            <a:ext cx="3905250" cy="876300"/>
          </a:xfrm>
          <a:prstGeom prst="rect">
            <a:avLst/>
          </a:prstGeom>
          <a:noFill/>
          <a:ln w="0">
            <a:noFill/>
            <a:prstDash val="solid"/>
          </a:ln>
        </p:spPr>
        <p:txBody>
          <a:bodyPr>
            <a:normAutofit fontScale="80687"/>
          </a:bodyPr>
          <a:lstStyle/>
          <a:p>
            <a:pPr>
              <a:buNone/>
              <a:defRPr sz="2550" b="1">
                <a:solidFill>
                  <a:srgbClr val="203044"/>
                </a:solidFill>
                <a:latin typeface="Aptos"/>
                <a:ea typeface="Aptos"/>
                <a:cs typeface="Aptos"/>
              </a:defRPr>
            </a:pPr>
            <a:r>
              <a:rPr sz="2550" b="1">
                <a:solidFill>
                  <a:srgbClr val="203044"/>
                </a:solidFill>
                <a:latin typeface="Aptos"/>
                <a:ea typeface="Aptos"/>
                <a:cs typeface="Aptos"/>
              </a:rPr>
              <a:t>Who: personal characteristics e.g. age or gender</a:t>
            </a:r>
          </a:p>
        </p:txBody>
      </p:sp>
      <p:sp>
        <p:nvSpPr>
          <p:cNvPr id="7" name="body">
            <a:extLst>
              <a:ext uri="{FF2B5EF4-FFF2-40B4-BE49-F238E27FC236}">
                <a16:creationId xmlns:a16="http://schemas.microsoft.com/office/drawing/2014/main" id="{578B2320-8FC6-4B1E-87EA-2DCA805B779D}"/>
              </a:ext>
            </a:extLst>
          </p:cNvPr>
          <p:cNvSpPr>
            <a:spLocks noGrp="1"/>
          </p:cNvSpPr>
          <p:nvPr/>
        </p:nvSpPr>
        <p:spPr>
          <a:xfrm>
            <a:off x="685800" y="5191125"/>
            <a:ext cx="10820400" cy="809625"/>
          </a:xfrm>
          <a:prstGeom prst="rect">
            <a:avLst/>
          </a:prstGeom>
          <a:noFill/>
          <a:ln w="0">
            <a:noFill/>
            <a:prstDash val="solid"/>
          </a:ln>
        </p:spPr>
        <p:txBody>
          <a:bodyPr anchor="t">
            <a:normAutofit/>
          </a:bodyPr>
          <a:lstStyle/>
          <a:p>
            <a:pPr>
              <a:buNone/>
              <a:defRPr sz="825">
                <a:solidFill>
                  <a:srgbClr val="6B7580"/>
                </a:solidFill>
                <a:latin typeface="Aptos"/>
                <a:ea typeface="Aptos"/>
                <a:cs typeface="Aptos"/>
              </a:defRPr>
            </a:pPr>
            <a:r>
              <a:rPr sz="825">
                <a:solidFill>
                  <a:srgbClr val="6B7580"/>
                </a:solidFill>
                <a:latin typeface="Aptos"/>
                <a:ea typeface="Aptos"/>
                <a:cs typeface="Aptos"/>
              </a:rPr>
              <a:t>Age-Specific Death Rates Associated With Breast Cancer Among All Persons by Age Group, United States, 1996 and 2006</a:t>
            </a:r>
          </a:p>
          <a:p>
            <a:pPr>
              <a:buNone/>
              <a:defRPr sz="1650">
                <a:solidFill>
                  <a:srgbClr val="6C757D"/>
                </a:solidFill>
                <a:latin typeface="Aptos"/>
                <a:ea typeface="Aptos"/>
                <a:cs typeface="Aptos"/>
              </a:defRPr>
            </a:pPr>
            <a:endParaRPr sz="825">
              <a:solidFill>
                <a:srgbClr val="6B7580"/>
              </a:solidFill>
              <a:latin typeface="Aptos"/>
              <a:ea typeface="Aptos"/>
              <a:cs typeface="Aptos"/>
            </a:endParaRPr>
          </a:p>
          <a:p>
            <a:pPr>
              <a:buNone/>
              <a:defRPr sz="825">
                <a:solidFill>
                  <a:srgbClr val="6B7580"/>
                </a:solidFill>
                <a:latin typeface="Aptos"/>
                <a:ea typeface="Aptos"/>
                <a:cs typeface="Aptos"/>
              </a:defRPr>
            </a:pPr>
            <a:r>
              <a:rPr sz="825">
                <a:solidFill>
                  <a:srgbClr val="6B7580"/>
                </a:solidFill>
                <a:latin typeface="Aptos"/>
                <a:ea typeface="Aptos"/>
                <a:cs typeface="Aptos"/>
              </a:rPr>
              <a:t>Note: The death rates refer to the number of deaths due to breast cancer per 100,000 persons in the particular age group (including both females and males). Source: National Center for Health Statistics. Available at http://www.prb.org/Articles/2009/breastcancer.aspx?p=1</a:t>
            </a:r>
          </a:p>
        </p:txBody>
      </p:sp>
      <p:sp>
        <p:nvSpPr>
          <p:cNvPr id="8" name="caption">
            <a:extLst>
              <a:ext uri="{FF2B5EF4-FFF2-40B4-BE49-F238E27FC236}">
                <a16:creationId xmlns:a16="http://schemas.microsoft.com/office/drawing/2014/main" id="{CD89B906-5C7B-454A-8428-B1BCFEA04AE0}"/>
              </a:ext>
            </a:extLst>
          </p:cNvPr>
          <p:cNvSpPr>
            <a:spLocks noGrp="1"/>
          </p:cNvSpPr>
          <p:nvPr/>
        </p:nvSpPr>
        <p:spPr>
          <a:xfrm>
            <a:off x="685800" y="4762500"/>
            <a:ext cx="3905250" cy="400050"/>
          </a:xfrm>
          <a:prstGeom prst="rect">
            <a:avLst/>
          </a:prstGeom>
          <a:noFill/>
          <a:ln w="0">
            <a:noFill/>
            <a:prstDash val="solid"/>
          </a:ln>
        </p:spPr>
        <p:txBody>
          <a:bodyPr/>
          <a:lstStyle/>
          <a:p>
            <a:pPr>
              <a:buNone/>
              <a:defRPr sz="1200" b="1">
                <a:solidFill>
                  <a:srgbClr val="4E5F72"/>
                </a:solidFill>
                <a:latin typeface="Aptos"/>
                <a:ea typeface="Aptos"/>
                <a:cs typeface="Aptos"/>
              </a:defRPr>
            </a:pPr>
            <a:endParaRPr/>
          </a:p>
        </p:txBody>
      </p:sp>
      <p:pic>
        <p:nvPicPr>
          <p:cNvPr id="21" name="Picture 20"/>
          <p:cNvPicPr>
            <a:picLocks noChangeAspect="1"/>
          </p:cNvPicPr>
          <p:nvPr/>
        </p:nvPicPr>
        <p:blipFill>
          <a:blip r:embed="rId4"/>
          <a:stretch/>
        </p:blipFill>
        <p:spPr>
          <a:xfrm>
            <a:off x="1205814" y="1952625"/>
            <a:ext cx="3912973" cy="3048000"/>
          </a:xfrm>
          <a:prstGeom prst="rect">
            <a:avLst/>
          </a:prstGeom>
        </p:spPr>
      </p:pic>
      <p:pic>
        <p:nvPicPr>
          <p:cNvPr id="22" name="Picture 21"/>
          <p:cNvPicPr>
            <a:picLocks noChangeAspect="1"/>
          </p:cNvPicPr>
          <p:nvPr/>
        </p:nvPicPr>
        <p:blipFill>
          <a:blip r:embed="rId5"/>
          <a:stretch/>
        </p:blipFill>
        <p:spPr>
          <a:xfrm>
            <a:off x="6988411" y="1952625"/>
            <a:ext cx="3358678" cy="3048000"/>
          </a:xfrm>
          <a:prstGeom prst="rect">
            <a:avLst/>
          </a:prstGeom>
        </p:spPr>
      </p:pic>
    </p:spTree>
    <p:extLst>
      <p:ext uri="{BB962C8B-B14F-4D97-AF65-F5344CB8AC3E}">
        <p14:creationId xmlns:p14="http://schemas.microsoft.com/office/powerpoint/2010/main" val="670783965"/>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mplate-label">
            <a:extLst>
              <a:ext uri="{FF2B5EF4-FFF2-40B4-BE49-F238E27FC236}">
                <a16:creationId xmlns:a16="http://schemas.microsoft.com/office/drawing/2014/main" id="{E60B7CE5-EF2B-4026-8219-7458C00DA56C}"/>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B0419E-C5B8-4DE1-A8F4-7EA3492EE8D6}"/>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206B839E-C302-4915-B8AB-7F43BC265118}"/>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3FC5FC40-9B2E-4F9B-BAFE-FF33B14D726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PLACE</a:t>
            </a:r>
          </a:p>
        </p:txBody>
      </p:sp>
      <p:sp>
        <p:nvSpPr>
          <p:cNvPr id="5" name="slide-number">
            <a:extLst>
              <a:ext uri="{FF2B5EF4-FFF2-40B4-BE49-F238E27FC236}">
                <a16:creationId xmlns:a16="http://schemas.microsoft.com/office/drawing/2014/main" id="{9E9313E4-4510-421C-842F-02F7B7556456}"/>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27</a:t>
            </a:r>
          </a:p>
        </p:txBody>
      </p:sp>
      <p:sp>
        <p:nvSpPr>
          <p:cNvPr id="6" name="title">
            <a:extLst>
              <a:ext uri="{FF2B5EF4-FFF2-40B4-BE49-F238E27FC236}">
                <a16:creationId xmlns:a16="http://schemas.microsoft.com/office/drawing/2014/main" id="{312ED333-B76B-4A23-872C-F1552FF78E09}"/>
              </a:ext>
            </a:extLst>
          </p:cNvPr>
          <p:cNvSpPr>
            <a:spLocks noGrp="1"/>
          </p:cNvSpPr>
          <p:nvPr/>
        </p:nvSpPr>
        <p:spPr>
          <a:xfrm>
            <a:off x="685800" y="1162050"/>
            <a:ext cx="3905250" cy="876300"/>
          </a:xfrm>
          <a:prstGeom prst="rect">
            <a:avLst/>
          </a:prstGeom>
          <a:noFill/>
          <a:ln w="0">
            <a:noFill/>
            <a:prstDash val="solid"/>
          </a:ln>
        </p:spPr>
        <p:txBody>
          <a:bodyPr>
            <a:normAutofit fontScale="77926"/>
          </a:bodyPr>
          <a:lstStyle/>
          <a:p>
            <a:pPr>
              <a:buNone/>
              <a:defRPr sz="2400" b="1">
                <a:solidFill>
                  <a:srgbClr val="203044"/>
                </a:solidFill>
                <a:latin typeface="Aptos"/>
                <a:ea typeface="Aptos"/>
                <a:cs typeface="Aptos"/>
              </a:defRPr>
            </a:pPr>
            <a:r>
              <a:rPr sz="2400" b="1">
                <a:solidFill>
                  <a:srgbClr val="203044"/>
                </a:solidFill>
                <a:latin typeface="Aptos"/>
                <a:ea typeface="Aptos"/>
                <a:cs typeface="Aptos"/>
              </a:rPr>
              <a:t>Where: Geographically restricted or widespread (pandemic)?</a:t>
            </a:r>
          </a:p>
        </p:txBody>
      </p:sp>
      <p:sp>
        <p:nvSpPr>
          <p:cNvPr id="7" name="body">
            <a:extLst>
              <a:ext uri="{FF2B5EF4-FFF2-40B4-BE49-F238E27FC236}">
                <a16:creationId xmlns:a16="http://schemas.microsoft.com/office/drawing/2014/main" id="{578B2320-8FC6-4B1E-87EA-2DCA805B779D}"/>
              </a:ext>
            </a:extLst>
          </p:cNvPr>
          <p:cNvSpPr>
            <a:spLocks noGrp="1"/>
          </p:cNvSpPr>
          <p:nvPr/>
        </p:nvSpPr>
        <p:spPr>
          <a:xfrm>
            <a:off x="685800" y="5219700"/>
            <a:ext cx="10820400" cy="762000"/>
          </a:xfrm>
          <a:prstGeom prst="rect">
            <a:avLst/>
          </a:prstGeom>
          <a:noFill/>
          <a:ln w="0">
            <a:noFill/>
            <a:prstDash val="solid"/>
          </a:ln>
        </p:spPr>
        <p:txBody>
          <a:bodyPr anchor="t">
            <a:normAutofit/>
          </a:bodyPr>
          <a:lstStyle/>
          <a:p>
            <a:pPr>
              <a:buNone/>
              <a:defRPr sz="825">
                <a:solidFill>
                  <a:srgbClr val="6B7580"/>
                </a:solidFill>
                <a:latin typeface="Aptos"/>
                <a:ea typeface="Aptos"/>
                <a:cs typeface="Aptos"/>
              </a:defRPr>
            </a:pPr>
            <a:r>
              <a:rPr sz="825">
                <a:solidFill>
                  <a:srgbClr val="6B7580"/>
                </a:solidFill>
                <a:latin typeface="Aptos"/>
                <a:ea typeface="Aptos"/>
                <a:cs typeface="Aptos"/>
              </a:rPr>
              <a:t>*Rates are per 100,000 and are age-adjusted to the 2000 U.S. standard population. ‡Data are suppressed at the state's request. †Source: U.S. Cancer Statistics Working Group. United States Cancer Statistics: 1999–2009 Incidence and Mortality Web-based Report. Atlanta (GA): Department of Health and Human Services, Centers for Disease Control and Prevention, and National Cancer Institute; 2013. Available at: http://www.cdc.gov/cancer/breast/statistics/state.htm</a:t>
            </a:r>
          </a:p>
        </p:txBody>
      </p:sp>
      <p:sp>
        <p:nvSpPr>
          <p:cNvPr id="8" name="caption">
            <a:extLst>
              <a:ext uri="{FF2B5EF4-FFF2-40B4-BE49-F238E27FC236}">
                <a16:creationId xmlns:a16="http://schemas.microsoft.com/office/drawing/2014/main" id="{CD89B906-5C7B-454A-8428-B1BCFEA04AE0}"/>
              </a:ext>
            </a:extLst>
          </p:cNvPr>
          <p:cNvSpPr>
            <a:spLocks noGrp="1"/>
          </p:cNvSpPr>
          <p:nvPr/>
        </p:nvSpPr>
        <p:spPr>
          <a:xfrm>
            <a:off x="685800" y="1762125"/>
            <a:ext cx="4953000" cy="247650"/>
          </a:xfrm>
          <a:prstGeom prst="rect">
            <a:avLst/>
          </a:prstGeom>
          <a:noFill/>
          <a:ln w="0">
            <a:noFill/>
            <a:prstDash val="solid"/>
          </a:ln>
        </p:spPr>
        <p:txBody>
          <a:bodyPr/>
          <a:lstStyle/>
          <a:p>
            <a:pPr>
              <a:buNone/>
              <a:defRPr sz="1200" b="1">
                <a:solidFill>
                  <a:srgbClr val="4E5F72"/>
                </a:solidFill>
                <a:latin typeface="Georgia"/>
                <a:ea typeface="Georgia"/>
                <a:cs typeface="Georgia"/>
              </a:defRPr>
            </a:pPr>
            <a:r>
              <a:rPr sz="1200" b="1">
                <a:solidFill>
                  <a:srgbClr val="4E5F72"/>
                </a:solidFill>
                <a:latin typeface="Georgia"/>
                <a:ea typeface="Georgia"/>
                <a:cs typeface="Georgia"/>
              </a:rPr>
              <a:t>Female Breast Cancer Incidence Rates* by State, 2009†</a:t>
            </a:r>
          </a:p>
        </p:txBody>
      </p:sp>
      <p:pic>
        <p:nvPicPr>
          <p:cNvPr id="20" name="Picture 19"/>
          <p:cNvPicPr>
            <a:picLocks noChangeAspect="1"/>
          </p:cNvPicPr>
          <p:nvPr/>
        </p:nvPicPr>
        <p:blipFill>
          <a:blip r:embed="rId4"/>
          <a:stretch/>
        </p:blipFill>
        <p:spPr>
          <a:xfrm>
            <a:off x="3845399" y="2047875"/>
            <a:ext cx="4501203" cy="3048000"/>
          </a:xfrm>
          <a:prstGeom prst="rect">
            <a:avLst/>
          </a:prstGeom>
        </p:spPr>
      </p:pic>
    </p:spTree>
    <p:extLst>
      <p:ext uri="{BB962C8B-B14F-4D97-AF65-F5344CB8AC3E}">
        <p14:creationId xmlns:p14="http://schemas.microsoft.com/office/powerpoint/2010/main" val="670783965"/>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mplate-label">
            <a:extLst>
              <a:ext uri="{FF2B5EF4-FFF2-40B4-BE49-F238E27FC236}">
                <a16:creationId xmlns:a16="http://schemas.microsoft.com/office/drawing/2014/main" id="{E60B7CE5-EF2B-4026-8219-7458C00DA56C}"/>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B0419E-C5B8-4DE1-A8F4-7EA3492EE8D6}"/>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206B839E-C302-4915-B8AB-7F43BC265118}"/>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3FC5FC40-9B2E-4F9B-BAFE-FF33B14D726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TIME</a:t>
            </a:r>
          </a:p>
        </p:txBody>
      </p:sp>
      <p:sp>
        <p:nvSpPr>
          <p:cNvPr id="5" name="slide-number">
            <a:extLst>
              <a:ext uri="{FF2B5EF4-FFF2-40B4-BE49-F238E27FC236}">
                <a16:creationId xmlns:a16="http://schemas.microsoft.com/office/drawing/2014/main" id="{9E9313E4-4510-421C-842F-02F7B7556456}"/>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28</a:t>
            </a:r>
          </a:p>
        </p:txBody>
      </p:sp>
      <p:sp>
        <p:nvSpPr>
          <p:cNvPr id="6" name="title">
            <a:extLst>
              <a:ext uri="{FF2B5EF4-FFF2-40B4-BE49-F238E27FC236}">
                <a16:creationId xmlns:a16="http://schemas.microsoft.com/office/drawing/2014/main" id="{312ED333-B76B-4A23-872C-F1552FF78E09}"/>
              </a:ext>
            </a:extLst>
          </p:cNvPr>
          <p:cNvSpPr>
            <a:spLocks noGrp="1"/>
          </p:cNvSpPr>
          <p:nvPr/>
        </p:nvSpPr>
        <p:spPr>
          <a:xfrm>
            <a:off x="685800" y="1219200"/>
            <a:ext cx="7239000" cy="685800"/>
          </a:xfrm>
          <a:prstGeom prst="rect">
            <a:avLst/>
          </a:prstGeom>
          <a:noFill/>
          <a:ln w="0">
            <a:noFill/>
            <a:prstDash val="solid"/>
          </a:ln>
        </p:spPr>
        <p:txBody>
          <a:bodyPr>
            <a:normAutofit/>
          </a:bodyPr>
          <a:lstStyle/>
          <a:p>
            <a:pPr>
              <a:buNone/>
              <a:defRPr sz="2850" b="1">
                <a:solidFill>
                  <a:srgbClr val="203044"/>
                </a:solidFill>
                <a:latin typeface="Aptos"/>
                <a:ea typeface="Aptos"/>
                <a:cs typeface="Aptos"/>
              </a:defRPr>
            </a:pPr>
            <a:r>
              <a:rPr sz="2850" b="1">
                <a:solidFill>
                  <a:srgbClr val="203044"/>
                </a:solidFill>
                <a:latin typeface="Aptos"/>
                <a:ea typeface="Aptos"/>
                <a:cs typeface="Aptos"/>
              </a:rPr>
              <a:t>When: change over time</a:t>
            </a:r>
          </a:p>
        </p:txBody>
      </p:sp>
      <p:sp>
        <p:nvSpPr>
          <p:cNvPr id="7" name="body">
            <a:extLst>
              <a:ext uri="{FF2B5EF4-FFF2-40B4-BE49-F238E27FC236}">
                <a16:creationId xmlns:a16="http://schemas.microsoft.com/office/drawing/2014/main" id="{578B2320-8FC6-4B1E-87EA-2DCA805B779D}"/>
              </a:ext>
            </a:extLst>
          </p:cNvPr>
          <p:cNvSpPr>
            <a:spLocks noGrp="1"/>
          </p:cNvSpPr>
          <p:nvPr/>
        </p:nvSpPr>
        <p:spPr>
          <a:xfrm>
            <a:off x="685800" y="5219700"/>
            <a:ext cx="10820400" cy="762000"/>
          </a:xfrm>
          <a:prstGeom prst="rect">
            <a:avLst/>
          </a:prstGeom>
          <a:noFill/>
          <a:ln w="0">
            <a:noFill/>
            <a:prstDash val="solid"/>
          </a:ln>
        </p:spPr>
        <p:txBody>
          <a:bodyPr anchor="t">
            <a:normAutofit/>
          </a:bodyPr>
          <a:lstStyle/>
          <a:p>
            <a:pPr>
              <a:buNone/>
              <a:defRPr sz="825">
                <a:solidFill>
                  <a:srgbClr val="6B7580"/>
                </a:solidFill>
                <a:latin typeface="Aptos"/>
                <a:ea typeface="Aptos"/>
                <a:cs typeface="Aptos"/>
              </a:defRPr>
            </a:pPr>
            <a:r>
              <a:rPr sz="825">
                <a:solidFill>
                  <a:srgbClr val="6B7580"/>
                </a:solidFill>
                <a:latin typeface="Aptos"/>
                <a:ea typeface="Aptos"/>
                <a:cs typeface="Aptos"/>
              </a:rPr>
              <a:t>* Rates per 100,000 women aged 45--64 years for whom breast cancer was the underlying cause of death (based on International Classification of Diseases, Ninth Revision [ICD-9] codes 174--175 for 1990--1998 and ICD-10 code C50 for 1999--2007). Sources: CDC Morbidity and Mortality Weekly Report (MMWR), July 30, 2010 / 59(29);915. Available at http://www.cdc.gov/mmwr/preview/mmwrhtml/mm5929a5.htm</a:t>
            </a:r>
          </a:p>
        </p:txBody>
      </p:sp>
      <p:sp>
        <p:nvSpPr>
          <p:cNvPr id="8" name="caption">
            <a:extLst>
              <a:ext uri="{FF2B5EF4-FFF2-40B4-BE49-F238E27FC236}">
                <a16:creationId xmlns:a16="http://schemas.microsoft.com/office/drawing/2014/main" id="{CD89B906-5C7B-454A-8428-B1BCFEA04AE0}"/>
              </a:ext>
            </a:extLst>
          </p:cNvPr>
          <p:cNvSpPr>
            <a:spLocks noGrp="1"/>
          </p:cNvSpPr>
          <p:nvPr/>
        </p:nvSpPr>
        <p:spPr>
          <a:xfrm>
            <a:off x="685800" y="1762125"/>
            <a:ext cx="8572500" cy="285750"/>
          </a:xfrm>
          <a:prstGeom prst="rect">
            <a:avLst/>
          </a:prstGeom>
          <a:noFill/>
          <a:ln w="0">
            <a:noFill/>
            <a:prstDash val="solid"/>
          </a:ln>
        </p:spPr>
        <p:txBody>
          <a:bodyPr>
            <a:normAutofit/>
          </a:bodyPr>
          <a:lstStyle/>
          <a:p>
            <a:pPr>
              <a:buNone/>
              <a:defRPr sz="1125" b="1">
                <a:solidFill>
                  <a:srgbClr val="4E5F72"/>
                </a:solidFill>
                <a:latin typeface="Georgia"/>
                <a:ea typeface="Georgia"/>
                <a:cs typeface="Georgia"/>
              </a:defRPr>
            </a:pPr>
            <a:r>
              <a:rPr sz="1125" b="1">
                <a:solidFill>
                  <a:srgbClr val="4E5F72"/>
                </a:solidFill>
                <a:latin typeface="Georgia"/>
                <a:ea typeface="Georgia"/>
                <a:cs typeface="Georgia"/>
              </a:rPr>
              <a:t>Breast Cancer Death Rates Among Women Aged 45--64 Years,* by Race --- United States, 1990--2007</a:t>
            </a:r>
          </a:p>
        </p:txBody>
      </p:sp>
      <p:pic>
        <p:nvPicPr>
          <p:cNvPr id="20" name="Picture 19"/>
          <p:cNvPicPr>
            <a:picLocks noChangeAspect="1"/>
          </p:cNvPicPr>
          <p:nvPr/>
        </p:nvPicPr>
        <p:blipFill>
          <a:blip r:embed="rId4"/>
          <a:stretch/>
        </p:blipFill>
        <p:spPr>
          <a:xfrm>
            <a:off x="3784365" y="2143125"/>
            <a:ext cx="4528021" cy="2952750"/>
          </a:xfrm>
          <a:prstGeom prst="rect">
            <a:avLst/>
          </a:prstGeom>
        </p:spPr>
      </p:pic>
    </p:spTree>
    <p:extLst>
      <p:ext uri="{BB962C8B-B14F-4D97-AF65-F5344CB8AC3E}">
        <p14:creationId xmlns:p14="http://schemas.microsoft.com/office/powerpoint/2010/main" val="670783965"/>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template-label">
            <a:extLst>
              <a:ext uri="{FF2B5EF4-FFF2-40B4-BE49-F238E27FC236}">
                <a16:creationId xmlns:a16="http://schemas.microsoft.com/office/drawing/2014/main" id="{ED8645A5-6AE4-4AA2-9FBA-267B442290B2}"/>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2A27C6E4-AD12-41E2-89B9-5241F556489C}"/>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14D599BD-D76C-42CE-B1EA-A9FA08D44BEF}"/>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33F15DF8-6DC9-4047-969F-E789539C9AF9}"/>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CLASSIFICATION</a:t>
            </a:r>
          </a:p>
        </p:txBody>
      </p:sp>
      <p:sp>
        <p:nvSpPr>
          <p:cNvPr id="5" name="slide-number">
            <a:extLst>
              <a:ext uri="{FF2B5EF4-FFF2-40B4-BE49-F238E27FC236}">
                <a16:creationId xmlns:a16="http://schemas.microsoft.com/office/drawing/2014/main" id="{83F70DC5-C59C-41A3-B613-E69632F0EDED}"/>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29</a:t>
            </a:r>
          </a:p>
        </p:txBody>
      </p:sp>
      <p:sp>
        <p:nvSpPr>
          <p:cNvPr id="6" name="title">
            <a:extLst>
              <a:ext uri="{FF2B5EF4-FFF2-40B4-BE49-F238E27FC236}">
                <a16:creationId xmlns:a16="http://schemas.microsoft.com/office/drawing/2014/main" id="{D0A7A619-0A50-4819-9F29-7DFA8EDB34BB}"/>
              </a:ext>
            </a:extLst>
          </p:cNvPr>
          <p:cNvSpPr>
            <a:spLocks noGrp="1"/>
          </p:cNvSpPr>
          <p:nvPr/>
        </p:nvSpPr>
        <p:spPr>
          <a:xfrm>
            <a:off x="685800" y="1162050"/>
            <a:ext cx="7810500" cy="476250"/>
          </a:xfrm>
          <a:prstGeom prst="rect">
            <a:avLst/>
          </a:prstGeom>
          <a:noFill/>
          <a:ln w="0">
            <a:noFill/>
            <a:prstDash val="solid"/>
          </a:ln>
        </p:spPr>
        <p:txBody>
          <a:bodyPr/>
          <a:lstStyle/>
          <a:p>
            <a:pPr>
              <a:buNone/>
              <a:defRPr sz="2850" b="1">
                <a:solidFill>
                  <a:srgbClr val="203044"/>
                </a:solidFill>
                <a:latin typeface="Aptos"/>
                <a:ea typeface="Aptos"/>
                <a:cs typeface="Aptos"/>
              </a:defRPr>
            </a:pPr>
            <a:r>
              <a:rPr sz="2850" b="1">
                <a:solidFill>
                  <a:srgbClr val="203044"/>
                </a:solidFill>
                <a:latin typeface="Aptos"/>
                <a:ea typeface="Aptos"/>
                <a:cs typeface="Aptos"/>
              </a:rPr>
              <a:t>From Patterns to Classification</a:t>
            </a:r>
          </a:p>
        </p:txBody>
      </p:sp>
      <p:sp>
        <p:nvSpPr>
          <p:cNvPr id="7" name="recap-rule-0">
            <a:extLst>
              <a:ext uri="{FF2B5EF4-FFF2-40B4-BE49-F238E27FC236}">
                <a16:creationId xmlns:a16="http://schemas.microsoft.com/office/drawing/2014/main" id="{C1B8453C-0799-43BF-BC5E-63EDB5C77E46}"/>
              </a:ext>
            </a:extLst>
          </p:cNvPr>
          <p:cNvSpPr>
            <a:spLocks noGrp="1"/>
          </p:cNvSpPr>
          <p:nvPr/>
        </p:nvSpPr>
        <p:spPr>
          <a:xfrm>
            <a:off x="685800" y="2238375"/>
            <a:ext cx="2952750" cy="66675"/>
          </a:xfrm>
          <a:prstGeom prst="rect">
            <a:avLst/>
          </a:prstGeom>
          <a:solidFill>
            <a:srgbClr val="FFD662"/>
          </a:solidFill>
          <a:ln w="0">
            <a:noFill/>
            <a:prstDash val="solid"/>
          </a:ln>
        </p:spPr>
        <p:txBody>
          <a:bodyPr/>
          <a:lstStyle/>
          <a:p>
            <a:endParaRPr lang="en-US"/>
          </a:p>
        </p:txBody>
      </p:sp>
      <p:sp>
        <p:nvSpPr>
          <p:cNvPr id="8" name="recap-num-0">
            <a:extLst>
              <a:ext uri="{FF2B5EF4-FFF2-40B4-BE49-F238E27FC236}">
                <a16:creationId xmlns:a16="http://schemas.microsoft.com/office/drawing/2014/main" id="{2E57B04B-A633-4F0E-A115-5E0EBD3223B7}"/>
              </a:ext>
            </a:extLst>
          </p:cNvPr>
          <p:cNvSpPr>
            <a:spLocks noGrp="1"/>
          </p:cNvSpPr>
          <p:nvPr/>
        </p:nvSpPr>
        <p:spPr>
          <a:xfrm>
            <a:off x="685800" y="2619375"/>
            <a:ext cx="762000" cy="266700"/>
          </a:xfrm>
          <a:prstGeom prst="rect">
            <a:avLst/>
          </a:prstGeom>
          <a:noFill/>
          <a:ln w="0">
            <a:noFill/>
            <a:prstDash val="solid"/>
          </a:ln>
        </p:spPr>
        <p:txBody>
          <a:bodyPr/>
          <a:lstStyle/>
          <a:p>
            <a:pPr>
              <a:buNone/>
              <a:defRPr sz="1275" b="1">
                <a:solidFill>
                  <a:srgbClr val="6C757D"/>
                </a:solidFill>
                <a:latin typeface="Aptos"/>
                <a:ea typeface="Aptos"/>
                <a:cs typeface="Aptos"/>
              </a:defRPr>
            </a:pPr>
            <a:r>
              <a:rPr sz="1275" b="1">
                <a:solidFill>
                  <a:srgbClr val="6C757D"/>
                </a:solidFill>
                <a:latin typeface="Aptos"/>
                <a:ea typeface="Aptos"/>
                <a:cs typeface="Aptos"/>
              </a:rPr>
              <a:t>01</a:t>
            </a:r>
          </a:p>
        </p:txBody>
      </p:sp>
      <p:sp>
        <p:nvSpPr>
          <p:cNvPr id="9" name="recap-head-0">
            <a:extLst>
              <a:ext uri="{FF2B5EF4-FFF2-40B4-BE49-F238E27FC236}">
                <a16:creationId xmlns:a16="http://schemas.microsoft.com/office/drawing/2014/main" id="{6605AD41-97A5-4579-8CE6-5ABB78736F14}"/>
              </a:ext>
            </a:extLst>
          </p:cNvPr>
          <p:cNvSpPr>
            <a:spLocks noGrp="1"/>
          </p:cNvSpPr>
          <p:nvPr/>
        </p:nvSpPr>
        <p:spPr>
          <a:xfrm>
            <a:off x="685800" y="3143250"/>
            <a:ext cx="2952750" cy="400050"/>
          </a:xfrm>
          <a:prstGeom prst="rect">
            <a:avLst/>
          </a:prstGeom>
          <a:noFill/>
          <a:ln w="0">
            <a:noFill/>
            <a:prstDash val="solid"/>
          </a:ln>
        </p:spPr>
        <p:txBody>
          <a:bodyPr>
            <a:normAutofit fontScale="90000"/>
          </a:bodyPr>
          <a:lstStyle/>
          <a:p>
            <a:pPr>
              <a:buNone/>
              <a:defRPr sz="2250" b="1">
                <a:solidFill>
                  <a:srgbClr val="4E5F72"/>
                </a:solidFill>
                <a:latin typeface="Georgia"/>
                <a:ea typeface="Georgia"/>
                <a:cs typeface="Georgia"/>
              </a:defRPr>
            </a:pPr>
            <a:r>
              <a:rPr sz="2250" b="1">
                <a:solidFill>
                  <a:srgbClr val="4E5F72"/>
                </a:solidFill>
                <a:latin typeface="Georgia"/>
                <a:ea typeface="Georgia"/>
                <a:cs typeface="Georgia"/>
              </a:rPr>
              <a:t>Endemic</a:t>
            </a:r>
          </a:p>
        </p:txBody>
      </p:sp>
      <p:sp>
        <p:nvSpPr>
          <p:cNvPr id="10" name="recap-body-0">
            <a:extLst>
              <a:ext uri="{FF2B5EF4-FFF2-40B4-BE49-F238E27FC236}">
                <a16:creationId xmlns:a16="http://schemas.microsoft.com/office/drawing/2014/main" id="{11C7CE8B-1461-48A2-9A88-28AE0B86E901}"/>
              </a:ext>
            </a:extLst>
          </p:cNvPr>
          <p:cNvSpPr>
            <a:spLocks noGrp="1"/>
          </p:cNvSpPr>
          <p:nvPr/>
        </p:nvSpPr>
        <p:spPr>
          <a:xfrm>
            <a:off x="685800" y="3905250"/>
            <a:ext cx="2952750" cy="876300"/>
          </a:xfrm>
          <a:prstGeom prst="rect">
            <a:avLst/>
          </a:prstGeom>
          <a:noFill/>
          <a:ln w="0">
            <a:noFill/>
            <a:prstDash val="solid"/>
          </a:ln>
        </p:spPr>
        <p:txBody>
          <a:bodyPr anchor="t">
            <a:normAutofit/>
          </a:bodyPr>
          <a:lstStyle/>
          <a:p>
            <a:pPr>
              <a:buNone/>
              <a:defRPr sz="1425">
                <a:solidFill>
                  <a:srgbClr val="6C757D"/>
                </a:solidFill>
                <a:latin typeface="Aptos"/>
                <a:ea typeface="Aptos"/>
                <a:cs typeface="Aptos"/>
              </a:defRPr>
            </a:pPr>
            <a:endParaRPr/>
          </a:p>
        </p:txBody>
      </p:sp>
      <p:sp>
        <p:nvSpPr>
          <p:cNvPr id="11" name="recap-rule-1">
            <a:extLst>
              <a:ext uri="{FF2B5EF4-FFF2-40B4-BE49-F238E27FC236}">
                <a16:creationId xmlns:a16="http://schemas.microsoft.com/office/drawing/2014/main" id="{C32ACC10-C813-4484-96F4-B37FADEDC2AA}"/>
              </a:ext>
            </a:extLst>
          </p:cNvPr>
          <p:cNvSpPr>
            <a:spLocks noGrp="1"/>
          </p:cNvSpPr>
          <p:nvPr/>
        </p:nvSpPr>
        <p:spPr>
          <a:xfrm>
            <a:off x="4352925" y="2238375"/>
            <a:ext cx="2952750" cy="66675"/>
          </a:xfrm>
          <a:prstGeom prst="rect">
            <a:avLst/>
          </a:prstGeom>
          <a:solidFill>
            <a:srgbClr val="28A745"/>
          </a:solidFill>
          <a:ln w="0">
            <a:noFill/>
            <a:prstDash val="solid"/>
          </a:ln>
        </p:spPr>
        <p:txBody>
          <a:bodyPr/>
          <a:lstStyle/>
          <a:p>
            <a:endParaRPr lang="en-US"/>
          </a:p>
        </p:txBody>
      </p:sp>
      <p:sp>
        <p:nvSpPr>
          <p:cNvPr id="12" name="recap-num-1">
            <a:extLst>
              <a:ext uri="{FF2B5EF4-FFF2-40B4-BE49-F238E27FC236}">
                <a16:creationId xmlns:a16="http://schemas.microsoft.com/office/drawing/2014/main" id="{4B8C92B2-72CF-441A-97B7-E6603E97FE7D}"/>
              </a:ext>
            </a:extLst>
          </p:cNvPr>
          <p:cNvSpPr>
            <a:spLocks noGrp="1"/>
          </p:cNvSpPr>
          <p:nvPr/>
        </p:nvSpPr>
        <p:spPr>
          <a:xfrm>
            <a:off x="4352925" y="2619375"/>
            <a:ext cx="762000" cy="266700"/>
          </a:xfrm>
          <a:prstGeom prst="rect">
            <a:avLst/>
          </a:prstGeom>
          <a:noFill/>
          <a:ln w="0">
            <a:noFill/>
            <a:prstDash val="solid"/>
          </a:ln>
        </p:spPr>
        <p:txBody>
          <a:bodyPr/>
          <a:lstStyle/>
          <a:p>
            <a:pPr>
              <a:buNone/>
              <a:defRPr sz="1275" b="1">
                <a:solidFill>
                  <a:srgbClr val="6C757D"/>
                </a:solidFill>
                <a:latin typeface="Aptos"/>
                <a:ea typeface="Aptos"/>
                <a:cs typeface="Aptos"/>
              </a:defRPr>
            </a:pPr>
            <a:r>
              <a:rPr sz="1275" b="1">
                <a:solidFill>
                  <a:srgbClr val="6C757D"/>
                </a:solidFill>
                <a:latin typeface="Aptos"/>
                <a:ea typeface="Aptos"/>
                <a:cs typeface="Aptos"/>
              </a:rPr>
              <a:t>02</a:t>
            </a:r>
          </a:p>
        </p:txBody>
      </p:sp>
      <p:sp>
        <p:nvSpPr>
          <p:cNvPr id="13" name="recap-head-1">
            <a:extLst>
              <a:ext uri="{FF2B5EF4-FFF2-40B4-BE49-F238E27FC236}">
                <a16:creationId xmlns:a16="http://schemas.microsoft.com/office/drawing/2014/main" id="{4A657D27-808F-4FB8-BD07-484DCF27BCCF}"/>
              </a:ext>
            </a:extLst>
          </p:cNvPr>
          <p:cNvSpPr>
            <a:spLocks noGrp="1"/>
          </p:cNvSpPr>
          <p:nvPr/>
        </p:nvSpPr>
        <p:spPr>
          <a:xfrm>
            <a:off x="4352925" y="3143250"/>
            <a:ext cx="2952750" cy="400050"/>
          </a:xfrm>
          <a:prstGeom prst="rect">
            <a:avLst/>
          </a:prstGeom>
          <a:noFill/>
          <a:ln w="0">
            <a:noFill/>
            <a:prstDash val="solid"/>
          </a:ln>
        </p:spPr>
        <p:txBody>
          <a:bodyPr>
            <a:normAutofit fontScale="90000"/>
          </a:bodyPr>
          <a:lstStyle/>
          <a:p>
            <a:pPr>
              <a:buNone/>
              <a:defRPr sz="2250" b="1">
                <a:solidFill>
                  <a:srgbClr val="4E5F72"/>
                </a:solidFill>
                <a:latin typeface="Georgia"/>
                <a:ea typeface="Georgia"/>
                <a:cs typeface="Georgia"/>
              </a:defRPr>
            </a:pPr>
            <a:r>
              <a:rPr sz="2250" b="1">
                <a:solidFill>
                  <a:srgbClr val="4E5F72"/>
                </a:solidFill>
                <a:latin typeface="Georgia"/>
                <a:ea typeface="Georgia"/>
                <a:cs typeface="Georgia"/>
              </a:rPr>
              <a:t>Epidemic</a:t>
            </a:r>
          </a:p>
        </p:txBody>
      </p:sp>
      <p:sp>
        <p:nvSpPr>
          <p:cNvPr id="14" name="recap-body-1">
            <a:extLst>
              <a:ext uri="{FF2B5EF4-FFF2-40B4-BE49-F238E27FC236}">
                <a16:creationId xmlns:a16="http://schemas.microsoft.com/office/drawing/2014/main" id="{58EAFEE1-F712-4866-925C-DA6BD40710A4}"/>
              </a:ext>
            </a:extLst>
          </p:cNvPr>
          <p:cNvSpPr>
            <a:spLocks noGrp="1"/>
          </p:cNvSpPr>
          <p:nvPr/>
        </p:nvSpPr>
        <p:spPr>
          <a:xfrm>
            <a:off x="4352925" y="3905250"/>
            <a:ext cx="2952750" cy="876300"/>
          </a:xfrm>
          <a:prstGeom prst="rect">
            <a:avLst/>
          </a:prstGeom>
          <a:noFill/>
          <a:ln w="0">
            <a:noFill/>
            <a:prstDash val="solid"/>
          </a:ln>
        </p:spPr>
        <p:txBody>
          <a:bodyPr anchor="t">
            <a:normAutofit/>
          </a:bodyPr>
          <a:lstStyle/>
          <a:p>
            <a:pPr>
              <a:buNone/>
              <a:defRPr sz="1425">
                <a:solidFill>
                  <a:srgbClr val="6C757D"/>
                </a:solidFill>
                <a:latin typeface="Aptos"/>
                <a:ea typeface="Aptos"/>
                <a:cs typeface="Aptos"/>
              </a:defRPr>
            </a:pPr>
            <a:endParaRPr/>
          </a:p>
        </p:txBody>
      </p:sp>
      <p:sp>
        <p:nvSpPr>
          <p:cNvPr id="15" name="recap-rule-2">
            <a:extLst>
              <a:ext uri="{FF2B5EF4-FFF2-40B4-BE49-F238E27FC236}">
                <a16:creationId xmlns:a16="http://schemas.microsoft.com/office/drawing/2014/main" id="{AD8ADBF3-D604-4BE3-8C8E-9CEE2DFD9162}"/>
              </a:ext>
            </a:extLst>
          </p:cNvPr>
          <p:cNvSpPr>
            <a:spLocks noGrp="1"/>
          </p:cNvSpPr>
          <p:nvPr/>
        </p:nvSpPr>
        <p:spPr>
          <a:xfrm>
            <a:off x="8020050" y="2238375"/>
            <a:ext cx="2952750" cy="66675"/>
          </a:xfrm>
          <a:prstGeom prst="rect">
            <a:avLst/>
          </a:prstGeom>
          <a:solidFill>
            <a:srgbClr val="FFD662"/>
          </a:solidFill>
          <a:ln w="0">
            <a:noFill/>
            <a:prstDash val="solid"/>
          </a:ln>
        </p:spPr>
        <p:txBody>
          <a:bodyPr/>
          <a:lstStyle/>
          <a:p>
            <a:endParaRPr lang="en-US"/>
          </a:p>
        </p:txBody>
      </p:sp>
      <p:sp>
        <p:nvSpPr>
          <p:cNvPr id="16" name="recap-num-2">
            <a:extLst>
              <a:ext uri="{FF2B5EF4-FFF2-40B4-BE49-F238E27FC236}">
                <a16:creationId xmlns:a16="http://schemas.microsoft.com/office/drawing/2014/main" id="{633F1167-1C68-42BB-A9A3-CF2A082E728D}"/>
              </a:ext>
            </a:extLst>
          </p:cNvPr>
          <p:cNvSpPr>
            <a:spLocks noGrp="1"/>
          </p:cNvSpPr>
          <p:nvPr/>
        </p:nvSpPr>
        <p:spPr>
          <a:xfrm>
            <a:off x="8020050" y="2619375"/>
            <a:ext cx="762000" cy="266700"/>
          </a:xfrm>
          <a:prstGeom prst="rect">
            <a:avLst/>
          </a:prstGeom>
          <a:noFill/>
          <a:ln w="0">
            <a:noFill/>
            <a:prstDash val="solid"/>
          </a:ln>
        </p:spPr>
        <p:txBody>
          <a:bodyPr/>
          <a:lstStyle/>
          <a:p>
            <a:pPr>
              <a:buNone/>
              <a:defRPr sz="1275" b="1">
                <a:solidFill>
                  <a:srgbClr val="6C757D"/>
                </a:solidFill>
                <a:latin typeface="Aptos"/>
                <a:ea typeface="Aptos"/>
                <a:cs typeface="Aptos"/>
              </a:defRPr>
            </a:pPr>
            <a:r>
              <a:rPr sz="1275" b="1">
                <a:solidFill>
                  <a:srgbClr val="6C757D"/>
                </a:solidFill>
                <a:latin typeface="Aptos"/>
                <a:ea typeface="Aptos"/>
                <a:cs typeface="Aptos"/>
              </a:rPr>
              <a:t>03</a:t>
            </a:r>
          </a:p>
        </p:txBody>
      </p:sp>
      <p:sp>
        <p:nvSpPr>
          <p:cNvPr id="17" name="recap-head-2">
            <a:extLst>
              <a:ext uri="{FF2B5EF4-FFF2-40B4-BE49-F238E27FC236}">
                <a16:creationId xmlns:a16="http://schemas.microsoft.com/office/drawing/2014/main" id="{382519F8-1D0B-4E02-8B3D-F72B5C2CE6AF}"/>
              </a:ext>
            </a:extLst>
          </p:cNvPr>
          <p:cNvSpPr>
            <a:spLocks noGrp="1"/>
          </p:cNvSpPr>
          <p:nvPr/>
        </p:nvSpPr>
        <p:spPr>
          <a:xfrm>
            <a:off x="8020050" y="3143250"/>
            <a:ext cx="2952750" cy="400050"/>
          </a:xfrm>
          <a:prstGeom prst="rect">
            <a:avLst/>
          </a:prstGeom>
          <a:noFill/>
          <a:ln w="0">
            <a:noFill/>
            <a:prstDash val="solid"/>
          </a:ln>
        </p:spPr>
        <p:txBody>
          <a:bodyPr>
            <a:normAutofit fontScale="90000"/>
          </a:bodyPr>
          <a:lstStyle/>
          <a:p>
            <a:pPr>
              <a:buNone/>
              <a:defRPr sz="2250" b="1">
                <a:solidFill>
                  <a:srgbClr val="4E5F72"/>
                </a:solidFill>
                <a:latin typeface="Georgia"/>
                <a:ea typeface="Georgia"/>
                <a:cs typeface="Georgia"/>
              </a:defRPr>
            </a:pPr>
            <a:r>
              <a:rPr sz="2250" b="1">
                <a:solidFill>
                  <a:srgbClr val="4E5F72"/>
                </a:solidFill>
                <a:latin typeface="Georgia"/>
                <a:ea typeface="Georgia"/>
                <a:cs typeface="Georgia"/>
              </a:rPr>
              <a:t>Pandemic</a:t>
            </a:r>
          </a:p>
        </p:txBody>
      </p:sp>
      <p:sp>
        <p:nvSpPr>
          <p:cNvPr id="18" name="recap-body-2">
            <a:extLst>
              <a:ext uri="{FF2B5EF4-FFF2-40B4-BE49-F238E27FC236}">
                <a16:creationId xmlns:a16="http://schemas.microsoft.com/office/drawing/2014/main" id="{F4D58B31-05C7-40F1-BF2C-25CCF9C0EA25}"/>
              </a:ext>
            </a:extLst>
          </p:cNvPr>
          <p:cNvSpPr>
            <a:spLocks noGrp="1"/>
          </p:cNvSpPr>
          <p:nvPr/>
        </p:nvSpPr>
        <p:spPr>
          <a:xfrm>
            <a:off x="8020050" y="3905250"/>
            <a:ext cx="2952750" cy="876300"/>
          </a:xfrm>
          <a:prstGeom prst="rect">
            <a:avLst/>
          </a:prstGeom>
          <a:noFill/>
          <a:ln w="0">
            <a:noFill/>
            <a:prstDash val="solid"/>
          </a:ln>
        </p:spPr>
        <p:txBody>
          <a:bodyPr anchor="t">
            <a:normAutofit/>
          </a:bodyPr>
          <a:lstStyle/>
          <a:p>
            <a:pPr>
              <a:buNone/>
              <a:defRPr sz="1425">
                <a:solidFill>
                  <a:srgbClr val="6C757D"/>
                </a:solidFill>
                <a:latin typeface="Aptos"/>
                <a:ea typeface="Aptos"/>
                <a:cs typeface="Aptos"/>
              </a:defRPr>
            </a:pPr>
            <a:endParaRPr/>
          </a:p>
        </p:txBody>
      </p:sp>
      <p:sp>
        <p:nvSpPr>
          <p:cNvPr id="19" name="next">
            <a:extLst>
              <a:ext uri="{FF2B5EF4-FFF2-40B4-BE49-F238E27FC236}">
                <a16:creationId xmlns:a16="http://schemas.microsoft.com/office/drawing/2014/main" id="{52A31903-929B-4AFC-B94C-F0795AD8B6FC}"/>
              </a:ext>
            </a:extLst>
          </p:cNvPr>
          <p:cNvSpPr>
            <a:spLocks noGrp="1"/>
          </p:cNvSpPr>
          <p:nvPr/>
        </p:nvSpPr>
        <p:spPr>
          <a:xfrm>
            <a:off x="685800" y="4476750"/>
            <a:ext cx="10287000" cy="952500"/>
          </a:xfrm>
          <a:prstGeom prst="rect">
            <a:avLst/>
          </a:prstGeom>
          <a:noFill/>
          <a:ln w="0">
            <a:noFill/>
            <a:prstDash val="solid"/>
          </a:ln>
        </p:spPr>
        <p:txBody>
          <a:bodyPr>
            <a:normAutofit/>
          </a:bodyPr>
          <a:lstStyle/>
          <a:p>
            <a:pPr>
              <a:buNone/>
              <a:defRPr sz="1425" b="1">
                <a:solidFill>
                  <a:srgbClr val="4E5F72"/>
                </a:solidFill>
                <a:latin typeface="Aptos"/>
                <a:ea typeface="Aptos"/>
                <a:cs typeface="Aptos"/>
              </a:defRPr>
            </a:pPr>
            <a:r>
              <a:rPr sz="1425" b="1">
                <a:solidFill>
                  <a:srgbClr val="4E5F72"/>
                </a:solidFill>
                <a:latin typeface="Aptos"/>
                <a:ea typeface="Aptos"/>
                <a:cs typeface="Aptos"/>
              </a:rPr>
              <a:t>We use person, place, and time to describe disease patterns. These patterns are commonly classified as endemic, epidemic, and pandemic. These terms describe patterns over time and place, not disease severity.</a:t>
            </a:r>
          </a:p>
        </p:txBody>
      </p:sp>
    </p:spTree>
    <p:extLst>
      <p:ext uri="{BB962C8B-B14F-4D97-AF65-F5344CB8AC3E}">
        <p14:creationId xmlns:p14="http://schemas.microsoft.com/office/powerpoint/2010/main" val="2138383522"/>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template-label">
            <a:extLst>
              <a:ext uri="{FF2B5EF4-FFF2-40B4-BE49-F238E27FC236}">
                <a16:creationId xmlns:a16="http://schemas.microsoft.com/office/drawing/2014/main" id="{ED8645A5-6AE4-4AA2-9FBA-267B442290B2}"/>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2A27C6E4-AD12-41E2-89B9-5241F556489C}"/>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14D599BD-D76C-42CE-B1EA-A9FA08D44BEF}"/>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33F15DF8-6DC9-4047-969F-E789539C9AF9}"/>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DISEASE DISTRIBUTION</a:t>
            </a:r>
          </a:p>
        </p:txBody>
      </p:sp>
      <p:sp>
        <p:nvSpPr>
          <p:cNvPr id="5" name="slide-number">
            <a:extLst>
              <a:ext uri="{FF2B5EF4-FFF2-40B4-BE49-F238E27FC236}">
                <a16:creationId xmlns:a16="http://schemas.microsoft.com/office/drawing/2014/main" id="{83F70DC5-C59C-41A3-B613-E69632F0EDED}"/>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30</a:t>
            </a:r>
          </a:p>
        </p:txBody>
      </p:sp>
      <p:sp>
        <p:nvSpPr>
          <p:cNvPr id="6" name="title">
            <a:extLst>
              <a:ext uri="{FF2B5EF4-FFF2-40B4-BE49-F238E27FC236}">
                <a16:creationId xmlns:a16="http://schemas.microsoft.com/office/drawing/2014/main" id="{D0A7A619-0A50-4819-9F29-7DFA8EDB34BB}"/>
              </a:ext>
            </a:extLst>
          </p:cNvPr>
          <p:cNvSpPr>
            <a:spLocks noGrp="1"/>
          </p:cNvSpPr>
          <p:nvPr/>
        </p:nvSpPr>
        <p:spPr>
          <a:xfrm>
            <a:off x="685800" y="1162050"/>
            <a:ext cx="7810500" cy="476250"/>
          </a:xfrm>
          <a:prstGeom prst="rect">
            <a:avLst/>
          </a:prstGeom>
          <a:noFill/>
          <a:ln w="0">
            <a:noFill/>
            <a:prstDash val="solid"/>
          </a:ln>
        </p:spPr>
        <p:txBody>
          <a:bodyPr/>
          <a:lstStyle/>
          <a:p>
            <a:pPr>
              <a:buNone/>
              <a:defRPr sz="2850" b="1">
                <a:solidFill>
                  <a:srgbClr val="203044"/>
                </a:solidFill>
                <a:latin typeface="Aptos"/>
                <a:ea typeface="Aptos"/>
                <a:cs typeface="Aptos"/>
              </a:defRPr>
            </a:pPr>
            <a:r>
              <a:rPr sz="2850" b="1">
                <a:solidFill>
                  <a:srgbClr val="203044"/>
                </a:solidFill>
                <a:latin typeface="Aptos"/>
                <a:ea typeface="Aptos"/>
                <a:cs typeface="Aptos"/>
              </a:rPr>
              <a:t>Disease Distribution Patterns</a:t>
            </a:r>
          </a:p>
        </p:txBody>
      </p:sp>
      <p:sp>
        <p:nvSpPr>
          <p:cNvPr id="7" name="recap-rule-0">
            <a:extLst>
              <a:ext uri="{FF2B5EF4-FFF2-40B4-BE49-F238E27FC236}">
                <a16:creationId xmlns:a16="http://schemas.microsoft.com/office/drawing/2014/main" id="{C1B8453C-0799-43BF-BC5E-63EDB5C77E46}"/>
              </a:ext>
            </a:extLst>
          </p:cNvPr>
          <p:cNvSpPr>
            <a:spLocks noGrp="1"/>
          </p:cNvSpPr>
          <p:nvPr/>
        </p:nvSpPr>
        <p:spPr>
          <a:xfrm>
            <a:off x="685800" y="2238375"/>
            <a:ext cx="2952750" cy="66675"/>
          </a:xfrm>
          <a:prstGeom prst="rect">
            <a:avLst/>
          </a:prstGeom>
          <a:solidFill>
            <a:srgbClr val="FFD662"/>
          </a:solidFill>
          <a:ln w="0">
            <a:noFill/>
            <a:prstDash val="solid"/>
          </a:ln>
        </p:spPr>
        <p:txBody>
          <a:bodyPr/>
          <a:lstStyle/>
          <a:p>
            <a:endParaRPr lang="en-US"/>
          </a:p>
        </p:txBody>
      </p:sp>
      <p:sp>
        <p:nvSpPr>
          <p:cNvPr id="8" name="recap-num-0">
            <a:extLst>
              <a:ext uri="{FF2B5EF4-FFF2-40B4-BE49-F238E27FC236}">
                <a16:creationId xmlns:a16="http://schemas.microsoft.com/office/drawing/2014/main" id="{2E57B04B-A633-4F0E-A115-5E0EBD3223B7}"/>
              </a:ext>
            </a:extLst>
          </p:cNvPr>
          <p:cNvSpPr>
            <a:spLocks noGrp="1"/>
          </p:cNvSpPr>
          <p:nvPr/>
        </p:nvSpPr>
        <p:spPr>
          <a:xfrm>
            <a:off x="685800" y="2619375"/>
            <a:ext cx="762000" cy="266700"/>
          </a:xfrm>
          <a:prstGeom prst="rect">
            <a:avLst/>
          </a:prstGeom>
          <a:noFill/>
          <a:ln w="0">
            <a:noFill/>
            <a:prstDash val="solid"/>
          </a:ln>
        </p:spPr>
        <p:txBody>
          <a:bodyPr/>
          <a:lstStyle/>
          <a:p>
            <a:pPr>
              <a:buNone/>
              <a:defRPr sz="1275" b="1">
                <a:solidFill>
                  <a:srgbClr val="6C757D"/>
                </a:solidFill>
                <a:latin typeface="Aptos"/>
                <a:ea typeface="Aptos"/>
                <a:cs typeface="Aptos"/>
              </a:defRPr>
            </a:pPr>
            <a:r>
              <a:rPr sz="1275" b="1">
                <a:solidFill>
                  <a:srgbClr val="6C757D"/>
                </a:solidFill>
                <a:latin typeface="Aptos"/>
                <a:ea typeface="Aptos"/>
                <a:cs typeface="Aptos"/>
              </a:rPr>
              <a:t>01</a:t>
            </a:r>
          </a:p>
        </p:txBody>
      </p:sp>
      <p:sp>
        <p:nvSpPr>
          <p:cNvPr id="9" name="recap-head-0">
            <a:extLst>
              <a:ext uri="{FF2B5EF4-FFF2-40B4-BE49-F238E27FC236}">
                <a16:creationId xmlns:a16="http://schemas.microsoft.com/office/drawing/2014/main" id="{6605AD41-97A5-4579-8CE6-5ABB78736F14}"/>
              </a:ext>
            </a:extLst>
          </p:cNvPr>
          <p:cNvSpPr>
            <a:spLocks noGrp="1"/>
          </p:cNvSpPr>
          <p:nvPr/>
        </p:nvSpPr>
        <p:spPr>
          <a:xfrm>
            <a:off x="685800" y="3143250"/>
            <a:ext cx="2952750" cy="400050"/>
          </a:xfrm>
          <a:prstGeom prst="rect">
            <a:avLst/>
          </a:prstGeom>
          <a:noFill/>
          <a:ln w="0">
            <a:noFill/>
            <a:prstDash val="solid"/>
          </a:ln>
        </p:spPr>
        <p:txBody>
          <a:bodyPr>
            <a:normAutofit fontScale="96428"/>
          </a:bodyPr>
          <a:lstStyle/>
          <a:p>
            <a:pPr>
              <a:buNone/>
              <a:defRPr sz="2100" b="1">
                <a:solidFill>
                  <a:srgbClr val="4E5F72"/>
                </a:solidFill>
                <a:latin typeface="Georgia"/>
                <a:ea typeface="Georgia"/>
                <a:cs typeface="Georgia"/>
              </a:defRPr>
            </a:pPr>
            <a:r>
              <a:rPr sz="2100" b="1">
                <a:solidFill>
                  <a:srgbClr val="4E5F72"/>
                </a:solidFill>
                <a:latin typeface="Georgia"/>
                <a:ea typeface="Georgia"/>
                <a:cs typeface="Georgia"/>
              </a:rPr>
              <a:t>Endemic</a:t>
            </a:r>
          </a:p>
        </p:txBody>
      </p:sp>
      <p:sp>
        <p:nvSpPr>
          <p:cNvPr id="10" name="recap-body-0">
            <a:extLst>
              <a:ext uri="{FF2B5EF4-FFF2-40B4-BE49-F238E27FC236}">
                <a16:creationId xmlns:a16="http://schemas.microsoft.com/office/drawing/2014/main" id="{11C7CE8B-1461-48A2-9A88-28AE0B86E901}"/>
              </a:ext>
            </a:extLst>
          </p:cNvPr>
          <p:cNvSpPr>
            <a:spLocks noGrp="1"/>
          </p:cNvSpPr>
          <p:nvPr/>
        </p:nvSpPr>
        <p:spPr>
          <a:xfrm>
            <a:off x="685800" y="3762375"/>
            <a:ext cx="2952750" cy="1428750"/>
          </a:xfrm>
          <a:prstGeom prst="rect">
            <a:avLst/>
          </a:prstGeom>
          <a:noFill/>
          <a:ln w="0">
            <a:noFill/>
            <a:prstDash val="solid"/>
          </a:ln>
        </p:spPr>
        <p:txBody>
          <a:bodyPr anchor="t">
            <a:normAutofit/>
          </a:bodyPr>
          <a:lstStyle/>
          <a:p>
            <a:pPr>
              <a:lnSpc>
                <a:spcPct val="105000"/>
              </a:lnSpc>
              <a:buNone/>
              <a:defRPr sz="1275">
                <a:solidFill>
                  <a:srgbClr val="6B7580"/>
                </a:solidFill>
                <a:latin typeface="Aptos"/>
                <a:ea typeface="Aptos"/>
                <a:cs typeface="Aptos"/>
              </a:defRPr>
            </a:pPr>
            <a:r>
              <a:rPr sz="1275">
                <a:solidFill>
                  <a:srgbClr val="6B7580"/>
                </a:solidFill>
                <a:latin typeface="Aptos"/>
                <a:ea typeface="Aptos"/>
                <a:cs typeface="Aptos"/>
              </a:rPr>
              <a:t>Disease or condition consistently present in a population</a:t>
            </a:r>
          </a:p>
          <a:p>
            <a:pPr>
              <a:lnSpc>
                <a:spcPct val="105000"/>
              </a:lnSpc>
              <a:buNone/>
              <a:defRPr sz="1275">
                <a:solidFill>
                  <a:srgbClr val="6B7580"/>
                </a:solidFill>
                <a:latin typeface="Aptos"/>
                <a:ea typeface="Aptos"/>
                <a:cs typeface="Aptos"/>
              </a:defRPr>
            </a:pPr>
            <a:r>
              <a:rPr sz="1275">
                <a:solidFill>
                  <a:srgbClr val="6B7580"/>
                </a:solidFill>
                <a:latin typeface="Aptos"/>
                <a:ea typeface="Aptos"/>
                <a:cs typeface="Aptos"/>
              </a:rPr>
              <a:t>• Relatively stable over time</a:t>
            </a:r>
          </a:p>
          <a:p>
            <a:pPr>
              <a:lnSpc>
                <a:spcPct val="105000"/>
              </a:lnSpc>
              <a:buNone/>
              <a:defRPr sz="1275">
                <a:solidFill>
                  <a:srgbClr val="6B7580"/>
                </a:solidFill>
                <a:latin typeface="Aptos"/>
                <a:ea typeface="Aptos"/>
                <a:cs typeface="Aptos"/>
              </a:defRPr>
            </a:pPr>
            <a:r>
              <a:rPr sz="1275">
                <a:solidFill>
                  <a:srgbClr val="6B7580"/>
                </a:solidFill>
                <a:latin typeface="Aptos"/>
                <a:ea typeface="Aptos"/>
                <a:cs typeface="Aptos"/>
              </a:rPr>
              <a:t>• Expected level of occurrence in a given place</a:t>
            </a:r>
          </a:p>
        </p:txBody>
      </p:sp>
      <p:sp>
        <p:nvSpPr>
          <p:cNvPr id="11" name="recap-rule-1">
            <a:extLst>
              <a:ext uri="{FF2B5EF4-FFF2-40B4-BE49-F238E27FC236}">
                <a16:creationId xmlns:a16="http://schemas.microsoft.com/office/drawing/2014/main" id="{C32ACC10-C813-4484-96F4-B37FADEDC2AA}"/>
              </a:ext>
            </a:extLst>
          </p:cNvPr>
          <p:cNvSpPr>
            <a:spLocks noGrp="1"/>
          </p:cNvSpPr>
          <p:nvPr/>
        </p:nvSpPr>
        <p:spPr>
          <a:xfrm>
            <a:off x="4352925" y="2238375"/>
            <a:ext cx="2952750" cy="66675"/>
          </a:xfrm>
          <a:prstGeom prst="rect">
            <a:avLst/>
          </a:prstGeom>
          <a:solidFill>
            <a:srgbClr val="28A745"/>
          </a:solidFill>
          <a:ln w="0">
            <a:noFill/>
            <a:prstDash val="solid"/>
          </a:ln>
        </p:spPr>
        <p:txBody>
          <a:bodyPr/>
          <a:lstStyle/>
          <a:p>
            <a:endParaRPr lang="en-US"/>
          </a:p>
        </p:txBody>
      </p:sp>
      <p:sp>
        <p:nvSpPr>
          <p:cNvPr id="12" name="recap-num-1">
            <a:extLst>
              <a:ext uri="{FF2B5EF4-FFF2-40B4-BE49-F238E27FC236}">
                <a16:creationId xmlns:a16="http://schemas.microsoft.com/office/drawing/2014/main" id="{4B8C92B2-72CF-441A-97B7-E6603E97FE7D}"/>
              </a:ext>
            </a:extLst>
          </p:cNvPr>
          <p:cNvSpPr>
            <a:spLocks noGrp="1"/>
          </p:cNvSpPr>
          <p:nvPr/>
        </p:nvSpPr>
        <p:spPr>
          <a:xfrm>
            <a:off x="4352925" y="2619375"/>
            <a:ext cx="762000" cy="266700"/>
          </a:xfrm>
          <a:prstGeom prst="rect">
            <a:avLst/>
          </a:prstGeom>
          <a:noFill/>
          <a:ln w="0">
            <a:noFill/>
            <a:prstDash val="solid"/>
          </a:ln>
        </p:spPr>
        <p:txBody>
          <a:bodyPr/>
          <a:lstStyle/>
          <a:p>
            <a:pPr>
              <a:buNone/>
              <a:defRPr sz="1275" b="1">
                <a:solidFill>
                  <a:srgbClr val="6C757D"/>
                </a:solidFill>
                <a:latin typeface="Aptos"/>
                <a:ea typeface="Aptos"/>
                <a:cs typeface="Aptos"/>
              </a:defRPr>
            </a:pPr>
            <a:r>
              <a:rPr sz="1275" b="1">
                <a:solidFill>
                  <a:srgbClr val="6C757D"/>
                </a:solidFill>
                <a:latin typeface="Aptos"/>
                <a:ea typeface="Aptos"/>
                <a:cs typeface="Aptos"/>
              </a:rPr>
              <a:t>02</a:t>
            </a:r>
          </a:p>
        </p:txBody>
      </p:sp>
      <p:sp>
        <p:nvSpPr>
          <p:cNvPr id="13" name="recap-head-1">
            <a:extLst>
              <a:ext uri="{FF2B5EF4-FFF2-40B4-BE49-F238E27FC236}">
                <a16:creationId xmlns:a16="http://schemas.microsoft.com/office/drawing/2014/main" id="{4A657D27-808F-4FB8-BD07-484DCF27BCCF}"/>
              </a:ext>
            </a:extLst>
          </p:cNvPr>
          <p:cNvSpPr>
            <a:spLocks noGrp="1"/>
          </p:cNvSpPr>
          <p:nvPr/>
        </p:nvSpPr>
        <p:spPr>
          <a:xfrm>
            <a:off x="4352925" y="3143250"/>
            <a:ext cx="2952750" cy="400050"/>
          </a:xfrm>
          <a:prstGeom prst="rect">
            <a:avLst/>
          </a:prstGeom>
          <a:noFill/>
          <a:ln w="0">
            <a:noFill/>
            <a:prstDash val="solid"/>
          </a:ln>
        </p:spPr>
        <p:txBody>
          <a:bodyPr>
            <a:normAutofit/>
          </a:bodyPr>
          <a:lstStyle/>
          <a:p>
            <a:pPr>
              <a:buNone/>
              <a:defRPr sz="1800" b="1">
                <a:solidFill>
                  <a:srgbClr val="4E5F72"/>
                </a:solidFill>
                <a:latin typeface="Georgia"/>
                <a:ea typeface="Georgia"/>
                <a:cs typeface="Georgia"/>
              </a:defRPr>
            </a:pPr>
            <a:r>
              <a:rPr sz="1800" b="1">
                <a:solidFill>
                  <a:srgbClr val="4E5F72"/>
                </a:solidFill>
                <a:latin typeface="Georgia"/>
                <a:ea typeface="Georgia"/>
                <a:cs typeface="Georgia"/>
              </a:rPr>
              <a:t>Epidemic (Outbreak)</a:t>
            </a:r>
          </a:p>
        </p:txBody>
      </p:sp>
      <p:sp>
        <p:nvSpPr>
          <p:cNvPr id="14" name="recap-body-1">
            <a:extLst>
              <a:ext uri="{FF2B5EF4-FFF2-40B4-BE49-F238E27FC236}">
                <a16:creationId xmlns:a16="http://schemas.microsoft.com/office/drawing/2014/main" id="{58EAFEE1-F712-4866-925C-DA6BD40710A4}"/>
              </a:ext>
            </a:extLst>
          </p:cNvPr>
          <p:cNvSpPr>
            <a:spLocks noGrp="1"/>
          </p:cNvSpPr>
          <p:nvPr/>
        </p:nvSpPr>
        <p:spPr>
          <a:xfrm>
            <a:off x="4352925" y="3762375"/>
            <a:ext cx="2952750" cy="1428750"/>
          </a:xfrm>
          <a:prstGeom prst="rect">
            <a:avLst/>
          </a:prstGeom>
          <a:noFill/>
          <a:ln w="0">
            <a:noFill/>
            <a:prstDash val="solid"/>
          </a:ln>
        </p:spPr>
        <p:txBody>
          <a:bodyPr anchor="t">
            <a:normAutofit/>
          </a:bodyPr>
          <a:lstStyle/>
          <a:p>
            <a:pPr>
              <a:lnSpc>
                <a:spcPct val="105000"/>
              </a:lnSpc>
              <a:buNone/>
              <a:defRPr sz="1275">
                <a:solidFill>
                  <a:srgbClr val="6B7580"/>
                </a:solidFill>
                <a:latin typeface="Aptos"/>
                <a:ea typeface="Aptos"/>
                <a:cs typeface="Aptos"/>
              </a:defRPr>
            </a:pPr>
            <a:r>
              <a:rPr sz="1275">
                <a:solidFill>
                  <a:srgbClr val="6B7580"/>
                </a:solidFill>
                <a:latin typeface="Aptos"/>
                <a:ea typeface="Aptos"/>
                <a:cs typeface="Aptos"/>
              </a:rPr>
              <a:t>Disease occurrence in excess of what is normally expected</a:t>
            </a:r>
          </a:p>
          <a:p>
            <a:pPr>
              <a:lnSpc>
                <a:spcPct val="105000"/>
              </a:lnSpc>
              <a:buNone/>
              <a:defRPr sz="1275">
                <a:solidFill>
                  <a:srgbClr val="6B7580"/>
                </a:solidFill>
                <a:latin typeface="Aptos"/>
                <a:ea typeface="Aptos"/>
                <a:cs typeface="Aptos"/>
              </a:defRPr>
            </a:pPr>
            <a:r>
              <a:rPr sz="1275">
                <a:solidFill>
                  <a:srgbClr val="6B7580"/>
                </a:solidFill>
                <a:latin typeface="Aptos"/>
                <a:ea typeface="Aptos"/>
                <a:cs typeface="Aptos"/>
              </a:rPr>
              <a:t>• Sudden increase over a short period</a:t>
            </a:r>
          </a:p>
          <a:p>
            <a:pPr>
              <a:lnSpc>
                <a:spcPct val="105000"/>
              </a:lnSpc>
              <a:buNone/>
              <a:defRPr sz="1275">
                <a:solidFill>
                  <a:srgbClr val="6B7580"/>
                </a:solidFill>
                <a:latin typeface="Aptos"/>
                <a:ea typeface="Aptos"/>
                <a:cs typeface="Aptos"/>
              </a:defRPr>
            </a:pPr>
            <a:r>
              <a:rPr sz="1275">
                <a:solidFill>
                  <a:srgbClr val="6B7580"/>
                </a:solidFill>
                <a:latin typeface="Aptos"/>
                <a:ea typeface="Aptos"/>
                <a:cs typeface="Aptos"/>
              </a:rPr>
              <a:t>• Often limited to a specific region</a:t>
            </a:r>
          </a:p>
        </p:txBody>
      </p:sp>
      <p:sp>
        <p:nvSpPr>
          <p:cNvPr id="15" name="recap-rule-2">
            <a:extLst>
              <a:ext uri="{FF2B5EF4-FFF2-40B4-BE49-F238E27FC236}">
                <a16:creationId xmlns:a16="http://schemas.microsoft.com/office/drawing/2014/main" id="{AD8ADBF3-D604-4BE3-8C8E-9CEE2DFD9162}"/>
              </a:ext>
            </a:extLst>
          </p:cNvPr>
          <p:cNvSpPr>
            <a:spLocks noGrp="1"/>
          </p:cNvSpPr>
          <p:nvPr/>
        </p:nvSpPr>
        <p:spPr>
          <a:xfrm>
            <a:off x="8020050" y="2238375"/>
            <a:ext cx="2952750" cy="66675"/>
          </a:xfrm>
          <a:prstGeom prst="rect">
            <a:avLst/>
          </a:prstGeom>
          <a:solidFill>
            <a:srgbClr val="FFD662"/>
          </a:solidFill>
          <a:ln w="0">
            <a:noFill/>
            <a:prstDash val="solid"/>
          </a:ln>
        </p:spPr>
        <p:txBody>
          <a:bodyPr/>
          <a:lstStyle/>
          <a:p>
            <a:endParaRPr lang="en-US"/>
          </a:p>
        </p:txBody>
      </p:sp>
      <p:sp>
        <p:nvSpPr>
          <p:cNvPr id="16" name="recap-num-2">
            <a:extLst>
              <a:ext uri="{FF2B5EF4-FFF2-40B4-BE49-F238E27FC236}">
                <a16:creationId xmlns:a16="http://schemas.microsoft.com/office/drawing/2014/main" id="{633F1167-1C68-42BB-A9A3-CF2A082E728D}"/>
              </a:ext>
            </a:extLst>
          </p:cNvPr>
          <p:cNvSpPr>
            <a:spLocks noGrp="1"/>
          </p:cNvSpPr>
          <p:nvPr/>
        </p:nvSpPr>
        <p:spPr>
          <a:xfrm>
            <a:off x="8020050" y="2619375"/>
            <a:ext cx="762000" cy="266700"/>
          </a:xfrm>
          <a:prstGeom prst="rect">
            <a:avLst/>
          </a:prstGeom>
          <a:noFill/>
          <a:ln w="0">
            <a:noFill/>
            <a:prstDash val="solid"/>
          </a:ln>
        </p:spPr>
        <p:txBody>
          <a:bodyPr/>
          <a:lstStyle/>
          <a:p>
            <a:pPr>
              <a:buNone/>
              <a:defRPr sz="1275" b="1">
                <a:solidFill>
                  <a:srgbClr val="6C757D"/>
                </a:solidFill>
                <a:latin typeface="Aptos"/>
                <a:ea typeface="Aptos"/>
                <a:cs typeface="Aptos"/>
              </a:defRPr>
            </a:pPr>
            <a:r>
              <a:rPr sz="1275" b="1">
                <a:solidFill>
                  <a:srgbClr val="6C757D"/>
                </a:solidFill>
                <a:latin typeface="Aptos"/>
                <a:ea typeface="Aptos"/>
                <a:cs typeface="Aptos"/>
              </a:rPr>
              <a:t>03</a:t>
            </a:r>
          </a:p>
        </p:txBody>
      </p:sp>
      <p:sp>
        <p:nvSpPr>
          <p:cNvPr id="17" name="recap-head-2">
            <a:extLst>
              <a:ext uri="{FF2B5EF4-FFF2-40B4-BE49-F238E27FC236}">
                <a16:creationId xmlns:a16="http://schemas.microsoft.com/office/drawing/2014/main" id="{382519F8-1D0B-4E02-8B3D-F72B5C2CE6AF}"/>
              </a:ext>
            </a:extLst>
          </p:cNvPr>
          <p:cNvSpPr>
            <a:spLocks noGrp="1"/>
          </p:cNvSpPr>
          <p:nvPr/>
        </p:nvSpPr>
        <p:spPr>
          <a:xfrm>
            <a:off x="8020050" y="3143250"/>
            <a:ext cx="2952750" cy="400050"/>
          </a:xfrm>
          <a:prstGeom prst="rect">
            <a:avLst/>
          </a:prstGeom>
          <a:noFill/>
          <a:ln w="0">
            <a:noFill/>
            <a:prstDash val="solid"/>
          </a:ln>
        </p:spPr>
        <p:txBody>
          <a:bodyPr>
            <a:normAutofit fontScale="96428"/>
          </a:bodyPr>
          <a:lstStyle/>
          <a:p>
            <a:pPr>
              <a:buNone/>
              <a:defRPr sz="2100" b="1">
                <a:solidFill>
                  <a:srgbClr val="4E5F72"/>
                </a:solidFill>
                <a:latin typeface="Georgia"/>
                <a:ea typeface="Georgia"/>
                <a:cs typeface="Georgia"/>
              </a:defRPr>
            </a:pPr>
            <a:r>
              <a:rPr sz="2100" b="1">
                <a:solidFill>
                  <a:srgbClr val="4E5F72"/>
                </a:solidFill>
                <a:latin typeface="Georgia"/>
                <a:ea typeface="Georgia"/>
                <a:cs typeface="Georgia"/>
              </a:rPr>
              <a:t>Pandemic</a:t>
            </a:r>
          </a:p>
        </p:txBody>
      </p:sp>
      <p:sp>
        <p:nvSpPr>
          <p:cNvPr id="18" name="recap-body-2">
            <a:extLst>
              <a:ext uri="{FF2B5EF4-FFF2-40B4-BE49-F238E27FC236}">
                <a16:creationId xmlns:a16="http://schemas.microsoft.com/office/drawing/2014/main" id="{F4D58B31-05C7-40F1-BF2C-25CCF9C0EA25}"/>
              </a:ext>
            </a:extLst>
          </p:cNvPr>
          <p:cNvSpPr>
            <a:spLocks noGrp="1"/>
          </p:cNvSpPr>
          <p:nvPr/>
        </p:nvSpPr>
        <p:spPr>
          <a:xfrm>
            <a:off x="8020050" y="3762375"/>
            <a:ext cx="2952750" cy="1428750"/>
          </a:xfrm>
          <a:prstGeom prst="rect">
            <a:avLst/>
          </a:prstGeom>
          <a:noFill/>
          <a:ln w="0">
            <a:noFill/>
            <a:prstDash val="solid"/>
          </a:ln>
        </p:spPr>
        <p:txBody>
          <a:bodyPr anchor="t">
            <a:normAutofit/>
          </a:bodyPr>
          <a:lstStyle/>
          <a:p>
            <a:pPr>
              <a:lnSpc>
                <a:spcPct val="105000"/>
              </a:lnSpc>
              <a:buNone/>
              <a:defRPr sz="1275">
                <a:solidFill>
                  <a:srgbClr val="6B7580"/>
                </a:solidFill>
                <a:latin typeface="Aptos"/>
                <a:ea typeface="Aptos"/>
                <a:cs typeface="Aptos"/>
              </a:defRPr>
            </a:pPr>
            <a:r>
              <a:rPr sz="1275">
                <a:solidFill>
                  <a:srgbClr val="6B7580"/>
                </a:solidFill>
                <a:latin typeface="Aptos"/>
                <a:ea typeface="Aptos"/>
                <a:cs typeface="Aptos"/>
              </a:rPr>
              <a:t>An epidemic that spreads across multiple countries or continents</a:t>
            </a:r>
          </a:p>
          <a:p>
            <a:pPr>
              <a:lnSpc>
                <a:spcPct val="105000"/>
              </a:lnSpc>
              <a:buNone/>
              <a:defRPr sz="1275">
                <a:solidFill>
                  <a:srgbClr val="6B7580"/>
                </a:solidFill>
                <a:latin typeface="Aptos"/>
                <a:ea typeface="Aptos"/>
                <a:cs typeface="Aptos"/>
              </a:defRPr>
            </a:pPr>
            <a:r>
              <a:rPr sz="1275">
                <a:solidFill>
                  <a:srgbClr val="6B7580"/>
                </a:solidFill>
                <a:latin typeface="Aptos"/>
                <a:ea typeface="Aptos"/>
                <a:cs typeface="Aptos"/>
              </a:rPr>
              <a:t>• Global distribution</a:t>
            </a:r>
          </a:p>
          <a:p>
            <a:pPr>
              <a:lnSpc>
                <a:spcPct val="105000"/>
              </a:lnSpc>
              <a:buNone/>
              <a:defRPr sz="1275">
                <a:solidFill>
                  <a:srgbClr val="6B7580"/>
                </a:solidFill>
                <a:latin typeface="Aptos"/>
                <a:ea typeface="Aptos"/>
                <a:cs typeface="Aptos"/>
              </a:defRPr>
            </a:pPr>
            <a:r>
              <a:rPr sz="1275">
                <a:solidFill>
                  <a:srgbClr val="6B7580"/>
                </a:solidFill>
                <a:latin typeface="Aptos"/>
                <a:ea typeface="Aptos"/>
                <a:cs typeface="Aptos"/>
              </a:rPr>
              <a:t>• Affects a large proportion of the population</a:t>
            </a:r>
          </a:p>
        </p:txBody>
      </p:sp>
      <p:sp>
        <p:nvSpPr>
          <p:cNvPr id="19" name="next">
            <a:extLst>
              <a:ext uri="{FF2B5EF4-FFF2-40B4-BE49-F238E27FC236}">
                <a16:creationId xmlns:a16="http://schemas.microsoft.com/office/drawing/2014/main" id="{52A31903-929B-4AFC-B94C-F0795AD8B6FC}"/>
              </a:ext>
            </a:extLst>
          </p:cNvPr>
          <p:cNvSpPr>
            <a:spLocks noGrp="1"/>
          </p:cNvSpPr>
          <p:nvPr/>
        </p:nvSpPr>
        <p:spPr>
          <a:xfrm>
            <a:off x="685800" y="5562600"/>
            <a:ext cx="6667500" cy="228600"/>
          </a:xfrm>
          <a:prstGeom prst="rect">
            <a:avLst/>
          </a:prstGeom>
          <a:noFill/>
          <a:ln w="0">
            <a:noFill/>
            <a:prstDash val="solid"/>
          </a:ln>
        </p:spPr>
        <p:txBody>
          <a:bodyPr>
            <a:normAutofit/>
          </a:bodyPr>
          <a:lstStyle/>
          <a:p>
            <a:pPr>
              <a:buNone/>
              <a:defRPr sz="1200" b="1">
                <a:solidFill>
                  <a:srgbClr val="4E5F72"/>
                </a:solidFill>
                <a:latin typeface="Aptos"/>
                <a:ea typeface="Aptos"/>
                <a:cs typeface="Aptos"/>
              </a:defRPr>
            </a:pPr>
            <a:endParaRPr/>
          </a:p>
        </p:txBody>
      </p:sp>
    </p:spTree>
    <p:extLst>
      <p:ext uri="{BB962C8B-B14F-4D97-AF65-F5344CB8AC3E}">
        <p14:creationId xmlns:p14="http://schemas.microsoft.com/office/powerpoint/2010/main" val="2138383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mplate-label">
            <a:extLst>
              <a:ext uri="{FF2B5EF4-FFF2-40B4-BE49-F238E27FC236}">
                <a16:creationId xmlns:a16="http://schemas.microsoft.com/office/drawing/2014/main" id="{E60B7CE5-EF2B-4026-8219-7458C00DA56C}"/>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B0419E-C5B8-4DE1-A8F4-7EA3492EE8D6}"/>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206B839E-C302-4915-B8AB-7F43BC265118}"/>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3FC5FC40-9B2E-4F9B-BAFE-FF33B14D726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EPIDEMIC / VISUAL</a:t>
            </a:r>
          </a:p>
        </p:txBody>
      </p:sp>
      <p:sp>
        <p:nvSpPr>
          <p:cNvPr id="5" name="slide-number">
            <a:extLst>
              <a:ext uri="{FF2B5EF4-FFF2-40B4-BE49-F238E27FC236}">
                <a16:creationId xmlns:a16="http://schemas.microsoft.com/office/drawing/2014/main" id="{9E9313E4-4510-421C-842F-02F7B7556456}"/>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31</a:t>
            </a:r>
          </a:p>
        </p:txBody>
      </p:sp>
      <p:sp>
        <p:nvSpPr>
          <p:cNvPr id="6" name="title">
            <a:extLst>
              <a:ext uri="{FF2B5EF4-FFF2-40B4-BE49-F238E27FC236}">
                <a16:creationId xmlns:a16="http://schemas.microsoft.com/office/drawing/2014/main" id="{312ED333-B76B-4A23-872C-F1552FF78E09}"/>
              </a:ext>
            </a:extLst>
          </p:cNvPr>
          <p:cNvSpPr>
            <a:spLocks noGrp="1"/>
          </p:cNvSpPr>
          <p:nvPr/>
        </p:nvSpPr>
        <p:spPr>
          <a:xfrm>
            <a:off x="685800" y="1162050"/>
            <a:ext cx="3905250" cy="876300"/>
          </a:xfrm>
          <a:prstGeom prst="rect">
            <a:avLst/>
          </a:prstGeom>
          <a:noFill/>
          <a:ln w="0">
            <a:noFill/>
            <a:prstDash val="solid"/>
          </a:ln>
        </p:spPr>
        <p:txBody>
          <a:bodyPr/>
          <a:lstStyle/>
          <a:p>
            <a:pPr>
              <a:buNone/>
              <a:defRPr sz="2550" b="1">
                <a:solidFill>
                  <a:srgbClr val="203044"/>
                </a:solidFill>
                <a:latin typeface="Aptos"/>
                <a:ea typeface="Aptos"/>
                <a:cs typeface="Aptos"/>
              </a:defRPr>
            </a:pPr>
            <a:r>
              <a:rPr sz="2550" b="1">
                <a:solidFill>
                  <a:srgbClr val="203044"/>
                </a:solidFill>
                <a:latin typeface="Aptos"/>
                <a:ea typeface="Aptos"/>
                <a:cs typeface="Aptos"/>
              </a:rPr>
              <a:t>Epidemic: Visual Illustration</a:t>
            </a:r>
          </a:p>
        </p:txBody>
      </p:sp>
      <p:sp>
        <p:nvSpPr>
          <p:cNvPr id="7" name="body">
            <a:extLst>
              <a:ext uri="{FF2B5EF4-FFF2-40B4-BE49-F238E27FC236}">
                <a16:creationId xmlns:a16="http://schemas.microsoft.com/office/drawing/2014/main" id="{578B2320-8FC6-4B1E-87EA-2DCA805B779D}"/>
              </a:ext>
            </a:extLst>
          </p:cNvPr>
          <p:cNvSpPr>
            <a:spLocks noGrp="1"/>
          </p:cNvSpPr>
          <p:nvPr/>
        </p:nvSpPr>
        <p:spPr>
          <a:xfrm>
            <a:off x="685800" y="2381250"/>
            <a:ext cx="3238500" cy="1619250"/>
          </a:xfrm>
          <a:prstGeom prst="rect">
            <a:avLst/>
          </a:prstGeom>
          <a:noFill/>
          <a:ln w="0">
            <a:noFill/>
            <a:prstDash val="solid"/>
          </a:ln>
        </p:spPr>
        <p:txBody>
          <a:bodyPr anchor="ctr">
            <a:normAutofit/>
          </a:bodyPr>
          <a:lstStyle/>
          <a:p>
            <a:pPr>
              <a:lnSpc>
                <a:spcPct val="125000"/>
              </a:lnSpc>
              <a:buNone/>
              <a:defRPr sz="1650">
                <a:latin typeface="Aptos"/>
                <a:ea typeface="Aptos"/>
                <a:cs typeface="Aptos"/>
              </a:defRPr>
            </a:pPr>
            <a:r>
              <a:rPr sz="1650" b="1">
                <a:solidFill>
                  <a:srgbClr val="F26B38"/>
                </a:solidFill>
                <a:latin typeface="Aptos"/>
                <a:ea typeface="Aptos"/>
                <a:cs typeface="Aptos"/>
              </a:rPr>
              <a:t>epidemic frequency</a:t>
            </a:r>
          </a:p>
          <a:p>
            <a:pPr>
              <a:lnSpc>
                <a:spcPct val="125000"/>
              </a:lnSpc>
              <a:buNone/>
              <a:defRPr sz="1650">
                <a:latin typeface="Aptos"/>
                <a:ea typeface="Aptos"/>
                <a:cs typeface="Aptos"/>
              </a:defRPr>
            </a:pPr>
            <a:r>
              <a:rPr sz="1650" b="1">
                <a:solidFill>
                  <a:srgbClr val="4472C4"/>
                </a:solidFill>
                <a:latin typeface="Aptos"/>
                <a:ea typeface="Aptos"/>
                <a:cs typeface="Aptos"/>
              </a:rPr>
              <a:t>normal expectancy</a:t>
            </a:r>
          </a:p>
          <a:p>
            <a:pPr>
              <a:lnSpc>
                <a:spcPct val="125000"/>
              </a:lnSpc>
              <a:buNone/>
              <a:defRPr sz="1650">
                <a:latin typeface="Aptos"/>
                <a:ea typeface="Aptos"/>
                <a:cs typeface="Aptos"/>
              </a:defRPr>
            </a:pPr>
            <a:r>
              <a:rPr sz="1650" b="1">
                <a:solidFill>
                  <a:srgbClr val="70AD47"/>
                </a:solidFill>
                <a:latin typeface="Aptos"/>
                <a:ea typeface="Aptos"/>
                <a:cs typeface="Aptos"/>
              </a:rPr>
              <a:t>Annual occurrence</a:t>
            </a:r>
          </a:p>
        </p:txBody>
      </p:sp>
      <p:sp>
        <p:nvSpPr>
          <p:cNvPr id="8" name="caption">
            <a:extLst>
              <a:ext uri="{FF2B5EF4-FFF2-40B4-BE49-F238E27FC236}">
                <a16:creationId xmlns:a16="http://schemas.microsoft.com/office/drawing/2014/main" id="{CD89B906-5C7B-454A-8428-B1BCFEA04AE0}"/>
              </a:ext>
            </a:extLst>
          </p:cNvPr>
          <p:cNvSpPr>
            <a:spLocks noGrp="1"/>
          </p:cNvSpPr>
          <p:nvPr/>
        </p:nvSpPr>
        <p:spPr>
          <a:xfrm>
            <a:off x="685800" y="4762500"/>
            <a:ext cx="3905250" cy="400050"/>
          </a:xfrm>
          <a:prstGeom prst="rect">
            <a:avLst/>
          </a:prstGeom>
          <a:noFill/>
          <a:ln w="0">
            <a:noFill/>
            <a:prstDash val="solid"/>
          </a:ln>
        </p:spPr>
        <p:txBody>
          <a:bodyPr/>
          <a:lstStyle/>
          <a:p>
            <a:pPr>
              <a:buNone/>
              <a:defRPr sz="1200" b="1">
                <a:solidFill>
                  <a:srgbClr val="4E5F72"/>
                </a:solidFill>
                <a:latin typeface="Aptos"/>
                <a:ea typeface="Aptos"/>
                <a:cs typeface="Aptos"/>
              </a:defRPr>
            </a:pPr>
            <a:endParaRPr/>
          </a:p>
        </p:txBody>
      </p:sp>
      <p:pic>
        <p:nvPicPr>
          <p:cNvPr id="20" name="Picture 19"/>
          <p:cNvPicPr>
            <a:picLocks noChangeAspect="1"/>
          </p:cNvPicPr>
          <p:nvPr/>
        </p:nvPicPr>
        <p:blipFill>
          <a:blip r:embed="rId3"/>
          <a:stretch/>
        </p:blipFill>
        <p:spPr>
          <a:xfrm>
            <a:off x="4294063" y="1809750"/>
            <a:ext cx="6842375" cy="4095750"/>
          </a:xfrm>
          <a:prstGeom prst="rect">
            <a:avLst/>
          </a:prstGeom>
        </p:spPr>
      </p:pic>
    </p:spTree>
    <p:extLst>
      <p:ext uri="{BB962C8B-B14F-4D97-AF65-F5344CB8AC3E}">
        <p14:creationId xmlns:p14="http://schemas.microsoft.com/office/powerpoint/2010/main" val="670783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mplate-label">
            <a:extLst>
              <a:ext uri="{FF2B5EF4-FFF2-40B4-BE49-F238E27FC236}">
                <a16:creationId xmlns:a16="http://schemas.microsoft.com/office/drawing/2014/main" id="{E60B7CE5-EF2B-4026-8219-7458C00DA56C}"/>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B0419E-C5B8-4DE1-A8F4-7EA3492EE8D6}"/>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206B839E-C302-4915-B8AB-7F43BC265118}"/>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3FC5FC40-9B2E-4F9B-BAFE-FF33B14D726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GLOBAL CONTEXT</a:t>
            </a:r>
          </a:p>
        </p:txBody>
      </p:sp>
      <p:sp>
        <p:nvSpPr>
          <p:cNvPr id="5" name="slide-number">
            <a:extLst>
              <a:ext uri="{FF2B5EF4-FFF2-40B4-BE49-F238E27FC236}">
                <a16:creationId xmlns:a16="http://schemas.microsoft.com/office/drawing/2014/main" id="{9E9313E4-4510-421C-842F-02F7B7556456}"/>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32</a:t>
            </a:r>
          </a:p>
        </p:txBody>
      </p:sp>
      <p:sp>
        <p:nvSpPr>
          <p:cNvPr id="6" name="title">
            <a:extLst>
              <a:ext uri="{FF2B5EF4-FFF2-40B4-BE49-F238E27FC236}">
                <a16:creationId xmlns:a16="http://schemas.microsoft.com/office/drawing/2014/main" id="{312ED333-B76B-4A23-872C-F1552FF78E09}"/>
              </a:ext>
            </a:extLst>
          </p:cNvPr>
          <p:cNvSpPr>
            <a:spLocks noGrp="1"/>
          </p:cNvSpPr>
          <p:nvPr/>
        </p:nvSpPr>
        <p:spPr>
          <a:xfrm>
            <a:off x="685800" y="1162050"/>
            <a:ext cx="3905250" cy="876300"/>
          </a:xfrm>
          <a:prstGeom prst="rect">
            <a:avLst/>
          </a:prstGeom>
          <a:noFill/>
          <a:ln w="0">
            <a:noFill/>
            <a:prstDash val="solid"/>
          </a:ln>
        </p:spPr>
        <p:txBody>
          <a:bodyPr>
            <a:normAutofit fontScale="88453"/>
          </a:bodyPr>
          <a:lstStyle/>
          <a:p>
            <a:pPr>
              <a:buNone/>
              <a:defRPr sz="2625" b="1">
                <a:solidFill>
                  <a:srgbClr val="203044"/>
                </a:solidFill>
                <a:latin typeface="Aptos"/>
                <a:ea typeface="Aptos"/>
                <a:cs typeface="Aptos"/>
              </a:defRPr>
            </a:pPr>
            <a:r>
              <a:rPr sz="2625" b="1">
                <a:solidFill>
                  <a:srgbClr val="203044"/>
                </a:solidFill>
                <a:latin typeface="Aptos"/>
                <a:ea typeface="Aptos"/>
                <a:cs typeface="Aptos"/>
              </a:rPr>
              <a:t>Global Context: Epidemics and Pandemics</a:t>
            </a:r>
          </a:p>
        </p:txBody>
      </p:sp>
      <p:sp>
        <p:nvSpPr>
          <p:cNvPr id="7" name="body">
            <a:extLst>
              <a:ext uri="{FF2B5EF4-FFF2-40B4-BE49-F238E27FC236}">
                <a16:creationId xmlns:a16="http://schemas.microsoft.com/office/drawing/2014/main" id="{578B2320-8FC6-4B1E-87EA-2DCA805B779D}"/>
              </a:ext>
            </a:extLst>
          </p:cNvPr>
          <p:cNvSpPr>
            <a:spLocks noGrp="1"/>
          </p:cNvSpPr>
          <p:nvPr/>
        </p:nvSpPr>
        <p:spPr>
          <a:xfrm>
            <a:off x="685800" y="2428875"/>
            <a:ext cx="3810000" cy="1809750"/>
          </a:xfrm>
          <a:prstGeom prst="rect">
            <a:avLst/>
          </a:prstGeom>
          <a:noFill/>
          <a:ln w="0">
            <a:noFill/>
            <a:prstDash val="solid"/>
          </a:ln>
        </p:spPr>
        <p:txBody>
          <a:bodyPr/>
          <a:lstStyle/>
          <a:p>
            <a:pPr>
              <a:buNone/>
              <a:defRPr sz="1650">
                <a:solidFill>
                  <a:srgbClr val="6C757D"/>
                </a:solidFill>
                <a:latin typeface="Aptos"/>
                <a:ea typeface="Aptos"/>
                <a:cs typeface="Aptos"/>
              </a:defRPr>
            </a:pPr>
            <a:endParaRPr/>
          </a:p>
        </p:txBody>
      </p:sp>
      <p:sp>
        <p:nvSpPr>
          <p:cNvPr id="8" name="caption">
            <a:extLst>
              <a:ext uri="{FF2B5EF4-FFF2-40B4-BE49-F238E27FC236}">
                <a16:creationId xmlns:a16="http://schemas.microsoft.com/office/drawing/2014/main" id="{CD89B906-5C7B-454A-8428-B1BCFEA04AE0}"/>
              </a:ext>
            </a:extLst>
          </p:cNvPr>
          <p:cNvSpPr>
            <a:spLocks noGrp="1"/>
          </p:cNvSpPr>
          <p:nvPr/>
        </p:nvSpPr>
        <p:spPr>
          <a:xfrm>
            <a:off x="685800" y="4762500"/>
            <a:ext cx="3905250" cy="400050"/>
          </a:xfrm>
          <a:prstGeom prst="rect">
            <a:avLst/>
          </a:prstGeom>
          <a:noFill/>
          <a:ln w="0">
            <a:noFill/>
            <a:prstDash val="solid"/>
          </a:ln>
        </p:spPr>
        <p:txBody>
          <a:bodyPr/>
          <a:lstStyle/>
          <a:p>
            <a:pPr>
              <a:buNone/>
              <a:defRPr sz="1200" b="1">
                <a:solidFill>
                  <a:srgbClr val="4E5F72"/>
                </a:solidFill>
                <a:latin typeface="Aptos"/>
                <a:ea typeface="Aptos"/>
                <a:cs typeface="Aptos"/>
              </a:defRPr>
            </a:pPr>
            <a:endParaRPr/>
          </a:p>
        </p:txBody>
      </p:sp>
      <p:pic>
        <p:nvPicPr>
          <p:cNvPr id="20" name="Picture 19"/>
          <p:cNvPicPr>
            <a:picLocks noChangeAspect="1"/>
          </p:cNvPicPr>
          <p:nvPr/>
        </p:nvPicPr>
        <p:blipFill>
          <a:blip r:embed="rId4"/>
          <a:stretch/>
        </p:blipFill>
        <p:spPr>
          <a:xfrm>
            <a:off x="3112940" y="1762125"/>
            <a:ext cx="5966120" cy="4191000"/>
          </a:xfrm>
          <a:prstGeom prst="rect">
            <a:avLst/>
          </a:prstGeom>
        </p:spPr>
      </p:pic>
    </p:spTree>
    <p:extLst>
      <p:ext uri="{BB962C8B-B14F-4D97-AF65-F5344CB8AC3E}">
        <p14:creationId xmlns:p14="http://schemas.microsoft.com/office/powerpoint/2010/main" val="670783965"/>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emplate-label">
            <a:extLst>
              <a:ext uri="{FF2B5EF4-FFF2-40B4-BE49-F238E27FC236}">
                <a16:creationId xmlns:a16="http://schemas.microsoft.com/office/drawing/2014/main" id="{D37C8A68-70F1-4D9B-AD11-F6B8F4C5FD4A}"/>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648793-2D85-4051-82E7-CD63A4BD8699}"/>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7C1277DC-1885-4C95-AC0F-176D00A840C2}"/>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CBB093EB-7C58-4256-813B-3BCED3ED263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APPLY THE CONCEPTS</a:t>
            </a:r>
          </a:p>
        </p:txBody>
      </p:sp>
      <p:sp>
        <p:nvSpPr>
          <p:cNvPr id="5" name="slide-number">
            <a:extLst>
              <a:ext uri="{FF2B5EF4-FFF2-40B4-BE49-F238E27FC236}">
                <a16:creationId xmlns:a16="http://schemas.microsoft.com/office/drawing/2014/main" id="{162DE736-C6D4-4D25-8311-EE34F939D48D}"/>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33</a:t>
            </a:r>
          </a:p>
        </p:txBody>
      </p:sp>
      <p:sp>
        <p:nvSpPr>
          <p:cNvPr id="6" name="title">
            <a:extLst>
              <a:ext uri="{FF2B5EF4-FFF2-40B4-BE49-F238E27FC236}">
                <a16:creationId xmlns:a16="http://schemas.microsoft.com/office/drawing/2014/main" id="{C659B037-8B3B-4C95-BB63-4A8E1AA20107}"/>
              </a:ext>
            </a:extLst>
          </p:cNvPr>
          <p:cNvSpPr>
            <a:spLocks noGrp="1"/>
          </p:cNvSpPr>
          <p:nvPr/>
        </p:nvSpPr>
        <p:spPr>
          <a:xfrm>
            <a:off x="685800" y="1162050"/>
            <a:ext cx="8572500" cy="476250"/>
          </a:xfrm>
          <a:prstGeom prst="rect">
            <a:avLst/>
          </a:prstGeom>
          <a:noFill/>
          <a:ln w="0">
            <a:noFill/>
            <a:prstDash val="solid"/>
          </a:ln>
        </p:spPr>
        <p:txBody>
          <a:bodyPr/>
          <a:lstStyle/>
          <a:p>
            <a:pPr>
              <a:buNone/>
              <a:defRPr sz="2700" b="1">
                <a:solidFill>
                  <a:srgbClr val="203044"/>
                </a:solidFill>
                <a:latin typeface="Aptos"/>
                <a:ea typeface="Aptos"/>
                <a:cs typeface="Aptos"/>
              </a:defRPr>
            </a:pPr>
            <a:r>
              <a:rPr sz="2700" b="1">
                <a:solidFill>
                  <a:srgbClr val="203044"/>
                </a:solidFill>
                <a:latin typeface="Aptos"/>
                <a:ea typeface="Aptos"/>
                <a:cs typeface="Aptos"/>
              </a:rPr>
              <a:t>Exercise: Apply the Concepts</a:t>
            </a:r>
          </a:p>
        </p:txBody>
      </p:sp>
      <p:sp>
        <p:nvSpPr>
          <p:cNvPr id="7" name="step-num-bg-0">
            <a:extLst>
              <a:ext uri="{FF2B5EF4-FFF2-40B4-BE49-F238E27FC236}">
                <a16:creationId xmlns:a16="http://schemas.microsoft.com/office/drawing/2014/main" id="{A222FB55-1171-4632-B149-8F3A992E8554}"/>
              </a:ext>
            </a:extLst>
          </p:cNvPr>
          <p:cNvSpPr>
            <a:spLocks noGrp="1"/>
          </p:cNvSpPr>
          <p:nvPr/>
        </p:nvSpPr>
        <p:spPr>
          <a:xfrm>
            <a:off x="685800" y="1790700"/>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9" name="step-0">
            <a:extLst>
              <a:ext uri="{FF2B5EF4-FFF2-40B4-BE49-F238E27FC236}">
                <a16:creationId xmlns:a16="http://schemas.microsoft.com/office/drawing/2014/main" id="{2A9CC6D4-0C75-4B57-803D-C3704901ABA7}"/>
              </a:ext>
            </a:extLst>
          </p:cNvPr>
          <p:cNvSpPr>
            <a:spLocks noGrp="1"/>
          </p:cNvSpPr>
          <p:nvPr/>
        </p:nvSpPr>
        <p:spPr>
          <a:xfrm>
            <a:off x="1314450" y="1762125"/>
            <a:ext cx="9906000" cy="1571625"/>
          </a:xfrm>
          <a:prstGeom prst="rect">
            <a:avLst/>
          </a:prstGeom>
          <a:noFill/>
          <a:ln w="0">
            <a:noFill/>
            <a:prstDash val="solid"/>
          </a:ln>
        </p:spPr>
        <p:txBody>
          <a:bodyPr anchor="t">
            <a:normAutofit/>
          </a:bodyPr>
          <a:lstStyle/>
          <a:p>
            <a:pPr>
              <a:lnSpc>
                <a:spcPct val="105000"/>
              </a:lnSpc>
              <a:buNone/>
              <a:defRPr sz="1425" b="0">
                <a:solidFill>
                  <a:srgbClr val="26364A"/>
                </a:solidFill>
                <a:latin typeface="Aptos"/>
                <a:ea typeface="Aptos"/>
                <a:cs typeface="Aptos"/>
              </a:defRPr>
            </a:pPr>
            <a:r>
              <a:rPr sz="1425" b="0">
                <a:solidFill>
                  <a:srgbClr val="26364A"/>
                </a:solidFill>
                <a:latin typeface="Aptos"/>
                <a:ea typeface="Aptos"/>
                <a:cs typeface="Aptos"/>
              </a:rPr>
              <a:t>Match each term with the correct example.</a:t>
            </a:r>
          </a:p>
          <a:p>
            <a:pPr>
              <a:lnSpc>
                <a:spcPct val="105000"/>
              </a:lnSpc>
              <a:buNone/>
              <a:defRPr sz="1425" b="0">
                <a:solidFill>
                  <a:srgbClr val="26364A"/>
                </a:solidFill>
                <a:latin typeface="Aptos"/>
                <a:ea typeface="Aptos"/>
                <a:cs typeface="Aptos"/>
              </a:defRPr>
            </a:pPr>
            <a:r>
              <a:rPr sz="1425" b="0">
                <a:solidFill>
                  <a:srgbClr val="26364A"/>
                </a:solidFill>
                <a:latin typeface="Aptos"/>
                <a:ea typeface="Aptos"/>
                <a:cs typeface="Aptos"/>
              </a:rPr>
              <a:t>A. endemic               B. pandemic         C. epidemic</a:t>
            </a:r>
          </a:p>
          <a:p>
            <a:pPr>
              <a:buNone/>
              <a:defRPr sz="1725" b="0">
                <a:solidFill>
                  <a:srgbClr val="203044"/>
                </a:solidFill>
                <a:latin typeface="Aptos"/>
                <a:ea typeface="Aptos"/>
                <a:cs typeface="Aptos"/>
              </a:defRPr>
            </a:pPr>
            <a:endParaRPr sz="1425" b="0">
              <a:solidFill>
                <a:srgbClr val="26364A"/>
              </a:solidFill>
              <a:latin typeface="Aptos"/>
              <a:ea typeface="Aptos"/>
              <a:cs typeface="Aptos"/>
            </a:endParaRPr>
          </a:p>
          <a:p>
            <a:pPr>
              <a:lnSpc>
                <a:spcPct val="105000"/>
              </a:lnSpc>
              <a:buNone/>
              <a:defRPr sz="1425" b="0">
                <a:solidFill>
                  <a:srgbClr val="26364A"/>
                </a:solidFill>
                <a:latin typeface="Aptos"/>
                <a:ea typeface="Aptos"/>
                <a:cs typeface="Aptos"/>
              </a:defRPr>
            </a:pPr>
            <a:r>
              <a:rPr sz="1425" b="0">
                <a:solidFill>
                  <a:srgbClr val="26364A"/>
                </a:solidFill>
                <a:latin typeface="Aptos"/>
                <a:ea typeface="Aptos"/>
                <a:cs typeface="Aptos"/>
              </a:rPr>
              <a:t>Malaria is always present in Africa due to the presence of infected mosquitoes. Malaria is _____ in Africa.</a:t>
            </a:r>
          </a:p>
        </p:txBody>
      </p:sp>
      <p:sp>
        <p:nvSpPr>
          <p:cNvPr id="10" name="step-num-bg-1">
            <a:extLst>
              <a:ext uri="{FF2B5EF4-FFF2-40B4-BE49-F238E27FC236}">
                <a16:creationId xmlns:a16="http://schemas.microsoft.com/office/drawing/2014/main" id="{EB34FC12-D67E-43AE-A1D7-38DDE6D52DE3}"/>
              </a:ext>
            </a:extLst>
          </p:cNvPr>
          <p:cNvSpPr>
            <a:spLocks noGrp="1"/>
          </p:cNvSpPr>
          <p:nvPr/>
        </p:nvSpPr>
        <p:spPr>
          <a:xfrm>
            <a:off x="685800" y="3695700"/>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2" name="step-1">
            <a:extLst>
              <a:ext uri="{FF2B5EF4-FFF2-40B4-BE49-F238E27FC236}">
                <a16:creationId xmlns:a16="http://schemas.microsoft.com/office/drawing/2014/main" id="{04B12E8E-B377-411A-BD0F-3AE4C6F3F5AF}"/>
              </a:ext>
            </a:extLst>
          </p:cNvPr>
          <p:cNvSpPr>
            <a:spLocks noGrp="1"/>
          </p:cNvSpPr>
          <p:nvPr/>
        </p:nvSpPr>
        <p:spPr>
          <a:xfrm>
            <a:off x="1314450" y="3667125"/>
            <a:ext cx="9906000" cy="857250"/>
          </a:xfrm>
          <a:prstGeom prst="rect">
            <a:avLst/>
          </a:prstGeom>
          <a:noFill/>
          <a:ln w="0">
            <a:noFill/>
            <a:prstDash val="solid"/>
          </a:ln>
        </p:spPr>
        <p:txBody>
          <a:bodyPr anchor="t">
            <a:normAutofit/>
          </a:bodyPr>
          <a:lstStyle/>
          <a:p>
            <a:pPr>
              <a:lnSpc>
                <a:spcPct val="105000"/>
              </a:lnSpc>
              <a:buNone/>
              <a:defRPr sz="1425" b="0">
                <a:solidFill>
                  <a:srgbClr val="26364A"/>
                </a:solidFill>
                <a:latin typeface="Aptos"/>
                <a:ea typeface="Aptos"/>
                <a:cs typeface="Aptos"/>
              </a:defRPr>
            </a:pPr>
            <a:r>
              <a:rPr sz="1425" b="0">
                <a:solidFill>
                  <a:srgbClr val="26364A"/>
                </a:solidFill>
                <a:latin typeface="Aptos"/>
                <a:ea typeface="Aptos"/>
                <a:cs typeface="Aptos"/>
              </a:rPr>
              <a:t>Ebola virus cases in parts of Africa exceed what is normally expected for that region. This virus represents an________.</a:t>
            </a:r>
          </a:p>
        </p:txBody>
      </p:sp>
      <p:sp>
        <p:nvSpPr>
          <p:cNvPr id="13" name="step-num-bg-2">
            <a:extLst>
              <a:ext uri="{FF2B5EF4-FFF2-40B4-BE49-F238E27FC236}">
                <a16:creationId xmlns:a16="http://schemas.microsoft.com/office/drawing/2014/main" id="{E52969C1-D994-4841-9976-B9208BFCAA7B}"/>
              </a:ext>
            </a:extLst>
          </p:cNvPr>
          <p:cNvSpPr>
            <a:spLocks noGrp="1"/>
          </p:cNvSpPr>
          <p:nvPr/>
        </p:nvSpPr>
        <p:spPr>
          <a:xfrm>
            <a:off x="685800" y="4838700"/>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15" name="step-2">
            <a:extLst>
              <a:ext uri="{FF2B5EF4-FFF2-40B4-BE49-F238E27FC236}">
                <a16:creationId xmlns:a16="http://schemas.microsoft.com/office/drawing/2014/main" id="{C067F89D-35B3-432E-BB59-D27AC06DF423}"/>
              </a:ext>
            </a:extLst>
          </p:cNvPr>
          <p:cNvSpPr>
            <a:spLocks noGrp="1"/>
          </p:cNvSpPr>
          <p:nvPr/>
        </p:nvSpPr>
        <p:spPr>
          <a:xfrm>
            <a:off x="1314450" y="4810125"/>
            <a:ext cx="9906000" cy="762000"/>
          </a:xfrm>
          <a:prstGeom prst="rect">
            <a:avLst/>
          </a:prstGeom>
          <a:noFill/>
          <a:ln w="0">
            <a:noFill/>
            <a:prstDash val="solid"/>
          </a:ln>
        </p:spPr>
        <p:txBody>
          <a:bodyPr anchor="t">
            <a:normAutofit/>
          </a:bodyPr>
          <a:lstStyle/>
          <a:p>
            <a:pPr>
              <a:lnSpc>
                <a:spcPct val="105000"/>
              </a:lnSpc>
              <a:buNone/>
              <a:defRPr sz="1425" b="1">
                <a:solidFill>
                  <a:srgbClr val="26364A"/>
                </a:solidFill>
                <a:latin typeface="Aptos"/>
                <a:ea typeface="Aptos"/>
                <a:cs typeface="Aptos"/>
              </a:defRPr>
            </a:pPr>
            <a:r>
              <a:rPr sz="1425" b="1">
                <a:solidFill>
                  <a:srgbClr val="26364A"/>
                </a:solidFill>
                <a:latin typeface="Aptos"/>
                <a:ea typeface="Aptos"/>
                <a:cs typeface="Aptos"/>
              </a:rPr>
              <a:t>COVID-19 spread across countries and continents worldwide. COVID-19 is a_________.</a:t>
            </a:r>
          </a:p>
        </p:txBody>
      </p:sp>
    </p:spTree>
    <p:extLst>
      <p:ext uri="{BB962C8B-B14F-4D97-AF65-F5344CB8AC3E}">
        <p14:creationId xmlns:p14="http://schemas.microsoft.com/office/powerpoint/2010/main" val="6207761"/>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emplate-label">
            <a:extLst>
              <a:ext uri="{FF2B5EF4-FFF2-40B4-BE49-F238E27FC236}">
                <a16:creationId xmlns:a16="http://schemas.microsoft.com/office/drawing/2014/main" id="{D37C8A68-70F1-4D9B-AD11-F6B8F4C5FD4A}"/>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648793-2D85-4051-82E7-CD63A4BD8699}"/>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7C1277DC-1885-4C95-AC0F-176D00A840C2}"/>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CBB093EB-7C58-4256-813B-3BCED3ED263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APPLY THE CONCEPTS / ANSWERS</a:t>
            </a:r>
          </a:p>
        </p:txBody>
      </p:sp>
      <p:sp>
        <p:nvSpPr>
          <p:cNvPr id="5" name="slide-number">
            <a:extLst>
              <a:ext uri="{FF2B5EF4-FFF2-40B4-BE49-F238E27FC236}">
                <a16:creationId xmlns:a16="http://schemas.microsoft.com/office/drawing/2014/main" id="{162DE736-C6D4-4D25-8311-EE34F939D48D}"/>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34</a:t>
            </a:r>
          </a:p>
        </p:txBody>
      </p:sp>
      <p:sp>
        <p:nvSpPr>
          <p:cNvPr id="6" name="title">
            <a:extLst>
              <a:ext uri="{FF2B5EF4-FFF2-40B4-BE49-F238E27FC236}">
                <a16:creationId xmlns:a16="http://schemas.microsoft.com/office/drawing/2014/main" id="{C659B037-8B3B-4C95-BB63-4A8E1AA20107}"/>
              </a:ext>
            </a:extLst>
          </p:cNvPr>
          <p:cNvSpPr>
            <a:spLocks noGrp="1"/>
          </p:cNvSpPr>
          <p:nvPr/>
        </p:nvSpPr>
        <p:spPr>
          <a:xfrm>
            <a:off x="685800" y="1162050"/>
            <a:ext cx="8572500" cy="476250"/>
          </a:xfrm>
          <a:prstGeom prst="rect">
            <a:avLst/>
          </a:prstGeom>
          <a:noFill/>
          <a:ln w="0">
            <a:noFill/>
            <a:prstDash val="solid"/>
          </a:ln>
        </p:spPr>
        <p:txBody>
          <a:bodyPr/>
          <a:lstStyle/>
          <a:p>
            <a:pPr>
              <a:buNone/>
              <a:defRPr sz="2700" b="1">
                <a:solidFill>
                  <a:srgbClr val="203044"/>
                </a:solidFill>
                <a:latin typeface="Aptos"/>
                <a:ea typeface="Aptos"/>
                <a:cs typeface="Aptos"/>
              </a:defRPr>
            </a:pPr>
            <a:r>
              <a:rPr sz="2700" b="1">
                <a:solidFill>
                  <a:srgbClr val="203044"/>
                </a:solidFill>
                <a:latin typeface="Aptos"/>
                <a:ea typeface="Aptos"/>
                <a:cs typeface="Aptos"/>
              </a:rPr>
              <a:t>Exercise: Apply the Concepts</a:t>
            </a:r>
          </a:p>
        </p:txBody>
      </p:sp>
      <p:sp>
        <p:nvSpPr>
          <p:cNvPr id="7" name="step-num-bg-0">
            <a:extLst>
              <a:ext uri="{FF2B5EF4-FFF2-40B4-BE49-F238E27FC236}">
                <a16:creationId xmlns:a16="http://schemas.microsoft.com/office/drawing/2014/main" id="{A222FB55-1171-4632-B149-8F3A992E8554}"/>
              </a:ext>
            </a:extLst>
          </p:cNvPr>
          <p:cNvSpPr>
            <a:spLocks noGrp="1"/>
          </p:cNvSpPr>
          <p:nvPr/>
        </p:nvSpPr>
        <p:spPr>
          <a:xfrm>
            <a:off x="685800" y="1790700"/>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9" name="step-0">
            <a:extLst>
              <a:ext uri="{FF2B5EF4-FFF2-40B4-BE49-F238E27FC236}">
                <a16:creationId xmlns:a16="http://schemas.microsoft.com/office/drawing/2014/main" id="{2A9CC6D4-0C75-4B57-803D-C3704901ABA7}"/>
              </a:ext>
            </a:extLst>
          </p:cNvPr>
          <p:cNvSpPr>
            <a:spLocks noGrp="1"/>
          </p:cNvSpPr>
          <p:nvPr/>
        </p:nvSpPr>
        <p:spPr>
          <a:xfrm>
            <a:off x="1314450" y="1762125"/>
            <a:ext cx="9906000" cy="1571625"/>
          </a:xfrm>
          <a:prstGeom prst="rect">
            <a:avLst/>
          </a:prstGeom>
          <a:noFill/>
          <a:ln w="0">
            <a:noFill/>
            <a:prstDash val="solid"/>
          </a:ln>
        </p:spPr>
        <p:txBody>
          <a:bodyPr anchor="t">
            <a:normAutofit/>
          </a:bodyPr>
          <a:lstStyle/>
          <a:p>
            <a:pPr>
              <a:lnSpc>
                <a:spcPct val="105000"/>
              </a:lnSpc>
              <a:buNone/>
              <a:defRPr sz="1425" b="0">
                <a:solidFill>
                  <a:srgbClr val="26364A"/>
                </a:solidFill>
                <a:latin typeface="Aptos"/>
                <a:ea typeface="Aptos"/>
                <a:cs typeface="Aptos"/>
              </a:defRPr>
            </a:pPr>
            <a:r>
              <a:rPr sz="1425" b="0">
                <a:solidFill>
                  <a:srgbClr val="26364A"/>
                </a:solidFill>
                <a:latin typeface="Aptos"/>
                <a:ea typeface="Aptos"/>
                <a:cs typeface="Aptos"/>
              </a:rPr>
              <a:t>Match each term with the correct example.</a:t>
            </a:r>
          </a:p>
          <a:p>
            <a:pPr>
              <a:lnSpc>
                <a:spcPct val="105000"/>
              </a:lnSpc>
              <a:buNone/>
              <a:defRPr sz="1425" b="0">
                <a:solidFill>
                  <a:srgbClr val="26364A"/>
                </a:solidFill>
                <a:latin typeface="Aptos"/>
                <a:ea typeface="Aptos"/>
                <a:cs typeface="Aptos"/>
              </a:defRPr>
            </a:pPr>
            <a:r>
              <a:rPr sz="1425" b="0">
                <a:solidFill>
                  <a:srgbClr val="26364A"/>
                </a:solidFill>
                <a:latin typeface="Aptos"/>
                <a:ea typeface="Aptos"/>
                <a:cs typeface="Aptos"/>
              </a:rPr>
              <a:t>A. endemic               B. pandemic         C. epidemic</a:t>
            </a:r>
          </a:p>
          <a:p>
            <a:pPr>
              <a:buNone/>
              <a:defRPr sz="1725" b="0">
                <a:solidFill>
                  <a:srgbClr val="203044"/>
                </a:solidFill>
                <a:latin typeface="Aptos"/>
                <a:ea typeface="Aptos"/>
                <a:cs typeface="Aptos"/>
              </a:defRPr>
            </a:pPr>
            <a:endParaRPr sz="1425" b="0">
              <a:solidFill>
                <a:srgbClr val="26364A"/>
              </a:solidFill>
              <a:latin typeface="Aptos"/>
              <a:ea typeface="Aptos"/>
              <a:cs typeface="Aptos"/>
            </a:endParaRPr>
          </a:p>
          <a:p>
            <a:pPr>
              <a:lnSpc>
                <a:spcPct val="105000"/>
              </a:lnSpc>
              <a:buNone/>
              <a:defRPr sz="1425" b="0">
                <a:solidFill>
                  <a:srgbClr val="26364A"/>
                </a:solidFill>
                <a:latin typeface="Aptos"/>
                <a:ea typeface="Aptos"/>
                <a:cs typeface="Aptos"/>
              </a:defRPr>
            </a:pPr>
            <a:r>
              <a:rPr sz="1425" b="0">
                <a:solidFill>
                  <a:srgbClr val="26364A"/>
                </a:solidFill>
                <a:latin typeface="Aptos"/>
                <a:ea typeface="Aptos"/>
                <a:cs typeface="Aptos"/>
              </a:rPr>
              <a:t>Malaria is always present in Africa due to the presence of infected mosquitoes. Malaria is </a:t>
            </a:r>
            <a:r>
              <a:rPr sz="1425" b="1">
                <a:solidFill>
                  <a:srgbClr val="C72C41"/>
                </a:solidFill>
                <a:latin typeface="Aptos"/>
                <a:ea typeface="Aptos"/>
                <a:cs typeface="Aptos"/>
              </a:rPr>
              <a:t>endemic in Africa</a:t>
            </a:r>
            <a:r>
              <a:rPr sz="1425" b="0">
                <a:solidFill>
                  <a:srgbClr val="26364A"/>
                </a:solidFill>
                <a:latin typeface="Aptos"/>
                <a:ea typeface="Aptos"/>
                <a:cs typeface="Aptos"/>
              </a:rPr>
              <a:t>.</a:t>
            </a:r>
          </a:p>
        </p:txBody>
      </p:sp>
      <p:sp>
        <p:nvSpPr>
          <p:cNvPr id="10" name="step-num-bg-1">
            <a:extLst>
              <a:ext uri="{FF2B5EF4-FFF2-40B4-BE49-F238E27FC236}">
                <a16:creationId xmlns:a16="http://schemas.microsoft.com/office/drawing/2014/main" id="{EB34FC12-D67E-43AE-A1D7-38DDE6D52DE3}"/>
              </a:ext>
            </a:extLst>
          </p:cNvPr>
          <p:cNvSpPr>
            <a:spLocks noGrp="1"/>
          </p:cNvSpPr>
          <p:nvPr/>
        </p:nvSpPr>
        <p:spPr>
          <a:xfrm>
            <a:off x="685800" y="3695700"/>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2" name="step-1">
            <a:extLst>
              <a:ext uri="{FF2B5EF4-FFF2-40B4-BE49-F238E27FC236}">
                <a16:creationId xmlns:a16="http://schemas.microsoft.com/office/drawing/2014/main" id="{04B12E8E-B377-411A-BD0F-3AE4C6F3F5AF}"/>
              </a:ext>
            </a:extLst>
          </p:cNvPr>
          <p:cNvSpPr>
            <a:spLocks noGrp="1"/>
          </p:cNvSpPr>
          <p:nvPr/>
        </p:nvSpPr>
        <p:spPr>
          <a:xfrm>
            <a:off x="1314450" y="3667125"/>
            <a:ext cx="9906000" cy="857250"/>
          </a:xfrm>
          <a:prstGeom prst="rect">
            <a:avLst/>
          </a:prstGeom>
          <a:noFill/>
          <a:ln w="0">
            <a:noFill/>
            <a:prstDash val="solid"/>
          </a:ln>
        </p:spPr>
        <p:txBody>
          <a:bodyPr anchor="t">
            <a:normAutofit/>
          </a:bodyPr>
          <a:lstStyle/>
          <a:p>
            <a:pPr>
              <a:lnSpc>
                <a:spcPct val="105000"/>
              </a:lnSpc>
              <a:buNone/>
              <a:defRPr sz="1425" b="0">
                <a:solidFill>
                  <a:srgbClr val="26364A"/>
                </a:solidFill>
                <a:latin typeface="Aptos"/>
                <a:ea typeface="Aptos"/>
                <a:cs typeface="Aptos"/>
              </a:defRPr>
            </a:pPr>
            <a:r>
              <a:rPr sz="1425" b="0">
                <a:solidFill>
                  <a:srgbClr val="26364A"/>
                </a:solidFill>
                <a:latin typeface="Aptos"/>
                <a:ea typeface="Aptos"/>
                <a:cs typeface="Aptos"/>
              </a:rPr>
              <a:t>Ebola virus cases in parts of Africa exceed what is normally expected for that region. This virus represents an </a:t>
            </a:r>
            <a:r>
              <a:rPr sz="1425" b="1">
                <a:solidFill>
                  <a:srgbClr val="C72C41"/>
                </a:solidFill>
                <a:latin typeface="Aptos"/>
                <a:ea typeface="Aptos"/>
                <a:cs typeface="Aptos"/>
              </a:rPr>
              <a:t>epidemic</a:t>
            </a:r>
            <a:r>
              <a:rPr sz="1425" b="0">
                <a:solidFill>
                  <a:srgbClr val="26364A"/>
                </a:solidFill>
                <a:latin typeface="Aptos"/>
                <a:ea typeface="Aptos"/>
                <a:cs typeface="Aptos"/>
              </a:rPr>
              <a:t>.</a:t>
            </a:r>
          </a:p>
        </p:txBody>
      </p:sp>
      <p:sp>
        <p:nvSpPr>
          <p:cNvPr id="13" name="step-num-bg-2">
            <a:extLst>
              <a:ext uri="{FF2B5EF4-FFF2-40B4-BE49-F238E27FC236}">
                <a16:creationId xmlns:a16="http://schemas.microsoft.com/office/drawing/2014/main" id="{E52969C1-D994-4841-9976-B9208BFCAA7B}"/>
              </a:ext>
            </a:extLst>
          </p:cNvPr>
          <p:cNvSpPr>
            <a:spLocks noGrp="1"/>
          </p:cNvSpPr>
          <p:nvPr/>
        </p:nvSpPr>
        <p:spPr>
          <a:xfrm>
            <a:off x="685800" y="4838700"/>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15" name="step-2">
            <a:extLst>
              <a:ext uri="{FF2B5EF4-FFF2-40B4-BE49-F238E27FC236}">
                <a16:creationId xmlns:a16="http://schemas.microsoft.com/office/drawing/2014/main" id="{C067F89D-35B3-432E-BB59-D27AC06DF423}"/>
              </a:ext>
            </a:extLst>
          </p:cNvPr>
          <p:cNvSpPr>
            <a:spLocks noGrp="1"/>
          </p:cNvSpPr>
          <p:nvPr/>
        </p:nvSpPr>
        <p:spPr>
          <a:xfrm>
            <a:off x="1314450" y="4810125"/>
            <a:ext cx="9906000" cy="762000"/>
          </a:xfrm>
          <a:prstGeom prst="rect">
            <a:avLst/>
          </a:prstGeom>
          <a:noFill/>
          <a:ln w="0">
            <a:noFill/>
            <a:prstDash val="solid"/>
          </a:ln>
        </p:spPr>
        <p:txBody>
          <a:bodyPr anchor="t">
            <a:normAutofit/>
          </a:bodyPr>
          <a:lstStyle/>
          <a:p>
            <a:pPr>
              <a:lnSpc>
                <a:spcPct val="105000"/>
              </a:lnSpc>
              <a:buNone/>
              <a:defRPr sz="1425" b="1">
                <a:solidFill>
                  <a:srgbClr val="26364A"/>
                </a:solidFill>
                <a:latin typeface="Aptos"/>
                <a:ea typeface="Aptos"/>
                <a:cs typeface="Aptos"/>
              </a:defRPr>
            </a:pPr>
            <a:r>
              <a:rPr sz="1425" b="1">
                <a:solidFill>
                  <a:srgbClr val="26364A"/>
                </a:solidFill>
                <a:latin typeface="Aptos"/>
                <a:ea typeface="Aptos"/>
                <a:cs typeface="Aptos"/>
              </a:rPr>
              <a:t>COVID-19 spread across countries and continents worldwide.COVID-19 is a </a:t>
            </a:r>
            <a:r>
              <a:rPr sz="1425" b="1">
                <a:solidFill>
                  <a:srgbClr val="C72C41"/>
                </a:solidFill>
                <a:latin typeface="Aptos"/>
                <a:ea typeface="Aptos"/>
                <a:cs typeface="Aptos"/>
              </a:rPr>
              <a:t>pandemic</a:t>
            </a:r>
            <a:r>
              <a:rPr sz="1425" b="1">
                <a:solidFill>
                  <a:srgbClr val="26364A"/>
                </a:solidFill>
                <a:latin typeface="Aptos"/>
                <a:ea typeface="Aptos"/>
                <a:cs typeface="Aptos"/>
              </a:rPr>
              <a:t>.</a:t>
            </a:r>
          </a:p>
        </p:txBody>
      </p:sp>
    </p:spTree>
    <p:extLst>
      <p:ext uri="{BB962C8B-B14F-4D97-AF65-F5344CB8AC3E}">
        <p14:creationId xmlns:p14="http://schemas.microsoft.com/office/powerpoint/2010/main" val="6207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emplate-label">
            <a:extLst>
              <a:ext uri="{FF2B5EF4-FFF2-40B4-BE49-F238E27FC236}">
                <a16:creationId xmlns:a16="http://schemas.microsoft.com/office/drawing/2014/main" id="{70E9DCE6-0191-4216-9B66-2ABAA389EB7D}"/>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EF19682C-D8DE-4BEE-A7D3-35B46225B51B}"/>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95726755-83DD-4EBA-A035-D0909232115F}"/>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AE117F70-B53D-40AB-AE8A-F14F7BA65855}"/>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CHECK YOUR UNDERSTANDING</a:t>
            </a:r>
          </a:p>
        </p:txBody>
      </p:sp>
      <p:sp>
        <p:nvSpPr>
          <p:cNvPr id="5" name="slide-number">
            <a:extLst>
              <a:ext uri="{FF2B5EF4-FFF2-40B4-BE49-F238E27FC236}">
                <a16:creationId xmlns:a16="http://schemas.microsoft.com/office/drawing/2014/main" id="{35F8796D-D28A-406C-A268-5ACDB8DA95D8}"/>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35</a:t>
            </a:r>
          </a:p>
        </p:txBody>
      </p:sp>
      <p:sp>
        <p:nvSpPr>
          <p:cNvPr id="6" name="prompt-label">
            <a:extLst>
              <a:ext uri="{FF2B5EF4-FFF2-40B4-BE49-F238E27FC236}">
                <a16:creationId xmlns:a16="http://schemas.microsoft.com/office/drawing/2014/main" id="{78072A5A-B4AD-4BFA-ACF0-127993719931}"/>
              </a:ext>
            </a:extLst>
          </p:cNvPr>
          <p:cNvSpPr>
            <a:spLocks noGrp="1"/>
          </p:cNvSpPr>
          <p:nvPr/>
        </p:nvSpPr>
        <p:spPr>
          <a:xfrm>
            <a:off x="685800" y="1257300"/>
            <a:ext cx="1714500" cy="228600"/>
          </a:xfrm>
          <a:prstGeom prst="rect">
            <a:avLst/>
          </a:prstGeom>
          <a:noFill/>
          <a:ln w="0">
            <a:noFill/>
            <a:prstDash val="solid"/>
          </a:ln>
        </p:spPr>
        <p:txBody>
          <a:bodyPr/>
          <a:lstStyle/>
          <a:p>
            <a:pPr>
              <a:buNone/>
              <a:defRPr sz="1125" b="1">
                <a:solidFill>
                  <a:srgbClr val="6C757D"/>
                </a:solidFill>
                <a:latin typeface="Aptos"/>
                <a:ea typeface="Aptos"/>
                <a:cs typeface="Aptos"/>
              </a:defRPr>
            </a:pPr>
            <a:r>
              <a:rPr sz="1125" b="1">
                <a:solidFill>
                  <a:srgbClr val="6C757D"/>
                </a:solidFill>
                <a:latin typeface="Aptos"/>
                <a:ea typeface="Aptos"/>
                <a:cs typeface="Aptos"/>
              </a:rPr>
              <a:t>TRUE OR FALSE</a:t>
            </a:r>
          </a:p>
        </p:txBody>
      </p:sp>
      <p:sp>
        <p:nvSpPr>
          <p:cNvPr id="7" name="question">
            <a:extLst>
              <a:ext uri="{FF2B5EF4-FFF2-40B4-BE49-F238E27FC236}">
                <a16:creationId xmlns:a16="http://schemas.microsoft.com/office/drawing/2014/main" id="{E3F4D65A-3FB4-4F95-9771-BD8AEEABBA56}"/>
              </a:ext>
            </a:extLst>
          </p:cNvPr>
          <p:cNvSpPr>
            <a:spLocks noGrp="1"/>
          </p:cNvSpPr>
          <p:nvPr/>
        </p:nvSpPr>
        <p:spPr>
          <a:xfrm>
            <a:off x="685800" y="2095500"/>
            <a:ext cx="6953250" cy="2571750"/>
          </a:xfrm>
          <a:prstGeom prst="rect">
            <a:avLst/>
          </a:prstGeom>
          <a:noFill/>
          <a:ln w="0">
            <a:noFill/>
            <a:prstDash val="solid"/>
          </a:ln>
        </p:spPr>
        <p:txBody>
          <a:bodyPr anchor="t">
            <a:normAutofit/>
          </a:bodyPr>
          <a:lstStyle/>
          <a:p>
            <a:pPr>
              <a:buNone/>
              <a:defRPr sz="2100" b="1">
                <a:solidFill>
                  <a:srgbClr val="4E5F72"/>
                </a:solidFill>
                <a:latin typeface="Georgia"/>
                <a:ea typeface="Georgia"/>
                <a:cs typeface="Georgia"/>
              </a:defRPr>
            </a:pPr>
            <a:r>
              <a:rPr sz="2100" b="1">
                <a:solidFill>
                  <a:srgbClr val="4E5F72"/>
                </a:solidFill>
                <a:latin typeface="Georgia"/>
                <a:ea typeface="Georgia"/>
                <a:cs typeface="Georgia"/>
              </a:rPr>
              <a:t>1. A pandemic is always a form of epidemic.</a:t>
            </a:r>
          </a:p>
          <a:p>
            <a:pPr>
              <a:buNone/>
              <a:defRPr sz="3450" b="1">
                <a:solidFill>
                  <a:srgbClr val="4E5F72"/>
                </a:solidFill>
                <a:latin typeface="Georgia"/>
                <a:ea typeface="Georgia"/>
                <a:cs typeface="Georgia"/>
              </a:defRPr>
            </a:pPr>
            <a:endParaRPr sz="2100" b="1">
              <a:solidFill>
                <a:srgbClr val="4E5F72"/>
              </a:solidFill>
              <a:latin typeface="Georgia"/>
              <a:ea typeface="Georgia"/>
              <a:cs typeface="Georgia"/>
            </a:endParaRPr>
          </a:p>
          <a:p>
            <a:pPr>
              <a:buNone/>
              <a:defRPr sz="2100" b="1">
                <a:solidFill>
                  <a:srgbClr val="4E5F72"/>
                </a:solidFill>
                <a:latin typeface="Georgia"/>
                <a:ea typeface="Georgia"/>
                <a:cs typeface="Georgia"/>
              </a:defRPr>
            </a:pPr>
            <a:r>
              <a:rPr sz="2100" b="1">
                <a:solidFill>
                  <a:srgbClr val="4E5F72"/>
                </a:solidFill>
                <a:latin typeface="Georgia"/>
                <a:ea typeface="Georgia"/>
                <a:cs typeface="Georgia"/>
              </a:rPr>
              <a:t>2. An endemic disease always represents an epidemic.</a:t>
            </a:r>
          </a:p>
        </p:txBody>
      </p:sp>
      <p:sp>
        <p:nvSpPr>
          <p:cNvPr id="8" name="think-field">
            <a:extLst>
              <a:ext uri="{FF2B5EF4-FFF2-40B4-BE49-F238E27FC236}">
                <a16:creationId xmlns:a16="http://schemas.microsoft.com/office/drawing/2014/main" id="{C5F158E5-9EAF-4F4A-BE61-1049A04D2CCE}"/>
              </a:ext>
            </a:extLst>
          </p:cNvPr>
          <p:cNvSpPr>
            <a:spLocks noGrp="1"/>
          </p:cNvSpPr>
          <p:nvPr/>
        </p:nvSpPr>
        <p:spPr>
          <a:xfrm>
            <a:off x="8915400" y="2238375"/>
            <a:ext cx="1695450" cy="1695450"/>
          </a:xfrm>
          <a:prstGeom prst="ellipse">
            <a:avLst/>
          </a:prstGeom>
          <a:solidFill>
            <a:srgbClr val="FFD662"/>
          </a:solidFill>
          <a:ln w="9525">
            <a:solidFill>
              <a:srgbClr val="FFD662"/>
            </a:solidFill>
            <a:prstDash val="solid"/>
          </a:ln>
        </p:spPr>
        <p:txBody>
          <a:bodyPr/>
          <a:lstStyle/>
          <a:p>
            <a:endParaRPr lang="en-US"/>
          </a:p>
        </p:txBody>
      </p:sp>
      <p:sp>
        <p:nvSpPr>
          <p:cNvPr id="9" name="think">
            <a:extLst>
              <a:ext uri="{FF2B5EF4-FFF2-40B4-BE49-F238E27FC236}">
                <a16:creationId xmlns:a16="http://schemas.microsoft.com/office/drawing/2014/main" id="{8BD1A76F-DC24-45E2-8421-9E1F5AE6E813}"/>
              </a:ext>
            </a:extLst>
          </p:cNvPr>
          <p:cNvSpPr>
            <a:spLocks noGrp="1"/>
          </p:cNvSpPr>
          <p:nvPr/>
        </p:nvSpPr>
        <p:spPr>
          <a:xfrm>
            <a:off x="9105900" y="2790825"/>
            <a:ext cx="1314450" cy="628650"/>
          </a:xfrm>
          <a:prstGeom prst="rect">
            <a:avLst/>
          </a:prstGeom>
          <a:noFill/>
          <a:ln w="0">
            <a:noFill/>
            <a:prstDash val="solid"/>
          </a:ln>
        </p:spPr>
        <p:txBody>
          <a:bodyPr/>
          <a:lstStyle/>
          <a:p>
            <a:pPr algn="ctr">
              <a:buNone/>
              <a:defRPr sz="1650" b="1">
                <a:solidFill>
                  <a:srgbClr val="203044"/>
                </a:solidFill>
                <a:latin typeface="Aptos"/>
                <a:ea typeface="Aptos"/>
                <a:cs typeface="Aptos"/>
              </a:defRPr>
            </a:pPr>
            <a:r>
              <a:rPr sz="1650" b="1">
                <a:solidFill>
                  <a:srgbClr val="203044"/>
                </a:solidFill>
                <a:latin typeface="Aptos"/>
                <a:ea typeface="Aptos"/>
                <a:cs typeface="Aptos"/>
              </a:rPr>
              <a:t>Pause</a:t>
            </a:r>
          </a:p>
          <a:p>
            <a:pPr algn="ctr">
              <a:buNone/>
              <a:defRPr sz="1650" b="1">
                <a:solidFill>
                  <a:srgbClr val="203044"/>
                </a:solidFill>
                <a:latin typeface="Aptos"/>
                <a:ea typeface="Aptos"/>
                <a:cs typeface="Aptos"/>
              </a:defRPr>
            </a:pPr>
            <a:r>
              <a:rPr sz="1650" b="1">
                <a:solidFill>
                  <a:srgbClr val="203044"/>
                </a:solidFill>
                <a:latin typeface="Aptos"/>
                <a:ea typeface="Aptos"/>
                <a:cs typeface="Aptos"/>
              </a:rPr>
              <a:t>&amp; think</a:t>
            </a:r>
          </a:p>
        </p:txBody>
      </p:sp>
      <p:sp>
        <p:nvSpPr>
          <p:cNvPr id="10" name="prompt-support">
            <a:extLst>
              <a:ext uri="{FF2B5EF4-FFF2-40B4-BE49-F238E27FC236}">
                <a16:creationId xmlns:a16="http://schemas.microsoft.com/office/drawing/2014/main" id="{9F9D72D6-83A8-479E-B44A-74D7084A67DC}"/>
              </a:ext>
            </a:extLst>
          </p:cNvPr>
          <p:cNvSpPr>
            <a:spLocks noGrp="1"/>
          </p:cNvSpPr>
          <p:nvPr/>
        </p:nvSpPr>
        <p:spPr>
          <a:xfrm>
            <a:off x="685800" y="4810125"/>
            <a:ext cx="7143750" cy="514350"/>
          </a:xfrm>
          <a:prstGeom prst="rect">
            <a:avLst/>
          </a:prstGeom>
          <a:noFill/>
          <a:ln w="0">
            <a:noFill/>
            <a:prstDash val="solid"/>
          </a:ln>
        </p:spPr>
        <p:txBody>
          <a:bodyPr/>
          <a:lstStyle/>
          <a:p>
            <a:pPr>
              <a:buNone/>
              <a:defRPr sz="1425">
                <a:solidFill>
                  <a:srgbClr val="6B7580"/>
                </a:solidFill>
                <a:latin typeface="Aptos"/>
                <a:ea typeface="Aptos"/>
                <a:cs typeface="Aptos"/>
              </a:defRPr>
            </a:pPr>
            <a:r>
              <a:rPr sz="1425">
                <a:solidFill>
                  <a:srgbClr val="6B7580"/>
                </a:solidFill>
                <a:latin typeface="Aptos"/>
                <a:ea typeface="Aptos"/>
                <a:cs typeface="Aptos"/>
              </a:rPr>
              <a:t>Exercise: Check Your Understanding</a:t>
            </a:r>
          </a:p>
        </p:txBody>
      </p:sp>
    </p:spTree>
    <p:extLst>
      <p:ext uri="{BB962C8B-B14F-4D97-AF65-F5344CB8AC3E}">
        <p14:creationId xmlns:p14="http://schemas.microsoft.com/office/powerpoint/2010/main" val="1225326557"/>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emplate-label">
            <a:extLst>
              <a:ext uri="{FF2B5EF4-FFF2-40B4-BE49-F238E27FC236}">
                <a16:creationId xmlns:a16="http://schemas.microsoft.com/office/drawing/2014/main" id="{D37C8A68-70F1-4D9B-AD11-F6B8F4C5FD4A}"/>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648793-2D85-4051-82E7-CD63A4BD8699}"/>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7C1277DC-1885-4C95-AC0F-176D00A840C2}"/>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CBB093EB-7C58-4256-813B-3BCED3ED2637}"/>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CHECK YOUR UNDERSTANDING / ANSWERS</a:t>
            </a:r>
          </a:p>
        </p:txBody>
      </p:sp>
      <p:sp>
        <p:nvSpPr>
          <p:cNvPr id="5" name="slide-number">
            <a:extLst>
              <a:ext uri="{FF2B5EF4-FFF2-40B4-BE49-F238E27FC236}">
                <a16:creationId xmlns:a16="http://schemas.microsoft.com/office/drawing/2014/main" id="{162DE736-C6D4-4D25-8311-EE34F939D48D}"/>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36</a:t>
            </a:r>
          </a:p>
        </p:txBody>
      </p:sp>
      <p:sp>
        <p:nvSpPr>
          <p:cNvPr id="6" name="title">
            <a:extLst>
              <a:ext uri="{FF2B5EF4-FFF2-40B4-BE49-F238E27FC236}">
                <a16:creationId xmlns:a16="http://schemas.microsoft.com/office/drawing/2014/main" id="{C659B037-8B3B-4C95-BB63-4A8E1AA20107}"/>
              </a:ext>
            </a:extLst>
          </p:cNvPr>
          <p:cNvSpPr>
            <a:spLocks noGrp="1"/>
          </p:cNvSpPr>
          <p:nvPr/>
        </p:nvSpPr>
        <p:spPr>
          <a:xfrm>
            <a:off x="685800" y="1162050"/>
            <a:ext cx="8572500" cy="476250"/>
          </a:xfrm>
          <a:prstGeom prst="rect">
            <a:avLst/>
          </a:prstGeom>
          <a:noFill/>
          <a:ln w="0">
            <a:noFill/>
            <a:prstDash val="solid"/>
          </a:ln>
        </p:spPr>
        <p:txBody>
          <a:bodyPr/>
          <a:lstStyle/>
          <a:p>
            <a:pPr>
              <a:buNone/>
              <a:defRPr sz="2700" b="1">
                <a:solidFill>
                  <a:srgbClr val="203044"/>
                </a:solidFill>
                <a:latin typeface="Aptos"/>
                <a:ea typeface="Aptos"/>
                <a:cs typeface="Aptos"/>
              </a:defRPr>
            </a:pPr>
            <a:r>
              <a:rPr sz="2700" b="1">
                <a:solidFill>
                  <a:srgbClr val="203044"/>
                </a:solidFill>
                <a:latin typeface="Aptos"/>
                <a:ea typeface="Aptos"/>
                <a:cs typeface="Aptos"/>
              </a:rPr>
              <a:t>Exercise: Check Your Understanding</a:t>
            </a:r>
          </a:p>
        </p:txBody>
      </p:sp>
      <p:sp>
        <p:nvSpPr>
          <p:cNvPr id="7" name="step-num-bg-0">
            <a:extLst>
              <a:ext uri="{FF2B5EF4-FFF2-40B4-BE49-F238E27FC236}">
                <a16:creationId xmlns:a16="http://schemas.microsoft.com/office/drawing/2014/main" id="{A222FB55-1171-4632-B149-8F3A992E8554}"/>
              </a:ext>
            </a:extLst>
          </p:cNvPr>
          <p:cNvSpPr>
            <a:spLocks noGrp="1"/>
          </p:cNvSpPr>
          <p:nvPr/>
        </p:nvSpPr>
        <p:spPr>
          <a:xfrm>
            <a:off x="685800" y="1838325"/>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9" name="step-0">
            <a:extLst>
              <a:ext uri="{FF2B5EF4-FFF2-40B4-BE49-F238E27FC236}">
                <a16:creationId xmlns:a16="http://schemas.microsoft.com/office/drawing/2014/main" id="{2A9CC6D4-0C75-4B57-803D-C3704901ABA7}"/>
              </a:ext>
            </a:extLst>
          </p:cNvPr>
          <p:cNvSpPr>
            <a:spLocks noGrp="1"/>
          </p:cNvSpPr>
          <p:nvPr/>
        </p:nvSpPr>
        <p:spPr>
          <a:xfrm>
            <a:off x="1314450" y="1809750"/>
            <a:ext cx="9906000" cy="1571625"/>
          </a:xfrm>
          <a:prstGeom prst="rect">
            <a:avLst/>
          </a:prstGeom>
          <a:noFill/>
          <a:ln w="0">
            <a:noFill/>
            <a:prstDash val="solid"/>
          </a:ln>
        </p:spPr>
        <p:txBody>
          <a:bodyPr anchor="t">
            <a:normAutofit/>
          </a:bodyPr>
          <a:lstStyle/>
          <a:p>
            <a:pPr>
              <a:lnSpc>
                <a:spcPct val="105000"/>
              </a:lnSpc>
              <a:buNone/>
              <a:defRPr sz="1350" b="0">
                <a:solidFill>
                  <a:srgbClr val="26364A"/>
                </a:solidFill>
                <a:latin typeface="Aptos"/>
                <a:ea typeface="Aptos"/>
                <a:cs typeface="Aptos"/>
              </a:defRPr>
            </a:pPr>
            <a:r>
              <a:rPr sz="1350" b="0">
                <a:solidFill>
                  <a:srgbClr val="26364A"/>
                </a:solidFill>
                <a:latin typeface="Aptos"/>
                <a:ea typeface="Aptos"/>
                <a:cs typeface="Aptos"/>
              </a:rPr>
              <a:t>1. A pandemic is always a form of epidemic.</a:t>
            </a:r>
          </a:p>
          <a:p>
            <a:pPr>
              <a:lnSpc>
                <a:spcPct val="105000"/>
              </a:lnSpc>
              <a:buNone/>
              <a:defRPr sz="1350" b="0">
                <a:solidFill>
                  <a:srgbClr val="26364A"/>
                </a:solidFill>
                <a:latin typeface="Aptos"/>
                <a:ea typeface="Aptos"/>
                <a:cs typeface="Aptos"/>
              </a:defRPr>
            </a:pPr>
            <a:r>
              <a:rPr sz="1350" b="0">
                <a:solidFill>
                  <a:srgbClr val="26364A"/>
                </a:solidFill>
                <a:latin typeface="Aptos"/>
                <a:ea typeface="Aptos"/>
                <a:cs typeface="Aptos"/>
              </a:rPr>
              <a:t>• Answer: True</a:t>
            </a:r>
          </a:p>
          <a:p>
            <a:pPr>
              <a:lnSpc>
                <a:spcPct val="105000"/>
              </a:lnSpc>
              <a:buNone/>
              <a:defRPr sz="1350" b="0">
                <a:solidFill>
                  <a:srgbClr val="26364A"/>
                </a:solidFill>
                <a:latin typeface="Aptos"/>
                <a:ea typeface="Aptos"/>
                <a:cs typeface="Aptos"/>
              </a:defRPr>
            </a:pPr>
            <a:r>
              <a:rPr sz="1350" b="0">
                <a:solidFill>
                  <a:srgbClr val="26364A"/>
                </a:solidFill>
                <a:latin typeface="Aptos"/>
                <a:ea typeface="Aptos"/>
                <a:cs typeface="Aptos"/>
              </a:rPr>
              <a:t>• Explanation: A pandemic is an epidemic that has spread across multiple countries or continents. It still meets the definition of an epidemic—occurrence in excess of what is normally expected—but on a global scale.</a:t>
            </a:r>
          </a:p>
        </p:txBody>
      </p:sp>
      <p:sp>
        <p:nvSpPr>
          <p:cNvPr id="10" name="step-num-bg-1">
            <a:extLst>
              <a:ext uri="{FF2B5EF4-FFF2-40B4-BE49-F238E27FC236}">
                <a16:creationId xmlns:a16="http://schemas.microsoft.com/office/drawing/2014/main" id="{EB34FC12-D67E-43AE-A1D7-38DDE6D52DE3}"/>
              </a:ext>
            </a:extLst>
          </p:cNvPr>
          <p:cNvSpPr>
            <a:spLocks noGrp="1"/>
          </p:cNvSpPr>
          <p:nvPr/>
        </p:nvSpPr>
        <p:spPr>
          <a:xfrm>
            <a:off x="685800" y="3790950"/>
            <a:ext cx="400050" cy="400050"/>
          </a:xfrm>
          <a:prstGeom prst="ellipse">
            <a:avLst/>
          </a:prstGeom>
          <a:solidFill>
            <a:srgbClr val="4E5F72"/>
          </a:solidFill>
          <a:ln w="9525">
            <a:solidFill>
              <a:srgbClr val="4E5F72"/>
            </a:solidFill>
            <a:prstDash val="solid"/>
          </a:ln>
        </p:spPr>
        <p:txBody>
          <a:bodyPr lIns="0" tIns="0" rIns="0" bIns="0" anchor="ctr">
            <a:noAutofit/>
          </a:bodyP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2" name="step-1">
            <a:extLst>
              <a:ext uri="{FF2B5EF4-FFF2-40B4-BE49-F238E27FC236}">
                <a16:creationId xmlns:a16="http://schemas.microsoft.com/office/drawing/2014/main" id="{04B12E8E-B377-411A-BD0F-3AE4C6F3F5AF}"/>
              </a:ext>
            </a:extLst>
          </p:cNvPr>
          <p:cNvSpPr>
            <a:spLocks noGrp="1"/>
          </p:cNvSpPr>
          <p:nvPr/>
        </p:nvSpPr>
        <p:spPr>
          <a:xfrm>
            <a:off x="1314450" y="3762375"/>
            <a:ext cx="9906000" cy="1809750"/>
          </a:xfrm>
          <a:prstGeom prst="rect">
            <a:avLst/>
          </a:prstGeom>
          <a:noFill/>
          <a:ln w="0">
            <a:noFill/>
            <a:prstDash val="solid"/>
          </a:ln>
        </p:spPr>
        <p:txBody>
          <a:bodyPr anchor="t">
            <a:normAutofit/>
          </a:bodyPr>
          <a:lstStyle/>
          <a:p>
            <a:pPr>
              <a:lnSpc>
                <a:spcPct val="105000"/>
              </a:lnSpc>
              <a:buNone/>
              <a:defRPr sz="1350" b="0">
                <a:solidFill>
                  <a:srgbClr val="26364A"/>
                </a:solidFill>
                <a:latin typeface="Aptos"/>
                <a:ea typeface="Aptos"/>
                <a:cs typeface="Aptos"/>
              </a:defRPr>
            </a:pPr>
            <a:r>
              <a:rPr sz="1350" b="0">
                <a:solidFill>
                  <a:srgbClr val="26364A"/>
                </a:solidFill>
                <a:latin typeface="Aptos"/>
                <a:ea typeface="Aptos"/>
                <a:cs typeface="Aptos"/>
              </a:rPr>
              <a:t>2. An endemic disease always represents an epidemic.</a:t>
            </a:r>
          </a:p>
          <a:p>
            <a:pPr>
              <a:lnSpc>
                <a:spcPct val="105000"/>
              </a:lnSpc>
              <a:buNone/>
              <a:defRPr sz="1350" b="0">
                <a:solidFill>
                  <a:srgbClr val="26364A"/>
                </a:solidFill>
                <a:latin typeface="Aptos"/>
                <a:ea typeface="Aptos"/>
                <a:cs typeface="Aptos"/>
              </a:defRPr>
            </a:pPr>
            <a:r>
              <a:rPr sz="1350" b="0">
                <a:solidFill>
                  <a:srgbClr val="26364A"/>
                </a:solidFill>
                <a:latin typeface="Aptos"/>
                <a:ea typeface="Aptos"/>
                <a:cs typeface="Aptos"/>
              </a:rPr>
              <a:t>• Answer: False</a:t>
            </a:r>
          </a:p>
          <a:p>
            <a:pPr>
              <a:lnSpc>
                <a:spcPct val="105000"/>
              </a:lnSpc>
              <a:buNone/>
              <a:defRPr sz="1350" b="0">
                <a:solidFill>
                  <a:srgbClr val="26364A"/>
                </a:solidFill>
                <a:latin typeface="Aptos"/>
                <a:ea typeface="Aptos"/>
                <a:cs typeface="Aptos"/>
              </a:defRPr>
            </a:pPr>
            <a:r>
              <a:rPr sz="1350" b="0">
                <a:solidFill>
                  <a:srgbClr val="26364A"/>
                </a:solidFill>
                <a:latin typeface="Aptos"/>
                <a:ea typeface="Aptos"/>
                <a:cs typeface="Aptos"/>
              </a:rPr>
              <a:t>• Explanation: An endemic disease is consistently present at an expected level within a population or region. Because it does not exceed normal expectations, it is not considered an epidemic, even though cases may occur continuously.</a:t>
            </a:r>
          </a:p>
        </p:txBody>
      </p:sp>
    </p:spTree>
    <p:extLst>
      <p:ext uri="{BB962C8B-B14F-4D97-AF65-F5344CB8AC3E}">
        <p14:creationId xmlns:p14="http://schemas.microsoft.com/office/powerpoint/2010/main" val="62077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mplate-label">
            <a:extLst>
              <a:ext uri="{FF2B5EF4-FFF2-40B4-BE49-F238E27FC236}">
                <a16:creationId xmlns:a16="http://schemas.microsoft.com/office/drawing/2014/main" id="{7B246BF8-3CFC-4856-975D-50FFFEAA8A15}"/>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3CA76552-CB89-4DFF-920D-14B1DF80984C}"/>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5EDB09F6-A3CC-4A4C-9C3D-2FECDFA8B484}"/>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69E66B11-5C1C-48AE-8AC8-28F7E2559416}"/>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USE OF EPIDEMIOLOGY</a:t>
            </a:r>
          </a:p>
        </p:txBody>
      </p:sp>
      <p:sp>
        <p:nvSpPr>
          <p:cNvPr id="5" name="slide-number">
            <a:extLst>
              <a:ext uri="{FF2B5EF4-FFF2-40B4-BE49-F238E27FC236}">
                <a16:creationId xmlns:a16="http://schemas.microsoft.com/office/drawing/2014/main" id="{1C09A0E1-DD42-43BB-971C-E4F47E367596}"/>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37</a:t>
            </a:r>
          </a:p>
        </p:txBody>
      </p:sp>
      <p:sp>
        <p:nvSpPr>
          <p:cNvPr id="6" name="title">
            <a:extLst>
              <a:ext uri="{FF2B5EF4-FFF2-40B4-BE49-F238E27FC236}">
                <a16:creationId xmlns:a16="http://schemas.microsoft.com/office/drawing/2014/main" id="{1EF3BCCC-D303-4A39-8BAB-CBA44D95D8D6}"/>
              </a:ext>
            </a:extLst>
          </p:cNvPr>
          <p:cNvSpPr>
            <a:spLocks noGrp="1"/>
          </p:cNvSpPr>
          <p:nvPr/>
        </p:nvSpPr>
        <p:spPr>
          <a:xfrm>
            <a:off x="685800" y="1162050"/>
            <a:ext cx="8477250" cy="476250"/>
          </a:xfrm>
          <a:prstGeom prst="rect">
            <a:avLst/>
          </a:prstGeom>
          <a:noFill/>
          <a:ln w="0">
            <a:noFill/>
            <a:prstDash val="solid"/>
          </a:ln>
        </p:spPr>
        <p:txBody>
          <a:bodyPr/>
          <a:lstStyle/>
          <a:p>
            <a:pPr>
              <a:buNone/>
              <a:defRPr sz="2850" b="1">
                <a:solidFill>
                  <a:srgbClr val="203044"/>
                </a:solidFill>
                <a:latin typeface="Aptos"/>
                <a:ea typeface="Aptos"/>
                <a:cs typeface="Aptos"/>
              </a:defRPr>
            </a:pPr>
            <a:r>
              <a:rPr sz="2850" b="1">
                <a:solidFill>
                  <a:srgbClr val="203044"/>
                </a:solidFill>
                <a:latin typeface="Aptos"/>
                <a:ea typeface="Aptos"/>
                <a:cs typeface="Aptos"/>
              </a:rPr>
              <a:t>Use of Epidemiology</a:t>
            </a:r>
          </a:p>
        </p:txBody>
      </p:sp>
      <p:sp>
        <p:nvSpPr>
          <p:cNvPr id="8" name="body">
            <a:extLst>
              <a:ext uri="{FF2B5EF4-FFF2-40B4-BE49-F238E27FC236}">
                <a16:creationId xmlns:a16="http://schemas.microsoft.com/office/drawing/2014/main" id="{D0209D86-9385-4D6A-9143-F3CCD78262D1}"/>
              </a:ext>
            </a:extLst>
          </p:cNvPr>
          <p:cNvSpPr>
            <a:spLocks noGrp="1"/>
          </p:cNvSpPr>
          <p:nvPr/>
        </p:nvSpPr>
        <p:spPr>
          <a:xfrm>
            <a:off x="685800" y="2000250"/>
            <a:ext cx="10001250" cy="3714750"/>
          </a:xfrm>
          <a:prstGeom prst="rect">
            <a:avLst/>
          </a:prstGeom>
          <a:noFill/>
          <a:ln w="0">
            <a:noFill/>
            <a:prstDash val="solid"/>
          </a:ln>
        </p:spPr>
        <p:txBody>
          <a:bodyPr anchor="t">
            <a:normAutofit/>
          </a:bodyPr>
          <a:lstStyle/>
          <a:p>
            <a:pPr>
              <a:lnSpc>
                <a:spcPct val="105000"/>
              </a:lnSpc>
              <a:buNone/>
              <a:defRPr sz="1725">
                <a:solidFill>
                  <a:srgbClr val="26364A"/>
                </a:solidFill>
                <a:latin typeface="Aptos"/>
                <a:ea typeface="Aptos"/>
                <a:cs typeface="Aptos"/>
              </a:defRPr>
            </a:pPr>
            <a:r>
              <a:rPr sz="1725" b="1">
                <a:solidFill>
                  <a:srgbClr val="26364A"/>
                </a:solidFill>
                <a:latin typeface="Aptos"/>
                <a:ea typeface="Aptos"/>
                <a:cs typeface="Aptos"/>
              </a:rPr>
              <a:t>In this course Epi Group Presentation, you will:</a:t>
            </a:r>
          </a:p>
          <a:p>
            <a:pPr marL="20" indent="-12">
              <a:lnSpc>
                <a:spcPct val="105000"/>
              </a:lnSpc>
              <a:buNone/>
              <a:defRPr sz="1725">
                <a:solidFill>
                  <a:srgbClr val="26364A"/>
                </a:solidFill>
                <a:latin typeface="Aptos"/>
                <a:ea typeface="Aptos"/>
                <a:cs typeface="Aptos"/>
              </a:defRPr>
            </a:pPr>
            <a:r>
              <a:rPr sz="1725" b="1">
                <a:solidFill>
                  <a:srgbClr val="26364A"/>
                </a:solidFill>
                <a:latin typeface="Aptos"/>
                <a:ea typeface="Aptos"/>
                <a:cs typeface="Aptos"/>
              </a:rPr>
              <a:t>Describe</a:t>
            </a:r>
            <a:r>
              <a:rPr sz="1725">
                <a:solidFill>
                  <a:srgbClr val="26364A"/>
                </a:solidFill>
                <a:latin typeface="Aptos"/>
                <a:ea typeface="Aptos"/>
                <a:cs typeface="Aptos"/>
              </a:rPr>
              <a:t> a health problem</a:t>
            </a:r>
          </a:p>
          <a:p>
            <a:pPr>
              <a:lnSpc>
                <a:spcPct val="105000"/>
              </a:lnSpc>
              <a:buNone/>
              <a:defRPr sz="1725">
                <a:solidFill>
                  <a:srgbClr val="26364A"/>
                </a:solidFill>
                <a:latin typeface="Aptos"/>
                <a:ea typeface="Aptos"/>
                <a:cs typeface="Aptos"/>
              </a:defRPr>
            </a:pPr>
            <a:r>
              <a:rPr sz="1725" i="1">
                <a:solidFill>
                  <a:srgbClr val="26364A"/>
                </a:solidFill>
                <a:latin typeface="Aptos"/>
                <a:ea typeface="Aptos"/>
                <a:cs typeface="Aptos"/>
              </a:rPr>
              <a:t>(Who is affected? Where? When?)</a:t>
            </a:r>
          </a:p>
          <a:p>
            <a:pPr marL="20" indent="-12">
              <a:lnSpc>
                <a:spcPct val="105000"/>
              </a:lnSpc>
              <a:buNone/>
              <a:defRPr sz="1725">
                <a:solidFill>
                  <a:srgbClr val="26364A"/>
                </a:solidFill>
                <a:latin typeface="Aptos"/>
                <a:ea typeface="Aptos"/>
                <a:cs typeface="Aptos"/>
              </a:defRPr>
            </a:pPr>
            <a:r>
              <a:rPr sz="1725" b="1">
                <a:solidFill>
                  <a:srgbClr val="26364A"/>
                </a:solidFill>
                <a:latin typeface="Aptos"/>
                <a:ea typeface="Aptos"/>
                <a:cs typeface="Aptos"/>
              </a:rPr>
              <a:t>Explain</a:t>
            </a:r>
            <a:r>
              <a:rPr sz="1725">
                <a:solidFill>
                  <a:srgbClr val="26364A"/>
                </a:solidFill>
                <a:latin typeface="Aptos"/>
                <a:ea typeface="Aptos"/>
                <a:cs typeface="Aptos"/>
              </a:rPr>
              <a:t> possible reasons</a:t>
            </a:r>
          </a:p>
          <a:p>
            <a:pPr>
              <a:lnSpc>
                <a:spcPct val="105000"/>
              </a:lnSpc>
              <a:buNone/>
              <a:defRPr sz="1725">
                <a:solidFill>
                  <a:srgbClr val="26364A"/>
                </a:solidFill>
                <a:latin typeface="Aptos"/>
                <a:ea typeface="Aptos"/>
                <a:cs typeface="Aptos"/>
              </a:defRPr>
            </a:pPr>
            <a:r>
              <a:rPr sz="1725" i="1">
                <a:solidFill>
                  <a:srgbClr val="26364A"/>
                </a:solidFill>
                <a:latin typeface="Aptos"/>
                <a:ea typeface="Aptos"/>
                <a:cs typeface="Aptos"/>
              </a:rPr>
              <a:t>(Risk factors or exposures)</a:t>
            </a:r>
          </a:p>
          <a:p>
            <a:pPr marL="20" indent="-12">
              <a:lnSpc>
                <a:spcPct val="105000"/>
              </a:lnSpc>
              <a:buNone/>
              <a:defRPr sz="1725">
                <a:solidFill>
                  <a:srgbClr val="26364A"/>
                </a:solidFill>
                <a:latin typeface="Aptos"/>
                <a:ea typeface="Aptos"/>
                <a:cs typeface="Aptos"/>
              </a:defRPr>
            </a:pPr>
            <a:r>
              <a:rPr sz="1725" b="1">
                <a:solidFill>
                  <a:srgbClr val="26364A"/>
                </a:solidFill>
                <a:latin typeface="Aptos"/>
                <a:ea typeface="Aptos"/>
                <a:cs typeface="Aptos"/>
              </a:rPr>
              <a:t>Interpret</a:t>
            </a:r>
            <a:r>
              <a:rPr sz="1725">
                <a:solidFill>
                  <a:srgbClr val="26364A"/>
                </a:solidFill>
                <a:latin typeface="Aptos"/>
                <a:ea typeface="Aptos"/>
                <a:cs typeface="Aptos"/>
              </a:rPr>
              <a:t> evidence</a:t>
            </a:r>
          </a:p>
          <a:p>
            <a:pPr>
              <a:lnSpc>
                <a:spcPct val="105000"/>
              </a:lnSpc>
              <a:buNone/>
              <a:defRPr sz="1725">
                <a:solidFill>
                  <a:srgbClr val="26364A"/>
                </a:solidFill>
                <a:latin typeface="Aptos"/>
                <a:ea typeface="Aptos"/>
                <a:cs typeface="Aptos"/>
              </a:defRPr>
            </a:pPr>
            <a:r>
              <a:rPr sz="1725" i="1">
                <a:solidFill>
                  <a:srgbClr val="26364A"/>
                </a:solidFill>
                <a:latin typeface="Aptos"/>
                <a:ea typeface="Aptos"/>
                <a:cs typeface="Aptos"/>
              </a:rPr>
              <a:t>(Patterns and associations)</a:t>
            </a:r>
          </a:p>
          <a:p>
            <a:pPr marL="20" indent="-12">
              <a:lnSpc>
                <a:spcPct val="105000"/>
              </a:lnSpc>
              <a:buNone/>
              <a:defRPr sz="1725">
                <a:solidFill>
                  <a:srgbClr val="26364A"/>
                </a:solidFill>
                <a:latin typeface="Aptos"/>
                <a:ea typeface="Aptos"/>
                <a:cs typeface="Aptos"/>
              </a:defRPr>
            </a:pPr>
            <a:r>
              <a:rPr sz="1725" b="1">
                <a:solidFill>
                  <a:srgbClr val="26364A"/>
                </a:solidFill>
                <a:latin typeface="Aptos"/>
                <a:ea typeface="Aptos"/>
                <a:cs typeface="Aptos"/>
              </a:rPr>
              <a:t>Propose</a:t>
            </a:r>
            <a:r>
              <a:rPr sz="1725">
                <a:solidFill>
                  <a:srgbClr val="26364A"/>
                </a:solidFill>
                <a:latin typeface="Aptos"/>
                <a:ea typeface="Aptos"/>
                <a:cs typeface="Aptos"/>
              </a:rPr>
              <a:t> prevention or control strategies</a:t>
            </a:r>
          </a:p>
        </p:txBody>
      </p:sp>
    </p:spTree>
    <p:extLst>
      <p:ext uri="{BB962C8B-B14F-4D97-AF65-F5344CB8AC3E}">
        <p14:creationId xmlns:p14="http://schemas.microsoft.com/office/powerpoint/2010/main" val="1737505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mplate-label">
            <a:extLst>
              <a:ext uri="{FF2B5EF4-FFF2-40B4-BE49-F238E27FC236}">
                <a16:creationId xmlns:a16="http://schemas.microsoft.com/office/drawing/2014/main" id="{B0F49812-1D84-4BEA-94D8-7AD16DD94250}"/>
              </a:ext>
            </a:extLst>
          </p:cNvPr>
          <p:cNvSpPr>
            <a:spLocks noGrp="1"/>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E7873D90-5C99-46CB-BCEA-736AA6BC72E0}"/>
              </a:ext>
            </a:extLst>
          </p:cNvPr>
          <p:cNvSpPr>
            <a:spLocks noGrp="1"/>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519B1F5D-F247-4BFF-9D35-45243C820C69}"/>
              </a:ext>
            </a:extLst>
          </p:cNvPr>
          <p:cNvSpPr>
            <a:spLocks noGrp="1"/>
          </p:cNvSpPr>
          <p:nvPr/>
        </p:nvSpPr>
        <p:spPr>
          <a:xfrm>
            <a:off x="685800" y="685800"/>
            <a:ext cx="876300" cy="47625"/>
          </a:xfrm>
          <a:prstGeom prst="rect">
            <a:avLst/>
          </a:prstGeom>
          <a:solidFill>
            <a:srgbClr val="FFD662"/>
          </a:solidFill>
          <a:ln w="0">
            <a:noFill/>
            <a:prstDash val="solid"/>
          </a:ln>
        </p:spPr>
        <p:txBody>
          <a:bodyPr/>
          <a:lstStyle/>
          <a:p>
            <a:endParaRPr lang="en-US"/>
          </a:p>
        </p:txBody>
      </p:sp>
      <p:sp>
        <p:nvSpPr>
          <p:cNvPr id="4" name="footer">
            <a:extLst>
              <a:ext uri="{FF2B5EF4-FFF2-40B4-BE49-F238E27FC236}">
                <a16:creationId xmlns:a16="http://schemas.microsoft.com/office/drawing/2014/main" id="{BF353E76-3067-4574-B2CE-2D69330A941E}"/>
              </a:ext>
            </a:extLst>
          </p:cNvPr>
          <p:cNvSpPr>
            <a:spLocks noGrp="1"/>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LEARNING OBJECTIVES RECAP</a:t>
            </a:r>
          </a:p>
        </p:txBody>
      </p:sp>
      <p:sp>
        <p:nvSpPr>
          <p:cNvPr id="5" name="slide-number">
            <a:extLst>
              <a:ext uri="{FF2B5EF4-FFF2-40B4-BE49-F238E27FC236}">
                <a16:creationId xmlns:a16="http://schemas.microsoft.com/office/drawing/2014/main" id="{2512490C-E1E2-45A2-A4FB-8EEFE4F292FD}"/>
              </a:ext>
            </a:extLst>
          </p:cNvPr>
          <p:cNvSpPr>
            <a:spLocks noGrp="1"/>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38</a:t>
            </a:r>
          </a:p>
        </p:txBody>
      </p:sp>
      <p:sp>
        <p:nvSpPr>
          <p:cNvPr id="6" name="title">
            <a:extLst>
              <a:ext uri="{FF2B5EF4-FFF2-40B4-BE49-F238E27FC236}">
                <a16:creationId xmlns:a16="http://schemas.microsoft.com/office/drawing/2014/main" id="{C665E3B9-48BB-4C32-A804-143F93F582BD}"/>
              </a:ext>
            </a:extLst>
          </p:cNvPr>
          <p:cNvSpPr>
            <a:spLocks noGrp="1"/>
          </p:cNvSpPr>
          <p:nvPr/>
        </p:nvSpPr>
        <p:spPr>
          <a:xfrm>
            <a:off x="685800" y="1162050"/>
            <a:ext cx="9334500" cy="476250"/>
          </a:xfrm>
          <a:prstGeom prst="rect">
            <a:avLst/>
          </a:prstGeom>
          <a:noFill/>
          <a:ln w="0">
            <a:noFill/>
            <a:prstDash val="solid"/>
          </a:ln>
        </p:spPr>
        <p:txBody>
          <a:bodyPr/>
          <a:lstStyle/>
          <a:p>
            <a:pPr>
              <a:buNone/>
              <a:defRPr sz="2625" b="1">
                <a:solidFill>
                  <a:srgbClr val="203044"/>
                </a:solidFill>
                <a:latin typeface="Aptos"/>
                <a:ea typeface="Aptos"/>
                <a:cs typeface="Aptos"/>
              </a:defRPr>
            </a:pPr>
            <a:r>
              <a:rPr sz="2625" b="1">
                <a:solidFill>
                  <a:srgbClr val="203044"/>
                </a:solidFill>
                <a:latin typeface="Aptos"/>
                <a:ea typeface="Aptos"/>
                <a:cs typeface="Aptos"/>
              </a:rPr>
              <a:t>Revisit Learning objectives</a:t>
            </a:r>
          </a:p>
        </p:txBody>
      </p:sp>
      <p:sp>
        <p:nvSpPr>
          <p:cNvPr id="7" name="intro">
            <a:extLst>
              <a:ext uri="{FF2B5EF4-FFF2-40B4-BE49-F238E27FC236}">
                <a16:creationId xmlns:a16="http://schemas.microsoft.com/office/drawing/2014/main" id="{E356BA7F-7682-4F9D-92B3-4F1FF06936AE}"/>
              </a:ext>
            </a:extLst>
          </p:cNvPr>
          <p:cNvSpPr>
            <a:spLocks noGrp="1"/>
          </p:cNvSpPr>
          <p:nvPr/>
        </p:nvSpPr>
        <p:spPr>
          <a:xfrm>
            <a:off x="685800" y="1952625"/>
            <a:ext cx="9334500" cy="419100"/>
          </a:xfrm>
          <a:prstGeom prst="rect">
            <a:avLst/>
          </a:prstGeom>
          <a:noFill/>
          <a:ln w="0">
            <a:noFill/>
            <a:prstDash val="solid"/>
          </a:ln>
        </p:spPr>
        <p:txBody>
          <a:bodyPr/>
          <a:lstStyle/>
          <a:p>
            <a:pPr>
              <a:buNone/>
              <a:defRPr sz="1650" b="1">
                <a:solidFill>
                  <a:srgbClr val="26364A"/>
                </a:solidFill>
                <a:latin typeface="Aptos"/>
                <a:ea typeface="Aptos"/>
                <a:cs typeface="Aptos"/>
              </a:defRPr>
            </a:pPr>
            <a:r>
              <a:rPr sz="1650" b="1">
                <a:solidFill>
                  <a:srgbClr val="26364A"/>
                </a:solidFill>
                <a:latin typeface="Aptos"/>
                <a:ea typeface="Aptos"/>
                <a:cs typeface="Aptos"/>
              </a:rPr>
              <a:t>1. Unpack the definition and assumptions of epidemiology</a:t>
            </a:r>
          </a:p>
        </p:txBody>
      </p:sp>
      <p:sp>
        <p:nvSpPr>
          <p:cNvPr id="8" name="objective-dot-0">
            <a:extLst>
              <a:ext uri="{FF2B5EF4-FFF2-40B4-BE49-F238E27FC236}">
                <a16:creationId xmlns:a16="http://schemas.microsoft.com/office/drawing/2014/main" id="{D05A112C-D50E-4971-9AE1-59B550A62870}"/>
              </a:ext>
            </a:extLst>
          </p:cNvPr>
          <p:cNvSpPr>
            <a:spLocks noGrp="1"/>
          </p:cNvSpPr>
          <p:nvPr/>
        </p:nvSpPr>
        <p:spPr>
          <a:xfrm>
            <a:off x="685800" y="2714625"/>
            <a:ext cx="323850" cy="323850"/>
          </a:xfrm>
          <a:prstGeom prst="ellipse">
            <a:avLst/>
          </a:prstGeom>
          <a:solidFill>
            <a:srgbClr val="FFD662"/>
          </a:solidFill>
          <a:ln w="9525">
            <a:solidFill>
              <a:srgbClr val="FFD662"/>
            </a:solidFill>
            <a:prstDash val="solid"/>
          </a:ln>
        </p:spPr>
        <p:txBody>
          <a:bodyPr lIns="0" tIns="0" rIns="0" bIns="0" anchor="ctr">
            <a:noAutofit/>
          </a:bodyPr>
          <a:lstStyle/>
          <a:p>
            <a:pPr algn="ctr">
              <a:defRPr sz="1200" b="1">
                <a:solidFill>
                  <a:srgbClr val="203044"/>
                </a:solidFill>
                <a:latin typeface="Aptos"/>
                <a:ea typeface="Aptos"/>
                <a:cs typeface="Aptos"/>
              </a:defRPr>
            </a:pPr>
            <a:r>
              <a:rPr sz="1200" b="1">
                <a:solidFill>
                  <a:srgbClr val="203044"/>
                </a:solidFill>
                <a:latin typeface="Aptos"/>
                <a:ea typeface="Aptos"/>
                <a:cs typeface="Aptos"/>
              </a:rPr>
              <a:t>1</a:t>
            </a:r>
          </a:p>
        </p:txBody>
      </p:sp>
      <p:sp>
        <p:nvSpPr>
          <p:cNvPr id="10" name="objective-0">
            <a:extLst>
              <a:ext uri="{FF2B5EF4-FFF2-40B4-BE49-F238E27FC236}">
                <a16:creationId xmlns:a16="http://schemas.microsoft.com/office/drawing/2014/main" id="{F919A703-D612-4AE4-AF57-587222812877}"/>
              </a:ext>
            </a:extLst>
          </p:cNvPr>
          <p:cNvSpPr>
            <a:spLocks noGrp="1"/>
          </p:cNvSpPr>
          <p:nvPr/>
        </p:nvSpPr>
        <p:spPr>
          <a:xfrm>
            <a:off x="1219200" y="2695575"/>
            <a:ext cx="8382000" cy="438150"/>
          </a:xfrm>
          <a:prstGeom prst="rect">
            <a:avLst/>
          </a:prstGeom>
          <a:noFill/>
          <a:ln w="0">
            <a:noFill/>
            <a:prstDash val="solid"/>
          </a:ln>
        </p:spPr>
        <p:txBody>
          <a:bodyPr>
            <a:normAutofit/>
          </a:bodyPr>
          <a:lstStyle/>
          <a:p>
            <a:pPr>
              <a:buNone/>
              <a:defRPr sz="1800" b="1">
                <a:solidFill>
                  <a:srgbClr val="26364A"/>
                </a:solidFill>
                <a:latin typeface="Aptos"/>
                <a:ea typeface="Aptos"/>
                <a:cs typeface="Aptos"/>
              </a:defRPr>
            </a:pPr>
            <a:r>
              <a:rPr sz="1800" b="1">
                <a:solidFill>
                  <a:srgbClr val="26364A"/>
                </a:solidFill>
                <a:latin typeface="Aptos"/>
                <a:ea typeface="Aptos"/>
                <a:cs typeface="Aptos"/>
              </a:rPr>
              <a:t>Identify epidemiology key events</a:t>
            </a:r>
          </a:p>
        </p:txBody>
      </p:sp>
      <p:sp>
        <p:nvSpPr>
          <p:cNvPr id="11" name="objective-dot-1">
            <a:extLst>
              <a:ext uri="{FF2B5EF4-FFF2-40B4-BE49-F238E27FC236}">
                <a16:creationId xmlns:a16="http://schemas.microsoft.com/office/drawing/2014/main" id="{B26EA177-A1D6-47BC-8CA2-DA176C0C5EC9}"/>
              </a:ext>
            </a:extLst>
          </p:cNvPr>
          <p:cNvSpPr>
            <a:spLocks noGrp="1"/>
          </p:cNvSpPr>
          <p:nvPr/>
        </p:nvSpPr>
        <p:spPr>
          <a:xfrm>
            <a:off x="685800" y="3714750"/>
            <a:ext cx="323850" cy="323850"/>
          </a:xfrm>
          <a:prstGeom prst="ellipse">
            <a:avLst/>
          </a:prstGeom>
          <a:solidFill>
            <a:srgbClr val="FFD662"/>
          </a:solidFill>
          <a:ln w="9525">
            <a:solidFill>
              <a:srgbClr val="FFD662"/>
            </a:solidFill>
            <a:prstDash val="solid"/>
          </a:ln>
        </p:spPr>
        <p:txBody>
          <a:bodyPr lIns="0" tIns="0" rIns="0" bIns="0" anchor="ctr">
            <a:noAutofit/>
          </a:bodyPr>
          <a:lstStyle/>
          <a:p>
            <a:pPr algn="ctr">
              <a:defRPr sz="1200" b="1">
                <a:solidFill>
                  <a:srgbClr val="203044"/>
                </a:solidFill>
                <a:latin typeface="Aptos"/>
                <a:ea typeface="Aptos"/>
                <a:cs typeface="Aptos"/>
              </a:defRPr>
            </a:pPr>
            <a:r>
              <a:rPr sz="1200" b="1">
                <a:solidFill>
                  <a:srgbClr val="203044"/>
                </a:solidFill>
                <a:latin typeface="Aptos"/>
                <a:ea typeface="Aptos"/>
                <a:cs typeface="Aptos"/>
              </a:rPr>
              <a:t>2</a:t>
            </a:r>
          </a:p>
        </p:txBody>
      </p:sp>
      <p:sp>
        <p:nvSpPr>
          <p:cNvPr id="13" name="objective-1">
            <a:extLst>
              <a:ext uri="{FF2B5EF4-FFF2-40B4-BE49-F238E27FC236}">
                <a16:creationId xmlns:a16="http://schemas.microsoft.com/office/drawing/2014/main" id="{8A152A0B-1B94-406C-A52D-FD4E628F5C50}"/>
              </a:ext>
            </a:extLst>
          </p:cNvPr>
          <p:cNvSpPr>
            <a:spLocks noGrp="1"/>
          </p:cNvSpPr>
          <p:nvPr/>
        </p:nvSpPr>
        <p:spPr>
          <a:xfrm>
            <a:off x="1219200" y="3695700"/>
            <a:ext cx="8382000" cy="685800"/>
          </a:xfrm>
          <a:prstGeom prst="rect">
            <a:avLst/>
          </a:prstGeom>
          <a:noFill/>
          <a:ln w="0">
            <a:noFill/>
            <a:prstDash val="solid"/>
          </a:ln>
        </p:spPr>
        <p:txBody>
          <a:bodyPr>
            <a:normAutofit/>
          </a:bodyPr>
          <a:lstStyle/>
          <a:p>
            <a:pPr>
              <a:buNone/>
              <a:defRPr sz="1650" b="1">
                <a:solidFill>
                  <a:srgbClr val="26364A"/>
                </a:solidFill>
                <a:latin typeface="Aptos"/>
                <a:ea typeface="Aptos"/>
                <a:cs typeface="Aptos"/>
              </a:defRPr>
            </a:pPr>
            <a:r>
              <a:rPr sz="1650" b="1">
                <a:solidFill>
                  <a:srgbClr val="26364A"/>
                </a:solidFill>
                <a:latin typeface="Aptos"/>
                <a:ea typeface="Aptos"/>
                <a:cs typeface="Aptos"/>
              </a:rPr>
              <a:t>Distinguish between disease distribution patterns: epidemics, endemics, and pandemics</a:t>
            </a:r>
          </a:p>
        </p:txBody>
      </p:sp>
      <p:sp>
        <p:nvSpPr>
          <p:cNvPr id="14" name="objective-dot-2">
            <a:extLst>
              <a:ext uri="{FF2B5EF4-FFF2-40B4-BE49-F238E27FC236}">
                <a16:creationId xmlns:a16="http://schemas.microsoft.com/office/drawing/2014/main" id="{DCD3B054-6ADA-400C-9E4A-2F41829A98F6}"/>
              </a:ext>
            </a:extLst>
          </p:cNvPr>
          <p:cNvSpPr>
            <a:spLocks noGrp="1"/>
          </p:cNvSpPr>
          <p:nvPr/>
        </p:nvSpPr>
        <p:spPr>
          <a:xfrm>
            <a:off x="685800" y="4857750"/>
            <a:ext cx="323850" cy="323850"/>
          </a:xfrm>
          <a:prstGeom prst="ellipse">
            <a:avLst/>
          </a:prstGeom>
          <a:solidFill>
            <a:srgbClr val="FFD662"/>
          </a:solidFill>
          <a:ln w="9525">
            <a:solidFill>
              <a:srgbClr val="FFD662"/>
            </a:solidFill>
            <a:prstDash val="solid"/>
          </a:ln>
        </p:spPr>
        <p:txBody>
          <a:bodyPr lIns="0" tIns="0" rIns="0" bIns="0" anchor="ctr">
            <a:noAutofit/>
          </a:bodyPr>
          <a:lstStyle/>
          <a:p>
            <a:pPr algn="ctr">
              <a:defRPr sz="1200" b="1">
                <a:solidFill>
                  <a:srgbClr val="203044"/>
                </a:solidFill>
                <a:latin typeface="Aptos"/>
                <a:ea typeface="Aptos"/>
                <a:cs typeface="Aptos"/>
              </a:defRPr>
            </a:pPr>
            <a:r>
              <a:rPr sz="1200" b="1">
                <a:solidFill>
                  <a:srgbClr val="203044"/>
                </a:solidFill>
                <a:latin typeface="Aptos"/>
                <a:ea typeface="Aptos"/>
                <a:cs typeface="Aptos"/>
              </a:rPr>
              <a:t>3</a:t>
            </a:r>
          </a:p>
        </p:txBody>
      </p:sp>
      <p:sp>
        <p:nvSpPr>
          <p:cNvPr id="16" name="objective-2">
            <a:extLst>
              <a:ext uri="{FF2B5EF4-FFF2-40B4-BE49-F238E27FC236}">
                <a16:creationId xmlns:a16="http://schemas.microsoft.com/office/drawing/2014/main" id="{6728F28F-950B-4DDC-98B4-25569BF2F58D}"/>
              </a:ext>
            </a:extLst>
          </p:cNvPr>
          <p:cNvSpPr>
            <a:spLocks noGrp="1"/>
          </p:cNvSpPr>
          <p:nvPr/>
        </p:nvSpPr>
        <p:spPr>
          <a:xfrm>
            <a:off x="1219200" y="4838700"/>
            <a:ext cx="8382000" cy="438150"/>
          </a:xfrm>
          <a:prstGeom prst="rect">
            <a:avLst/>
          </a:prstGeom>
          <a:noFill/>
          <a:ln w="0">
            <a:noFill/>
            <a:prstDash val="solid"/>
          </a:ln>
        </p:spPr>
        <p:txBody>
          <a:bodyPr>
            <a:normAutofit/>
          </a:bodyPr>
          <a:lstStyle/>
          <a:p>
            <a:pPr>
              <a:buNone/>
              <a:defRPr sz="1800" b="1">
                <a:solidFill>
                  <a:srgbClr val="26364A"/>
                </a:solidFill>
                <a:latin typeface="Aptos"/>
                <a:ea typeface="Aptos"/>
                <a:cs typeface="Aptos"/>
              </a:defRPr>
            </a:pPr>
            <a:r>
              <a:rPr sz="1800" b="1">
                <a:solidFill>
                  <a:srgbClr val="26364A"/>
                </a:solidFill>
                <a:latin typeface="Aptos"/>
                <a:ea typeface="Aptos"/>
                <a:cs typeface="Aptos"/>
              </a:rPr>
              <a:t>Describe at least three uses of epidemiology</a:t>
            </a:r>
          </a:p>
        </p:txBody>
      </p:sp>
    </p:spTree>
    <p:extLst>
      <p:ext uri="{BB962C8B-B14F-4D97-AF65-F5344CB8AC3E}">
        <p14:creationId xmlns:p14="http://schemas.microsoft.com/office/powerpoint/2010/main" val="213190716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TotalTime>
  <Words>2704</Words>
  <Application>Microsoft Macintosh PowerPoint</Application>
  <DocSecurity>0</DocSecurity>
  <PresentationFormat>Widescreen</PresentationFormat>
  <Paragraphs>418</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Calibri</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Brad Cannell</cp:lastModifiedBy>
  <cp:revision>4</cp:revision>
  <dcterms:created xsi:type="dcterms:W3CDTF">2026-08-18T16:00:48Z</dcterms:created>
  <dcterms:modified xsi:type="dcterms:W3CDTF">2026-08-25T15:29:10Z</dcterms:modified>
</cp:coreProperties>
</file>